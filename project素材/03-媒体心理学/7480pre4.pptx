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38"/>
  </p:notesMasterIdLst>
  <p:sldIdLst>
    <p:sldId id="256" r:id="rId3"/>
    <p:sldId id="338" r:id="rId4"/>
    <p:sldId id="310" r:id="rId5"/>
    <p:sldId id="294" r:id="rId6"/>
    <p:sldId id="325" r:id="rId7"/>
    <p:sldId id="311" r:id="rId8"/>
    <p:sldId id="334" r:id="rId9"/>
    <p:sldId id="335" r:id="rId10"/>
    <p:sldId id="336" r:id="rId11"/>
    <p:sldId id="337" r:id="rId12"/>
    <p:sldId id="312" r:id="rId13"/>
    <p:sldId id="328" r:id="rId14"/>
    <p:sldId id="293" r:id="rId15"/>
    <p:sldId id="279" r:id="rId16"/>
    <p:sldId id="313" r:id="rId17"/>
    <p:sldId id="267" r:id="rId18"/>
    <p:sldId id="259" r:id="rId19"/>
    <p:sldId id="260" r:id="rId20"/>
    <p:sldId id="261" r:id="rId21"/>
    <p:sldId id="262" r:id="rId22"/>
    <p:sldId id="263" r:id="rId23"/>
    <p:sldId id="264" r:id="rId24"/>
    <p:sldId id="331" r:id="rId25"/>
    <p:sldId id="265" r:id="rId26"/>
    <p:sldId id="319" r:id="rId27"/>
    <p:sldId id="320" r:id="rId28"/>
    <p:sldId id="318" r:id="rId29"/>
    <p:sldId id="321" r:id="rId30"/>
    <p:sldId id="269" r:id="rId31"/>
    <p:sldId id="314" r:id="rId32"/>
    <p:sldId id="257" r:id="rId33"/>
    <p:sldId id="258" r:id="rId34"/>
    <p:sldId id="332" r:id="rId35"/>
    <p:sldId id="333" r:id="rId36"/>
    <p:sldId id="281" r:id="rId37"/>
  </p:sldIdLst>
  <p:sldSz cx="18288000" cy="10287000"/>
  <p:notesSz cx="6858000" cy="9144000"/>
  <p:embeddedFontLst>
    <p:embeddedFont>
      <p:font typeface="Arial Bold" panose="020B0704020202020204" pitchFamily="34" charset="0"/>
      <p:bold r:id="rId39"/>
    </p:embeddedFont>
    <p:embeddedFont>
      <p:font typeface="Calibri (MS)" panose="02010600030101010101" charset="0"/>
      <p:regular r:id="rId40"/>
    </p:embeddedFont>
    <p:embeddedFont>
      <p:font typeface="Noto Sans" panose="020B0502040504020204" pitchFamily="34" charset="0"/>
      <p:regular r:id="rId41"/>
      <p:bold r:id="rId42"/>
      <p:italic r:id="rId43"/>
      <p:boldItalic r:id="rId44"/>
    </p:embeddedFont>
    <p:embeddedFont>
      <p:font typeface="Noto Sans Bold" panose="020B0802040504020204" charset="0"/>
      <p:bold r:id="rId45"/>
    </p:embeddedFont>
    <p:embeddedFont>
      <p:font typeface="Roboto" panose="02000000000000000000" pitchFamily="2"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30" autoAdjust="0"/>
    <p:restoredTop sz="94622" autoAdjust="0"/>
  </p:normalViewPr>
  <p:slideViewPr>
    <p:cSldViewPr>
      <p:cViewPr varScale="1">
        <p:scale>
          <a:sx n="68" d="100"/>
          <a:sy n="68" d="100"/>
        </p:scale>
        <p:origin x="32"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744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9879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47650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51427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3357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90763" y="512763"/>
            <a:ext cx="4562475" cy="2566987"/>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83260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87401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49395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03596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12778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94726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29EF2-2399-A86E-536F-0A86A2413E3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D31B1-4B33-4D6F-6D62-930D1017B4B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50360A1-A667-0EEB-26C1-9006C67CD71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4CD192B-4FC6-F483-5600-276205A020A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A39D211-5153-7953-FDA9-F2D4232E320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r>
              <a:rPr lang="en-US" dirty="0"/>
              <a:t>本次汇报将分为五个部分：首先介绍研究主题与假设，然后展示描述性统计与信度检验结果，接着是核心的假设检验结果，之后对结果进行讨论并阐述启示，最后分析研究的局限并提出未来展望。</a:t>
            </a:r>
          </a:p>
          <a:p>
            <a:endParaRPr lang="en-US" dirty="0"/>
          </a:p>
          <a:p>
            <a:r>
              <a:rPr lang="en-US" dirty="0"/>
              <a:t>‹#›</a:t>
            </a:r>
          </a:p>
        </p:txBody>
      </p:sp>
      <p:sp>
        <p:nvSpPr>
          <p:cNvPr id="6" name="Footer Placeholder 5">
            <a:extLst>
              <a:ext uri="{FF2B5EF4-FFF2-40B4-BE49-F238E27FC236}">
                <a16:creationId xmlns:a16="http://schemas.microsoft.com/office/drawing/2014/main" id="{B524B18D-6D28-B502-9D0F-F41362469C3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ABA3218-6598-113B-FD8E-1CDD4B82D24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38359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AEC12-3E70-EB28-5412-56000A1140E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93BC25-CCD9-6DD3-653E-59F7165485F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65AE048-6C1B-CF90-BC57-C8894AE4A29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F1B09E3-CE85-BFE3-11A5-C04F4C532F4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B35C5BC-BC8E-DDDB-34A6-84A96BD3A57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a:extLst>
              <a:ext uri="{FF2B5EF4-FFF2-40B4-BE49-F238E27FC236}">
                <a16:creationId xmlns:a16="http://schemas.microsoft.com/office/drawing/2014/main" id="{2EBFE318-33BD-D9C5-EBF1-2B83F6BEE15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384E044-F2A0-95C0-A2F3-C3379F966A7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90496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D40A-DAD2-63FE-D56A-FC3E03164D9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F30878-20D1-824E-EFA0-AC8C29AEFD6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FB29667-2298-B35E-8208-A076BAEF716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A2E59D9-A43D-EA9E-F0A6-C1B50F544EE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E577DE6-6581-D158-43AF-8DAD3BDD321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a:extLst>
              <a:ext uri="{FF2B5EF4-FFF2-40B4-BE49-F238E27FC236}">
                <a16:creationId xmlns:a16="http://schemas.microsoft.com/office/drawing/2014/main" id="{C52BC3AF-7C0C-746E-82BC-9D6B9395A7F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58AF397-2598-5BFC-8994-BE3F442530D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65563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FD2DF-AD57-A5CE-8C04-DD506807ED6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BC544A-5F96-24A2-E85F-24827DE907C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93C0E88-D367-7251-2678-3EFB03937C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08005B8-76BC-0208-3688-5D50BCE648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041B8CC-B0E4-C2D3-2CAE-545804A8D32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a:extLst>
              <a:ext uri="{FF2B5EF4-FFF2-40B4-BE49-F238E27FC236}">
                <a16:creationId xmlns:a16="http://schemas.microsoft.com/office/drawing/2014/main" id="{D40B2870-229D-BE82-DA43-9D1292C6B41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9FB4612-0B86-F3C8-CF9A-A2AE54E6AFF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8548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本次汇报将分为五个部分：首先介绍研究主题与假设，然后展示描述性统计与信度检验结果，接着是核心的假设检验结果，之后对结果进行讨论并阐述启示，最后分析研究的局限并提出未来展望。</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594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167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defTabSz="1371600"/>
            <a:fld id="{D997B5FA-0921-464F-AAE1-844C04324D75}" type="datetimeFigureOut">
              <a:rPr lang="zh-CN" altLang="en-US" smtClean="0">
                <a:solidFill>
                  <a:prstClr val="black">
                    <a:tint val="75000"/>
                  </a:prstClr>
                </a:solidFill>
              </a:rPr>
              <a:pPr defTabSz="1371600"/>
              <a:t>2026/5/30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3716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371600"/>
            <a:fld id="{565CE74E-AB26-4998-AD42-012C4C1AD076}" type="slidenum">
              <a:rPr lang="zh-CN" altLang="en-US" smtClean="0">
                <a:solidFill>
                  <a:prstClr val="black">
                    <a:tint val="75000"/>
                  </a:prstClr>
                </a:solidFill>
              </a:rPr>
              <a:pPr defTabSz="1371600"/>
              <a:t>‹#›</a:t>
            </a:fld>
            <a:endParaRPr lang="zh-CN" altLang="en-US">
              <a:solidFill>
                <a:prstClr val="black">
                  <a:tint val="75000"/>
                </a:prstClr>
              </a:solidFill>
            </a:endParaRPr>
          </a:p>
        </p:txBody>
      </p:sp>
    </p:spTree>
    <p:extLst>
      <p:ext uri="{BB962C8B-B14F-4D97-AF65-F5344CB8AC3E}">
        <p14:creationId xmlns:p14="http://schemas.microsoft.com/office/powerpoint/2010/main" val="3833326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2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 id="214748366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latin typeface="Calibri" panose="020F0502020204030204" pitchFamily="34" charset="0"/>
                <a:cs typeface="Calibri" panose="020F0502020204030204" pitchFamily="34" charset="0"/>
              </a:defRPr>
            </a:lvl1pPr>
          </a:lstStyle>
          <a:p>
            <a:fld id="{D997B5FA-0921-464F-AAE1-844C04324D75}" type="datetimeFigureOut">
              <a:rPr lang="zh-CN" altLang="en-US" smtClean="0"/>
              <a:t>2026/5/30</a:t>
            </a:fld>
            <a:endParaRPr lang="zh-CN" altLang="en-US"/>
          </a:p>
        </p:txBody>
      </p:sp>
      <p:sp>
        <p:nvSpPr>
          <p:cNvPr id="5" name="页脚占位符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latin typeface="Calibri" panose="020F0502020204030204" pitchFamily="34" charset="0"/>
                <a:cs typeface="Calibri" panose="020F0502020204030204" pitchFamily="34" charset="0"/>
              </a:defRPr>
            </a:lvl1pPr>
          </a:lstStyle>
          <a:p>
            <a:endParaRPr lang="zh-CN" altLang="en-US"/>
          </a:p>
        </p:txBody>
      </p:sp>
      <p:sp>
        <p:nvSpPr>
          <p:cNvPr id="6" name="灯片编号占位符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67026183"/>
      </p:ext>
    </p:extLst>
  </p:cSld>
  <p:clrMap bg1="lt1" tx1="dk1" bg2="lt2" tx2="dk2" accent1="accent1" accent2="accent2" accent3="accent3" accent4="accent4" accent5="accent5" accent6="accent6" hlink="hlink" folHlink="folHlink"/>
  <p:sldLayoutIdLst>
    <p:sldLayoutId id="2147483661" r:id="rId1"/>
    <p:sldLayoutId id="2147483663" r:id="rId2"/>
  </p:sldLayoutIdLst>
  <p:txStyles>
    <p:titleStyle>
      <a:lvl1pPr algn="l" defTabSz="1371600" rtl="0" eaLnBrk="1" latinLnBrk="0" hangingPunct="1">
        <a:lnSpc>
          <a:spcPct val="90000"/>
        </a:lnSpc>
        <a:spcBef>
          <a:spcPct val="0"/>
        </a:spcBef>
        <a:buNone/>
        <a:defRPr sz="6600" kern="1200">
          <a:solidFill>
            <a:schemeClr val="tx1"/>
          </a:solidFill>
          <a:latin typeface="Calibri" panose="020F0502020204030204" pitchFamily="34" charset="0"/>
          <a:ea typeface="+mj-ea"/>
          <a:cs typeface="Calibri" panose="020F0502020204030204" pitchFamily="34" charset="0"/>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Calibri" panose="020F0502020204030204" pitchFamily="34" charset="0"/>
          <a:ea typeface="+mn-ea"/>
          <a:cs typeface="Calibri" panose="020F0502020204030204" pitchFamily="34"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Calibri" panose="020F0502020204030204" pitchFamily="34" charset="0"/>
          <a:ea typeface="+mn-ea"/>
          <a:cs typeface="Calibri" panose="020F0502020204030204" pitchFamily="34"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Calibri" panose="020F0502020204030204" pitchFamily="34" charset="0"/>
          <a:ea typeface="+mn-ea"/>
          <a:cs typeface="Calibri" panose="020F0502020204030204" pitchFamily="34"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Calibri" panose="020F0502020204030204" pitchFamily="34" charset="0"/>
          <a:ea typeface="+mn-ea"/>
          <a:cs typeface="Calibri" panose="020F0502020204030204" pitchFamily="34"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Calibri" panose="020F0502020204030204" pitchFamily="34" charset="0"/>
          <a:ea typeface="+mn-ea"/>
          <a:cs typeface="Calibri" panose="020F0502020204030204" pitchFamily="34"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tags" Target="../tags/tag5.xml"/><Relationship Id="rId7" Type="http://schemas.openxmlformats.org/officeDocument/2006/relationships/slideLayout" Target="../slideLayouts/slideLayout1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10" Type="http://schemas.openxmlformats.org/officeDocument/2006/relationships/image" Target="../media/image10.jpeg"/><Relationship Id="rId4" Type="http://schemas.openxmlformats.org/officeDocument/2006/relationships/tags" Target="../tags/tag6.xml"/><Relationship Id="rId9" Type="http://schemas.openxmlformats.org/officeDocument/2006/relationships/image" Target="../media/image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6.sv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2685F02-13F8-4B40-A876-7ADAE921993B}"/>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sp>
        <p:nvSpPr>
          <p:cNvPr id="11" name="文本框 10">
            <a:extLst>
              <a:ext uri="{FF2B5EF4-FFF2-40B4-BE49-F238E27FC236}">
                <a16:creationId xmlns:a16="http://schemas.microsoft.com/office/drawing/2014/main" id="{0CF2594F-A365-4723-A152-F55DBEEB18FE}"/>
              </a:ext>
            </a:extLst>
          </p:cNvPr>
          <p:cNvSpPr txBox="1"/>
          <p:nvPr/>
        </p:nvSpPr>
        <p:spPr>
          <a:xfrm>
            <a:off x="2054380" y="3636444"/>
            <a:ext cx="13581859" cy="2971391"/>
          </a:xfrm>
          <a:prstGeom prst="rect">
            <a:avLst/>
          </a:prstGeom>
          <a:noFill/>
        </p:spPr>
        <p:txBody>
          <a:bodyPr wrap="square" rtlCol="0">
            <a:spAutoFit/>
          </a:bodyPr>
          <a:lstStyle/>
          <a:p>
            <a:pPr>
              <a:lnSpc>
                <a:spcPct val="125000"/>
              </a:lnSpc>
            </a:pPr>
            <a:r>
              <a:rPr lang="en-US" altLang="zh-CN" sz="5400" b="1" dirty="0">
                <a:solidFill>
                  <a:srgbClr val="203864"/>
                </a:solidFill>
                <a:latin typeface="Calibri" panose="020F0502020204030204" pitchFamily="34" charset="0"/>
                <a:ea typeface="Calibri" panose="020F0502020204030204" pitchFamily="34" charset="0"/>
                <a:cs typeface="Calibri" panose="020F0502020204030204" pitchFamily="34" charset="0"/>
              </a:rPr>
              <a:t>The impact of post type on user engagement intentions:</a:t>
            </a:r>
          </a:p>
          <a:p>
            <a:pPr>
              <a:lnSpc>
                <a:spcPct val="125000"/>
              </a:lnSpc>
            </a:pPr>
            <a:r>
              <a:rPr lang="en-US" altLang="zh-CN" sz="4500" dirty="0">
                <a:solidFill>
                  <a:srgbClr val="203864"/>
                </a:solidFill>
                <a:latin typeface="Calibri" panose="020F0502020204030204" pitchFamily="34" charset="0"/>
                <a:ea typeface="Calibri" panose="020F0502020204030204" pitchFamily="34" charset="0"/>
                <a:cs typeface="Calibri" panose="020F0502020204030204" pitchFamily="34" charset="0"/>
              </a:rPr>
              <a:t>The mediating role of perceived control</a:t>
            </a:r>
            <a:endParaRPr lang="zh-CN" altLang="en-US" sz="4500" dirty="0">
              <a:solidFill>
                <a:srgbClr val="203864"/>
              </a:solidFill>
              <a:latin typeface="Calibri" panose="020F0502020204030204" pitchFamily="34" charset="0"/>
              <a:cs typeface="Calibri" panose="020F0502020204030204" pitchFamily="34" charset="0"/>
            </a:endParaRPr>
          </a:p>
        </p:txBody>
      </p:sp>
      <p:grpSp>
        <p:nvGrpSpPr>
          <p:cNvPr id="56" name="组合 55">
            <a:extLst>
              <a:ext uri="{FF2B5EF4-FFF2-40B4-BE49-F238E27FC236}">
                <a16:creationId xmlns:a16="http://schemas.microsoft.com/office/drawing/2014/main" id="{F48F1463-4A8A-454B-8BA8-94A7306969C7}"/>
              </a:ext>
            </a:extLst>
          </p:cNvPr>
          <p:cNvGrpSpPr/>
          <p:nvPr/>
        </p:nvGrpSpPr>
        <p:grpSpPr>
          <a:xfrm>
            <a:off x="15636241" y="0"/>
            <a:ext cx="4000814" cy="10287000"/>
            <a:chOff x="9457206" y="0"/>
            <a:chExt cx="3345405" cy="6858000"/>
          </a:xfrm>
        </p:grpSpPr>
        <p:sp>
          <p:nvSpPr>
            <p:cNvPr id="14" name="任意多边形: 形状 13">
              <a:extLst>
                <a:ext uri="{FF2B5EF4-FFF2-40B4-BE49-F238E27FC236}">
                  <a16:creationId xmlns:a16="http://schemas.microsoft.com/office/drawing/2014/main" id="{ED649DE3-EDE7-45F1-9A1E-CEDFC50D8C79}"/>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4D438E60-CDC6-421B-A2CC-ECB93FDC67DA}"/>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CCBD2B56-0A03-4E5B-A75A-708A442F901C}"/>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3" name="任意多边形: 形状 22">
              <a:extLst>
                <a:ext uri="{FF2B5EF4-FFF2-40B4-BE49-F238E27FC236}">
                  <a16:creationId xmlns:a16="http://schemas.microsoft.com/office/drawing/2014/main" id="{7D67E7EF-DDD1-4F05-87A4-29A187867446}"/>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4" name="任意多边形: 形状 23">
              <a:extLst>
                <a:ext uri="{FF2B5EF4-FFF2-40B4-BE49-F238E27FC236}">
                  <a16:creationId xmlns:a16="http://schemas.microsoft.com/office/drawing/2014/main" id="{9AC7CBF0-1873-40CB-AD5D-39B87CA1BFA6}"/>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5" name="任意多边形: 形状 24">
              <a:extLst>
                <a:ext uri="{FF2B5EF4-FFF2-40B4-BE49-F238E27FC236}">
                  <a16:creationId xmlns:a16="http://schemas.microsoft.com/office/drawing/2014/main" id="{41FA87E4-D2CA-4A7E-8E97-3771325A4E4D}"/>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6" name="任意多边形: 形状 25">
              <a:extLst>
                <a:ext uri="{FF2B5EF4-FFF2-40B4-BE49-F238E27FC236}">
                  <a16:creationId xmlns:a16="http://schemas.microsoft.com/office/drawing/2014/main" id="{BB06C8D9-76D8-4297-A1BA-C3F99925B096}"/>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7" name="任意多边形: 形状 26">
              <a:extLst>
                <a:ext uri="{FF2B5EF4-FFF2-40B4-BE49-F238E27FC236}">
                  <a16:creationId xmlns:a16="http://schemas.microsoft.com/office/drawing/2014/main" id="{8C78BBDD-4F5D-4128-89CC-BC60618E72DD}"/>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任意多边形: 形状 27">
              <a:extLst>
                <a:ext uri="{FF2B5EF4-FFF2-40B4-BE49-F238E27FC236}">
                  <a16:creationId xmlns:a16="http://schemas.microsoft.com/office/drawing/2014/main" id="{EF39BD1F-3E30-4A62-B55E-D3EE433CCB85}"/>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1FFF5A00-C879-4D41-8311-E14A313E9A7E}"/>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2" name="矩形 1">
            <a:extLst>
              <a:ext uri="{FF2B5EF4-FFF2-40B4-BE49-F238E27FC236}">
                <a16:creationId xmlns:a16="http://schemas.microsoft.com/office/drawing/2014/main" id="{6C4A1396-B657-FB98-B2E6-EA480039E1CE}"/>
              </a:ext>
            </a:extLst>
          </p:cNvPr>
          <p:cNvSpPr/>
          <p:nvPr/>
        </p:nvSpPr>
        <p:spPr>
          <a:xfrm rot="5400000">
            <a:off x="-907742" y="8308093"/>
            <a:ext cx="2529860"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HKBU AIDM</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13" name="组合 12">
            <a:extLst>
              <a:ext uri="{FF2B5EF4-FFF2-40B4-BE49-F238E27FC236}">
                <a16:creationId xmlns:a16="http://schemas.microsoft.com/office/drawing/2014/main" id="{B0171025-B1A6-989A-6315-99A69627E5EA}"/>
              </a:ext>
            </a:extLst>
          </p:cNvPr>
          <p:cNvGrpSpPr/>
          <p:nvPr/>
        </p:nvGrpSpPr>
        <p:grpSpPr>
          <a:xfrm>
            <a:off x="321467" y="4464710"/>
            <a:ext cx="71438" cy="2214563"/>
            <a:chOff x="214311" y="3257550"/>
            <a:chExt cx="47625" cy="1476375"/>
          </a:xfrm>
        </p:grpSpPr>
        <p:sp>
          <p:nvSpPr>
            <p:cNvPr id="15" name="椭圆 14">
              <a:extLst>
                <a:ext uri="{FF2B5EF4-FFF2-40B4-BE49-F238E27FC236}">
                  <a16:creationId xmlns:a16="http://schemas.microsoft.com/office/drawing/2014/main" id="{C4FB5FC0-1CCC-C003-10A8-85546578A7AC}"/>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6" name="椭圆 15">
              <a:extLst>
                <a:ext uri="{FF2B5EF4-FFF2-40B4-BE49-F238E27FC236}">
                  <a16:creationId xmlns:a16="http://schemas.microsoft.com/office/drawing/2014/main" id="{B945EE3B-CB68-01FD-A42D-F0315B4577D3}"/>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椭圆 16">
              <a:extLst>
                <a:ext uri="{FF2B5EF4-FFF2-40B4-BE49-F238E27FC236}">
                  <a16:creationId xmlns:a16="http://schemas.microsoft.com/office/drawing/2014/main" id="{20EB4AB5-203F-9A9F-6085-218378591FDF}"/>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椭圆 17">
              <a:extLst>
                <a:ext uri="{FF2B5EF4-FFF2-40B4-BE49-F238E27FC236}">
                  <a16:creationId xmlns:a16="http://schemas.microsoft.com/office/drawing/2014/main" id="{1C88116D-9356-D281-E269-5F22E76D6BB0}"/>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椭圆 18">
              <a:extLst>
                <a:ext uri="{FF2B5EF4-FFF2-40B4-BE49-F238E27FC236}">
                  <a16:creationId xmlns:a16="http://schemas.microsoft.com/office/drawing/2014/main" id="{87BAD3E8-F0C2-4552-E878-B01939C60C20}"/>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A906A326-6A1C-2390-CC13-EDE40E5336A1}"/>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pic>
        <p:nvPicPr>
          <p:cNvPr id="35" name="图片 34">
            <a:extLst>
              <a:ext uri="{FF2B5EF4-FFF2-40B4-BE49-F238E27FC236}">
                <a16:creationId xmlns:a16="http://schemas.microsoft.com/office/drawing/2014/main" id="{211BC835-745D-40C9-BE6A-2190290E52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74122" y="9029700"/>
            <a:ext cx="962465" cy="962465"/>
          </a:xfrm>
          <a:prstGeom prst="rect">
            <a:avLst/>
          </a:prstGeom>
        </p:spPr>
      </p:pic>
    </p:spTree>
    <p:extLst>
      <p:ext uri="{BB962C8B-B14F-4D97-AF65-F5344CB8AC3E}">
        <p14:creationId xmlns:p14="http://schemas.microsoft.com/office/powerpoint/2010/main" val="122696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DF44D-54E9-6018-9BB3-4CD89546B40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1A743CA6-63EF-C5C9-0467-ACD3409C3299}"/>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sp>
        <p:nvSpPr>
          <p:cNvPr id="11" name="文本框 10">
            <a:extLst>
              <a:ext uri="{FF2B5EF4-FFF2-40B4-BE49-F238E27FC236}">
                <a16:creationId xmlns:a16="http://schemas.microsoft.com/office/drawing/2014/main" id="{94A36E9D-7ECD-960D-8E40-2D1D196C4FD9}"/>
              </a:ext>
            </a:extLst>
          </p:cNvPr>
          <p:cNvSpPr txBox="1"/>
          <p:nvPr/>
        </p:nvSpPr>
        <p:spPr>
          <a:xfrm>
            <a:off x="2054380" y="2979014"/>
            <a:ext cx="13581859" cy="2971391"/>
          </a:xfrm>
          <a:prstGeom prst="rect">
            <a:avLst/>
          </a:prstGeom>
          <a:noFill/>
        </p:spPr>
        <p:txBody>
          <a:bodyPr wrap="square" rtlCol="0">
            <a:spAutoFit/>
          </a:bodyPr>
          <a:lstStyle/>
          <a:p>
            <a:pPr>
              <a:lnSpc>
                <a:spcPct val="125000"/>
              </a:lnSpc>
            </a:pPr>
            <a:r>
              <a:rPr lang="en-US" altLang="zh-CN" sz="5400" b="1" dirty="0">
                <a:solidFill>
                  <a:srgbClr val="203864"/>
                </a:solidFill>
                <a:latin typeface="Calibri" panose="020F0502020204030204" pitchFamily="34" charset="0"/>
                <a:ea typeface="Calibri" panose="020F0502020204030204" pitchFamily="34" charset="0"/>
                <a:cs typeface="Calibri" panose="020F0502020204030204" pitchFamily="34" charset="0"/>
              </a:rPr>
              <a:t>The impact of post type on user engagement intentions:</a:t>
            </a:r>
          </a:p>
          <a:p>
            <a:pPr>
              <a:lnSpc>
                <a:spcPct val="125000"/>
              </a:lnSpc>
            </a:pPr>
            <a:r>
              <a:rPr lang="en-US" altLang="zh-CN" sz="4500" dirty="0">
                <a:solidFill>
                  <a:srgbClr val="203864"/>
                </a:solidFill>
                <a:latin typeface="Calibri" panose="020F0502020204030204" pitchFamily="34" charset="0"/>
                <a:ea typeface="Calibri" panose="020F0502020204030204" pitchFamily="34" charset="0"/>
                <a:cs typeface="Calibri" panose="020F0502020204030204" pitchFamily="34" charset="0"/>
              </a:rPr>
              <a:t>The mediating role of perceived control</a:t>
            </a:r>
            <a:endParaRPr lang="zh-CN" altLang="en-US" sz="4500" dirty="0">
              <a:solidFill>
                <a:srgbClr val="203864"/>
              </a:solidFill>
              <a:latin typeface="Calibri" panose="020F0502020204030204" pitchFamily="34" charset="0"/>
              <a:cs typeface="Calibri" panose="020F0502020204030204" pitchFamily="34" charset="0"/>
            </a:endParaRPr>
          </a:p>
        </p:txBody>
      </p:sp>
      <p:grpSp>
        <p:nvGrpSpPr>
          <p:cNvPr id="56" name="组合 55">
            <a:extLst>
              <a:ext uri="{FF2B5EF4-FFF2-40B4-BE49-F238E27FC236}">
                <a16:creationId xmlns:a16="http://schemas.microsoft.com/office/drawing/2014/main" id="{EEA9BEEC-97BB-192E-A5DD-40CE779FAD8E}"/>
              </a:ext>
            </a:extLst>
          </p:cNvPr>
          <p:cNvGrpSpPr/>
          <p:nvPr/>
        </p:nvGrpSpPr>
        <p:grpSpPr>
          <a:xfrm>
            <a:off x="15636241" y="0"/>
            <a:ext cx="4000814" cy="10287000"/>
            <a:chOff x="9457206" y="0"/>
            <a:chExt cx="3345405" cy="6858000"/>
          </a:xfrm>
        </p:grpSpPr>
        <p:sp>
          <p:nvSpPr>
            <p:cNvPr id="14" name="任意多边形: 形状 13">
              <a:extLst>
                <a:ext uri="{FF2B5EF4-FFF2-40B4-BE49-F238E27FC236}">
                  <a16:creationId xmlns:a16="http://schemas.microsoft.com/office/drawing/2014/main" id="{B9A7EA86-22AB-4AF8-E123-1940978F5C7E}"/>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F768DB63-44B8-55E1-9B14-A3BA7DD962F2}"/>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4FC4EAE7-B104-2506-7028-093081B64502}"/>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3" name="任意多边形: 形状 22">
              <a:extLst>
                <a:ext uri="{FF2B5EF4-FFF2-40B4-BE49-F238E27FC236}">
                  <a16:creationId xmlns:a16="http://schemas.microsoft.com/office/drawing/2014/main" id="{B8AA0E27-EE83-787E-64C0-CD1A0CEC47C4}"/>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4" name="任意多边形: 形状 23">
              <a:extLst>
                <a:ext uri="{FF2B5EF4-FFF2-40B4-BE49-F238E27FC236}">
                  <a16:creationId xmlns:a16="http://schemas.microsoft.com/office/drawing/2014/main" id="{E40FAF2C-3C0E-1C15-F718-D9988636D995}"/>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5" name="任意多边形: 形状 24">
              <a:extLst>
                <a:ext uri="{FF2B5EF4-FFF2-40B4-BE49-F238E27FC236}">
                  <a16:creationId xmlns:a16="http://schemas.microsoft.com/office/drawing/2014/main" id="{7FC2943E-0795-78CF-4757-A2CA76075348}"/>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6" name="任意多边形: 形状 25">
              <a:extLst>
                <a:ext uri="{FF2B5EF4-FFF2-40B4-BE49-F238E27FC236}">
                  <a16:creationId xmlns:a16="http://schemas.microsoft.com/office/drawing/2014/main" id="{8D15309F-2C08-E7D0-572B-F449C349E884}"/>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7" name="任意多边形: 形状 26">
              <a:extLst>
                <a:ext uri="{FF2B5EF4-FFF2-40B4-BE49-F238E27FC236}">
                  <a16:creationId xmlns:a16="http://schemas.microsoft.com/office/drawing/2014/main" id="{DC11A274-42F2-B10C-B0A5-C61E803E91D8}"/>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任意多边形: 形状 27">
              <a:extLst>
                <a:ext uri="{FF2B5EF4-FFF2-40B4-BE49-F238E27FC236}">
                  <a16:creationId xmlns:a16="http://schemas.microsoft.com/office/drawing/2014/main" id="{FA6A1B6B-57E6-C273-9160-BBDD45D73B91}"/>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6C5F5A94-A866-DC22-E3C4-240BF42955AE}"/>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2" name="矩形 1">
            <a:extLst>
              <a:ext uri="{FF2B5EF4-FFF2-40B4-BE49-F238E27FC236}">
                <a16:creationId xmlns:a16="http://schemas.microsoft.com/office/drawing/2014/main" id="{3400377D-B55F-01FC-7765-A4154A1AF67C}"/>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13" name="组合 12">
            <a:extLst>
              <a:ext uri="{FF2B5EF4-FFF2-40B4-BE49-F238E27FC236}">
                <a16:creationId xmlns:a16="http://schemas.microsoft.com/office/drawing/2014/main" id="{AFBC96AD-CE5D-8A61-00D5-0648DA513112}"/>
              </a:ext>
            </a:extLst>
          </p:cNvPr>
          <p:cNvGrpSpPr/>
          <p:nvPr/>
        </p:nvGrpSpPr>
        <p:grpSpPr>
          <a:xfrm>
            <a:off x="321467" y="4464710"/>
            <a:ext cx="71438" cy="2214563"/>
            <a:chOff x="214311" y="3257550"/>
            <a:chExt cx="47625" cy="1476375"/>
          </a:xfrm>
        </p:grpSpPr>
        <p:sp>
          <p:nvSpPr>
            <p:cNvPr id="15" name="椭圆 14">
              <a:extLst>
                <a:ext uri="{FF2B5EF4-FFF2-40B4-BE49-F238E27FC236}">
                  <a16:creationId xmlns:a16="http://schemas.microsoft.com/office/drawing/2014/main" id="{8C00A9E3-D1FF-493D-A3CC-4B9C6EEED0BF}"/>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6" name="椭圆 15">
              <a:extLst>
                <a:ext uri="{FF2B5EF4-FFF2-40B4-BE49-F238E27FC236}">
                  <a16:creationId xmlns:a16="http://schemas.microsoft.com/office/drawing/2014/main" id="{69E271E7-0B48-D105-9F85-EF49FEC25EE9}"/>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椭圆 16">
              <a:extLst>
                <a:ext uri="{FF2B5EF4-FFF2-40B4-BE49-F238E27FC236}">
                  <a16:creationId xmlns:a16="http://schemas.microsoft.com/office/drawing/2014/main" id="{F81928B6-9D1E-3A94-1388-4BEA4CDF1BED}"/>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椭圆 17">
              <a:extLst>
                <a:ext uri="{FF2B5EF4-FFF2-40B4-BE49-F238E27FC236}">
                  <a16:creationId xmlns:a16="http://schemas.microsoft.com/office/drawing/2014/main" id="{B8FE558A-98CC-C565-5D77-951FB7BFA978}"/>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椭圆 18">
              <a:extLst>
                <a:ext uri="{FF2B5EF4-FFF2-40B4-BE49-F238E27FC236}">
                  <a16:creationId xmlns:a16="http://schemas.microsoft.com/office/drawing/2014/main" id="{6822D452-2FA5-48BA-3C46-00B5D16BC9B3}"/>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54451B74-B58B-7186-75AD-1DBAE27EBDE4}"/>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pic>
        <p:nvPicPr>
          <p:cNvPr id="35" name="图片 34">
            <a:extLst>
              <a:ext uri="{FF2B5EF4-FFF2-40B4-BE49-F238E27FC236}">
                <a16:creationId xmlns:a16="http://schemas.microsoft.com/office/drawing/2014/main" id="{DBE88413-ED36-7AB4-8CC9-80F602E9A3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4380" y="7250650"/>
            <a:ext cx="962465" cy="962465"/>
          </a:xfrm>
          <a:prstGeom prst="rect">
            <a:avLst/>
          </a:prstGeom>
        </p:spPr>
      </p:pic>
      <p:sp>
        <p:nvSpPr>
          <p:cNvPr id="39" name="文本框 38">
            <a:extLst>
              <a:ext uri="{FF2B5EF4-FFF2-40B4-BE49-F238E27FC236}">
                <a16:creationId xmlns:a16="http://schemas.microsoft.com/office/drawing/2014/main" id="{A3B5A7B3-71B9-CD90-8F3D-8F212CCD0179}"/>
              </a:ext>
            </a:extLst>
          </p:cNvPr>
          <p:cNvSpPr txBox="1"/>
          <p:nvPr/>
        </p:nvSpPr>
        <p:spPr>
          <a:xfrm>
            <a:off x="3424941" y="7243617"/>
            <a:ext cx="7476936" cy="923330"/>
          </a:xfrm>
          <a:prstGeom prst="rect">
            <a:avLst/>
          </a:prstGeom>
          <a:noFill/>
        </p:spPr>
        <p:txBody>
          <a:bodyPr wrap="square" rtlCol="0">
            <a:spAutoFit/>
          </a:bodyPr>
          <a:lstStyle/>
          <a:p>
            <a:r>
              <a:rPr lang="en-US" altLang="zh-CN" sz="2700" dirty="0">
                <a:latin typeface="Calibri" panose="020F0502020204030204" pitchFamily="34" charset="0"/>
                <a:ea typeface="Calibri" panose="020F0502020204030204" pitchFamily="34" charset="0"/>
                <a:cs typeface="Calibri" panose="020F0502020204030204" pitchFamily="34" charset="0"/>
              </a:rPr>
              <a:t>YIN Hanyu    25417665          YANG Yuna   25405527</a:t>
            </a:r>
          </a:p>
          <a:p>
            <a:r>
              <a:rPr lang="en-US" altLang="zh-CN" sz="2700" dirty="0">
                <a:latin typeface="Calibri" panose="020F0502020204030204" pitchFamily="34" charset="0"/>
                <a:ea typeface="Calibri" panose="020F0502020204030204" pitchFamily="34" charset="0"/>
                <a:cs typeface="Calibri" panose="020F0502020204030204" pitchFamily="34" charset="0"/>
              </a:rPr>
              <a:t>LIU Jiayu       25421212          CHEN </a:t>
            </a:r>
            <a:r>
              <a:rPr lang="en-US" altLang="zh-CN" sz="2700" dirty="0" err="1">
                <a:latin typeface="Calibri" panose="020F0502020204030204" pitchFamily="34" charset="0"/>
                <a:ea typeface="Calibri" panose="020F0502020204030204" pitchFamily="34" charset="0"/>
                <a:cs typeface="Calibri" panose="020F0502020204030204" pitchFamily="34" charset="0"/>
              </a:rPr>
              <a:t>Jinqi</a:t>
            </a:r>
            <a:r>
              <a:rPr lang="en-US" altLang="zh-CN" sz="2700" dirty="0">
                <a:latin typeface="Calibri" panose="020F0502020204030204" pitchFamily="34" charset="0"/>
                <a:ea typeface="Calibri" panose="020F0502020204030204" pitchFamily="34" charset="0"/>
                <a:cs typeface="Calibri" panose="020F0502020204030204" pitchFamily="34" charset="0"/>
              </a:rPr>
              <a:t>   25439413</a:t>
            </a:r>
            <a:endParaRPr lang="zh-CN" altLang="en-US" sz="27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5949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461D531-9712-488E-97A4-EAD32BC67155}"/>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242D7058-6935-4EAC-91B5-7ABCCD5EBD73}"/>
              </a:ext>
            </a:extLst>
          </p:cNvPr>
          <p:cNvGrpSpPr/>
          <p:nvPr/>
        </p:nvGrpSpPr>
        <p:grpSpPr>
          <a:xfrm>
            <a:off x="15721338" y="0"/>
            <a:ext cx="3482579" cy="10287000"/>
            <a:chOff x="9457206" y="0"/>
            <a:chExt cx="3345405" cy="6858000"/>
          </a:xfrm>
        </p:grpSpPr>
        <p:sp>
          <p:nvSpPr>
            <p:cNvPr id="13" name="任意多边形: 形状 12">
              <a:extLst>
                <a:ext uri="{FF2B5EF4-FFF2-40B4-BE49-F238E27FC236}">
                  <a16:creationId xmlns:a16="http://schemas.microsoft.com/office/drawing/2014/main" id="{60A2E9A9-58DE-46BA-B29F-0FFF43C869AB}"/>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19CF77EB-E2E3-4A88-BA25-AF86443605E9}"/>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D440E2D7-DFE7-437D-9A8E-6444B629A207}"/>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5023E622-7908-47AA-B0E2-A6BF2B7B91E6}"/>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0D9D84FE-0FA1-4B4D-8F32-07030050B494}"/>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84EF3FEE-7CB4-4830-9403-0CD470AED59E}"/>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C17DEB65-56E5-4C6D-9E2C-1C8F7E9B7C43}"/>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B1B7D1A0-7FAD-4B8D-8A70-C4FB7D0DC20B}"/>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9C73FDE3-37C7-416F-88CA-70BC6EEA133B}"/>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18088C3B-3A4C-49F2-A18A-6107E121A2E1}"/>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2" name="椭圆 1">
            <a:extLst>
              <a:ext uri="{FF2B5EF4-FFF2-40B4-BE49-F238E27FC236}">
                <a16:creationId xmlns:a16="http://schemas.microsoft.com/office/drawing/2014/main" id="{255CDE8B-2730-3A8A-1268-F1024EB591D6}"/>
              </a:ext>
            </a:extLst>
          </p:cNvPr>
          <p:cNvSpPr/>
          <p:nvPr/>
        </p:nvSpPr>
        <p:spPr>
          <a:xfrm>
            <a:off x="3965144" y="3425507"/>
            <a:ext cx="553997" cy="55399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solidFill>
                <a:schemeClr val="accent5">
                  <a:lumMod val="50000"/>
                </a:schemeClr>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EF22DA5D-ECAA-543D-2498-04BF4A02C465}"/>
              </a:ext>
            </a:extLst>
          </p:cNvPr>
          <p:cNvSpPr txBox="1"/>
          <p:nvPr/>
        </p:nvSpPr>
        <p:spPr>
          <a:xfrm>
            <a:off x="3956720" y="1479272"/>
            <a:ext cx="3964431" cy="1015663"/>
          </a:xfrm>
          <a:prstGeom prst="rect">
            <a:avLst/>
          </a:prstGeom>
          <a:noFill/>
        </p:spPr>
        <p:txBody>
          <a:bodyPr wrap="square" rtlCol="0">
            <a:spAutoFit/>
          </a:bodyPr>
          <a:lstStyle/>
          <a:p>
            <a:pPr algn="dist"/>
            <a:r>
              <a:rPr lang="en-US" altLang="zh-CN" sz="6000" b="1" dirty="0">
                <a:solidFill>
                  <a:srgbClr val="203864"/>
                </a:solidFill>
                <a:latin typeface="Calibri" panose="020F0502020204030204" pitchFamily="34" charset="0"/>
                <a:ea typeface="Calibri" panose="020F0502020204030204" pitchFamily="34" charset="0"/>
                <a:cs typeface="Calibri" panose="020F0502020204030204" pitchFamily="34" charset="0"/>
              </a:rPr>
              <a:t>Catalogue</a:t>
            </a:r>
            <a:endParaRPr lang="zh-CN" altLang="en-US" sz="6000" b="1" dirty="0">
              <a:solidFill>
                <a:srgbClr val="203864"/>
              </a:solidFill>
              <a:latin typeface="Calibri" panose="020F0502020204030204" pitchFamily="34" charset="0"/>
              <a:cs typeface="Calibri" panose="020F0502020204030204" pitchFamily="34" charset="0"/>
            </a:endParaRPr>
          </a:p>
        </p:txBody>
      </p:sp>
      <p:sp>
        <p:nvSpPr>
          <p:cNvPr id="30" name="文本框 29">
            <a:extLst>
              <a:ext uri="{FF2B5EF4-FFF2-40B4-BE49-F238E27FC236}">
                <a16:creationId xmlns:a16="http://schemas.microsoft.com/office/drawing/2014/main" id="{0DC178A8-AF15-46DC-4222-6A81A7EA4E3D}"/>
              </a:ext>
            </a:extLst>
          </p:cNvPr>
          <p:cNvSpPr txBox="1"/>
          <p:nvPr/>
        </p:nvSpPr>
        <p:spPr>
          <a:xfrm>
            <a:off x="4845092" y="3425507"/>
            <a:ext cx="2263505" cy="553998"/>
          </a:xfrm>
          <a:prstGeom prst="rect">
            <a:avLst/>
          </a:prstGeom>
          <a:noFill/>
        </p:spPr>
        <p:txBody>
          <a:bodyPr wrap="none" rtlCol="0">
            <a:spAutoFit/>
          </a:bodyPr>
          <a:lstStyle/>
          <a:p>
            <a:r>
              <a:rPr lang="en-US" altLang="zh-CN" sz="3000" b="1" dirty="0">
                <a:latin typeface="Calibri" panose="020F0502020204030204" pitchFamily="34" charset="0"/>
                <a:ea typeface="Calibri" panose="020F0502020204030204" pitchFamily="34" charset="0"/>
                <a:cs typeface="Calibri" panose="020F0502020204030204" pitchFamily="34" charset="0"/>
              </a:rPr>
              <a:t>Introduction</a:t>
            </a:r>
            <a:endParaRPr lang="zh-CN" altLang="en-US" sz="3000" b="1" dirty="0">
              <a:latin typeface="Calibri" panose="020F0502020204030204" pitchFamily="34" charset="0"/>
              <a:cs typeface="Calibri" panose="020F0502020204030204" pitchFamily="34" charset="0"/>
            </a:endParaRPr>
          </a:p>
        </p:txBody>
      </p:sp>
      <p:sp>
        <p:nvSpPr>
          <p:cNvPr id="59" name="文本框 58">
            <a:extLst>
              <a:ext uri="{FF2B5EF4-FFF2-40B4-BE49-F238E27FC236}">
                <a16:creationId xmlns:a16="http://schemas.microsoft.com/office/drawing/2014/main" id="{791CE144-1D06-216A-8302-D4E44FE44AA7}"/>
              </a:ext>
            </a:extLst>
          </p:cNvPr>
          <p:cNvSpPr txBox="1"/>
          <p:nvPr/>
        </p:nvSpPr>
        <p:spPr>
          <a:xfrm>
            <a:off x="4845092" y="4601989"/>
            <a:ext cx="3061031" cy="553998"/>
          </a:xfrm>
          <a:prstGeom prst="rect">
            <a:avLst/>
          </a:prstGeom>
          <a:noFill/>
        </p:spPr>
        <p:txBody>
          <a:bodyPr wrap="none" rtlCol="0">
            <a:spAutoFit/>
          </a:bodyPr>
          <a:lstStyle/>
          <a:p>
            <a:r>
              <a:rPr lang="en-US" altLang="zh-CN" sz="3000" b="1" dirty="0">
                <a:latin typeface="Calibri" panose="020F0502020204030204" pitchFamily="34" charset="0"/>
                <a:ea typeface="Calibri" panose="020F0502020204030204" pitchFamily="34" charset="0"/>
                <a:cs typeface="Calibri" panose="020F0502020204030204" pitchFamily="34" charset="0"/>
              </a:rPr>
              <a:t>Literature reviews</a:t>
            </a:r>
          </a:p>
        </p:txBody>
      </p:sp>
      <p:sp>
        <p:nvSpPr>
          <p:cNvPr id="60" name="文本框 59">
            <a:extLst>
              <a:ext uri="{FF2B5EF4-FFF2-40B4-BE49-F238E27FC236}">
                <a16:creationId xmlns:a16="http://schemas.microsoft.com/office/drawing/2014/main" id="{CCB3736A-3371-EDB7-F590-8C97B9FB8438}"/>
              </a:ext>
            </a:extLst>
          </p:cNvPr>
          <p:cNvSpPr txBox="1"/>
          <p:nvPr/>
        </p:nvSpPr>
        <p:spPr>
          <a:xfrm>
            <a:off x="4845092" y="6893396"/>
            <a:ext cx="1331583" cy="553998"/>
          </a:xfrm>
          <a:prstGeom prst="rect">
            <a:avLst/>
          </a:prstGeom>
          <a:noFill/>
        </p:spPr>
        <p:txBody>
          <a:bodyPr wrap="none" rtlCol="0">
            <a:spAutoFit/>
          </a:bodyPr>
          <a:lstStyle/>
          <a:p>
            <a:r>
              <a:rPr lang="en-US" altLang="zh-CN" sz="3000" b="1" dirty="0">
                <a:latin typeface="Calibri" panose="020F0502020204030204" pitchFamily="34" charset="0"/>
                <a:ea typeface="Calibri" panose="020F0502020204030204" pitchFamily="34" charset="0"/>
                <a:cs typeface="Calibri" panose="020F0502020204030204" pitchFamily="34" charset="0"/>
              </a:rPr>
              <a:t>Results</a:t>
            </a:r>
            <a:endParaRPr lang="zh-CN" altLang="en-US" sz="3000" b="1" dirty="0">
              <a:latin typeface="Calibri" panose="020F0502020204030204" pitchFamily="34" charset="0"/>
              <a:cs typeface="Calibri" panose="020F0502020204030204" pitchFamily="34" charset="0"/>
            </a:endParaRPr>
          </a:p>
        </p:txBody>
      </p:sp>
      <p:sp>
        <p:nvSpPr>
          <p:cNvPr id="64" name="椭圆 63">
            <a:extLst>
              <a:ext uri="{FF2B5EF4-FFF2-40B4-BE49-F238E27FC236}">
                <a16:creationId xmlns:a16="http://schemas.microsoft.com/office/drawing/2014/main" id="{DEE49131-82A4-C039-6CB7-DC67F14E9BAE}"/>
              </a:ext>
            </a:extLst>
          </p:cNvPr>
          <p:cNvSpPr/>
          <p:nvPr/>
        </p:nvSpPr>
        <p:spPr>
          <a:xfrm>
            <a:off x="3965145" y="4601989"/>
            <a:ext cx="553997" cy="55399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solidFill>
                <a:schemeClr val="accent5">
                  <a:lumMod val="50000"/>
                </a:schemeClr>
              </a:solidFill>
              <a:latin typeface="Calibri" panose="020F0502020204030204" pitchFamily="34" charset="0"/>
              <a:cs typeface="Calibri" panose="020F0502020204030204" pitchFamily="34" charset="0"/>
            </a:endParaRPr>
          </a:p>
        </p:txBody>
      </p:sp>
      <p:sp>
        <p:nvSpPr>
          <p:cNvPr id="65" name="椭圆 64">
            <a:extLst>
              <a:ext uri="{FF2B5EF4-FFF2-40B4-BE49-F238E27FC236}">
                <a16:creationId xmlns:a16="http://schemas.microsoft.com/office/drawing/2014/main" id="{344E728E-78D4-8FAE-0F56-46E0E7B9FF01}"/>
              </a:ext>
            </a:extLst>
          </p:cNvPr>
          <p:cNvSpPr/>
          <p:nvPr/>
        </p:nvSpPr>
        <p:spPr>
          <a:xfrm>
            <a:off x="3965145" y="5747692"/>
            <a:ext cx="553997" cy="55399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solidFill>
                <a:schemeClr val="accent5">
                  <a:lumMod val="50000"/>
                </a:schemeClr>
              </a:solidFill>
              <a:latin typeface="Calibri" panose="020F0502020204030204" pitchFamily="34" charset="0"/>
              <a:cs typeface="Calibri" panose="020F0502020204030204" pitchFamily="34" charset="0"/>
            </a:endParaRPr>
          </a:p>
        </p:txBody>
      </p:sp>
      <p:sp>
        <p:nvSpPr>
          <p:cNvPr id="68" name="矩形 67">
            <a:extLst>
              <a:ext uri="{FF2B5EF4-FFF2-40B4-BE49-F238E27FC236}">
                <a16:creationId xmlns:a16="http://schemas.microsoft.com/office/drawing/2014/main" id="{C2C9B085-81D4-46F4-78A6-711569F3343F}"/>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69" name="组合 68">
            <a:extLst>
              <a:ext uri="{FF2B5EF4-FFF2-40B4-BE49-F238E27FC236}">
                <a16:creationId xmlns:a16="http://schemas.microsoft.com/office/drawing/2014/main" id="{839D3AE0-0BA3-1B5D-869C-676435F428F3}"/>
              </a:ext>
            </a:extLst>
          </p:cNvPr>
          <p:cNvGrpSpPr/>
          <p:nvPr/>
        </p:nvGrpSpPr>
        <p:grpSpPr>
          <a:xfrm>
            <a:off x="321467" y="4464710"/>
            <a:ext cx="71438" cy="2214563"/>
            <a:chOff x="214311" y="3257550"/>
            <a:chExt cx="47625" cy="1476375"/>
          </a:xfrm>
        </p:grpSpPr>
        <p:sp>
          <p:nvSpPr>
            <p:cNvPr id="70" name="椭圆 69">
              <a:extLst>
                <a:ext uri="{FF2B5EF4-FFF2-40B4-BE49-F238E27FC236}">
                  <a16:creationId xmlns:a16="http://schemas.microsoft.com/office/drawing/2014/main" id="{39FEC796-4FDA-532F-7B9B-A3B3AAF252E9}"/>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71" name="椭圆 70">
              <a:extLst>
                <a:ext uri="{FF2B5EF4-FFF2-40B4-BE49-F238E27FC236}">
                  <a16:creationId xmlns:a16="http://schemas.microsoft.com/office/drawing/2014/main" id="{0FB4C4D9-06CA-2E94-9916-720544F875D9}"/>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72" name="椭圆 71">
              <a:extLst>
                <a:ext uri="{FF2B5EF4-FFF2-40B4-BE49-F238E27FC236}">
                  <a16:creationId xmlns:a16="http://schemas.microsoft.com/office/drawing/2014/main" id="{32A30BF4-4AB5-7ECB-CDB5-0BCCA02C120A}"/>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73" name="椭圆 72">
              <a:extLst>
                <a:ext uri="{FF2B5EF4-FFF2-40B4-BE49-F238E27FC236}">
                  <a16:creationId xmlns:a16="http://schemas.microsoft.com/office/drawing/2014/main" id="{5C5296BA-C6A8-F37F-35E9-0F9C6B43608C}"/>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74" name="椭圆 73">
              <a:extLst>
                <a:ext uri="{FF2B5EF4-FFF2-40B4-BE49-F238E27FC236}">
                  <a16:creationId xmlns:a16="http://schemas.microsoft.com/office/drawing/2014/main" id="{786246DB-6021-04AD-A55A-A53B68A4DA66}"/>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75" name="椭圆 74">
              <a:extLst>
                <a:ext uri="{FF2B5EF4-FFF2-40B4-BE49-F238E27FC236}">
                  <a16:creationId xmlns:a16="http://schemas.microsoft.com/office/drawing/2014/main" id="{2E123BEC-AF59-4887-B0F5-4C977437B730}"/>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
        <p:nvSpPr>
          <p:cNvPr id="77" name="椭圆 76">
            <a:extLst>
              <a:ext uri="{FF2B5EF4-FFF2-40B4-BE49-F238E27FC236}">
                <a16:creationId xmlns:a16="http://schemas.microsoft.com/office/drawing/2014/main" id="{1DB52FA3-89A0-2210-D655-1634A2AA326F}"/>
              </a:ext>
            </a:extLst>
          </p:cNvPr>
          <p:cNvSpPr/>
          <p:nvPr/>
        </p:nvSpPr>
        <p:spPr>
          <a:xfrm>
            <a:off x="3965145" y="6893396"/>
            <a:ext cx="553997" cy="55399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solidFill>
                <a:schemeClr val="accent5">
                  <a:lumMod val="50000"/>
                </a:schemeClr>
              </a:solidFill>
              <a:latin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4C2107E7-BC09-18A6-252E-3E7F0AB82C2E}"/>
              </a:ext>
            </a:extLst>
          </p:cNvPr>
          <p:cNvSpPr txBox="1"/>
          <p:nvPr/>
        </p:nvSpPr>
        <p:spPr>
          <a:xfrm>
            <a:off x="4845092" y="5747692"/>
            <a:ext cx="1466042" cy="553998"/>
          </a:xfrm>
          <a:prstGeom prst="rect">
            <a:avLst/>
          </a:prstGeom>
          <a:noFill/>
        </p:spPr>
        <p:txBody>
          <a:bodyPr wrap="none" rtlCol="0">
            <a:spAutoFit/>
          </a:bodyPr>
          <a:lstStyle/>
          <a:p>
            <a:r>
              <a:rPr lang="en-US" altLang="zh-CN" sz="3000" b="1" dirty="0">
                <a:latin typeface="Calibri" panose="020F0502020204030204" pitchFamily="34" charset="0"/>
                <a:ea typeface="Calibri" panose="020F0502020204030204" pitchFamily="34" charset="0"/>
                <a:cs typeface="Calibri" panose="020F0502020204030204" pitchFamily="34" charset="0"/>
              </a:rPr>
              <a:t>Method</a:t>
            </a:r>
          </a:p>
        </p:txBody>
      </p:sp>
      <p:sp>
        <p:nvSpPr>
          <p:cNvPr id="8" name="文本框 7">
            <a:extLst>
              <a:ext uri="{FF2B5EF4-FFF2-40B4-BE49-F238E27FC236}">
                <a16:creationId xmlns:a16="http://schemas.microsoft.com/office/drawing/2014/main" id="{A5A7CEF2-669D-66B9-1AAB-B7621F02D79D}"/>
              </a:ext>
            </a:extLst>
          </p:cNvPr>
          <p:cNvSpPr txBox="1"/>
          <p:nvPr/>
        </p:nvSpPr>
        <p:spPr>
          <a:xfrm>
            <a:off x="4845092" y="8039100"/>
            <a:ext cx="2187686" cy="553998"/>
          </a:xfrm>
          <a:prstGeom prst="rect">
            <a:avLst/>
          </a:prstGeom>
          <a:noFill/>
        </p:spPr>
        <p:txBody>
          <a:bodyPr wrap="square" rtlCol="0">
            <a:spAutoFit/>
          </a:bodyPr>
          <a:lstStyle/>
          <a:p>
            <a:r>
              <a:rPr lang="en-US" altLang="zh-CN" sz="3000" b="1" dirty="0">
                <a:latin typeface="Calibri" panose="020F0502020204030204" pitchFamily="34" charset="0"/>
                <a:ea typeface="Calibri" panose="020F0502020204030204" pitchFamily="34" charset="0"/>
                <a:cs typeface="Calibri" panose="020F0502020204030204" pitchFamily="34" charset="0"/>
              </a:rPr>
              <a:t>Discussion</a:t>
            </a:r>
            <a:endParaRPr lang="zh-CN" altLang="en-US" sz="3000" dirty="0">
              <a:latin typeface="Calibri" panose="020F0502020204030204" pitchFamily="34" charset="0"/>
              <a:cs typeface="Calibri" panose="020F0502020204030204" pitchFamily="34" charset="0"/>
            </a:endParaRPr>
          </a:p>
        </p:txBody>
      </p:sp>
      <p:sp>
        <p:nvSpPr>
          <p:cNvPr id="10" name="椭圆 9">
            <a:extLst>
              <a:ext uri="{FF2B5EF4-FFF2-40B4-BE49-F238E27FC236}">
                <a16:creationId xmlns:a16="http://schemas.microsoft.com/office/drawing/2014/main" id="{A3C622BA-5C00-407E-A92F-591772C69DD3}"/>
              </a:ext>
            </a:extLst>
          </p:cNvPr>
          <p:cNvSpPr/>
          <p:nvPr/>
        </p:nvSpPr>
        <p:spPr>
          <a:xfrm>
            <a:off x="3970760" y="8039100"/>
            <a:ext cx="553997" cy="55399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solidFill>
                <a:schemeClr val="accent5">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3162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0A3BD-7A9F-95FE-D9A7-4FAE0AF0C65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BF29EFB-4321-F2FA-AA95-D79ABDE84A66}"/>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37620A92-0A1B-5F1A-A063-F82BD6B5090B}"/>
              </a:ext>
            </a:extLst>
          </p:cNvPr>
          <p:cNvGrpSpPr/>
          <p:nvPr/>
        </p:nvGrpSpPr>
        <p:grpSpPr>
          <a:xfrm>
            <a:off x="14185810" y="0"/>
            <a:ext cx="5018108" cy="10287000"/>
            <a:chOff x="9457206" y="0"/>
            <a:chExt cx="3345405" cy="6858000"/>
          </a:xfrm>
        </p:grpSpPr>
        <p:sp>
          <p:nvSpPr>
            <p:cNvPr id="13" name="任意多边形: 形状 12">
              <a:extLst>
                <a:ext uri="{FF2B5EF4-FFF2-40B4-BE49-F238E27FC236}">
                  <a16:creationId xmlns:a16="http://schemas.microsoft.com/office/drawing/2014/main" id="{D6B6FDBB-D34F-39E1-79DD-7672E12C9145}"/>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666ECEAB-D46B-745C-37E3-D847AA0A404F}"/>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6247880F-D870-E26A-47D1-7C1022DE0E9C}"/>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EC77226E-12E6-1FBE-B2AE-26ABB69E5963}"/>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DA8FC07C-7A47-7C00-D9E7-9E9DE85006B7}"/>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1317AEBC-D50B-3824-6F74-8B66767878D6}"/>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BDEB40C9-699B-F615-0A90-CFF7C74E434A}"/>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19F3F6C6-9AEB-3F33-49B2-83B4DA471A99}"/>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10B2835D-C60C-D33D-C204-8949EDB37E6B}"/>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542A8184-40E3-7653-CECA-EC17FB4C9014}"/>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68" name="矩形 67">
            <a:extLst>
              <a:ext uri="{FF2B5EF4-FFF2-40B4-BE49-F238E27FC236}">
                <a16:creationId xmlns:a16="http://schemas.microsoft.com/office/drawing/2014/main" id="{3922CF11-8256-9B48-2325-65103F74AD30}"/>
              </a:ext>
            </a:extLst>
          </p:cNvPr>
          <p:cNvSpPr/>
          <p:nvPr/>
        </p:nvSpPr>
        <p:spPr>
          <a:xfrm>
            <a:off x="2017652" y="3827756"/>
            <a:ext cx="1759079" cy="1477328"/>
          </a:xfrm>
          <a:prstGeom prst="rect">
            <a:avLst/>
          </a:prstGeom>
        </p:spPr>
        <p:txBody>
          <a:bodyPr wrap="square">
            <a:spAutoFit/>
          </a:bodyPr>
          <a:lstStyle/>
          <a:p>
            <a:pPr algn="ctr"/>
            <a:r>
              <a:rPr lang="en-US" altLang="zh-CN" sz="9000" b="1" dirty="0">
                <a:latin typeface="Calibri" panose="020F0502020204030204" pitchFamily="34" charset="0"/>
                <a:ea typeface="Calibri" panose="020F0502020204030204" pitchFamily="34" charset="0"/>
                <a:cs typeface="Calibri" panose="020F0502020204030204" pitchFamily="34" charset="0"/>
              </a:rPr>
              <a:t>1</a:t>
            </a:r>
            <a:endParaRPr lang="zh-CN" altLang="en-US" sz="9000" b="1" dirty="0">
              <a:latin typeface="Calibri" panose="020F0502020204030204" pitchFamily="34" charset="0"/>
              <a:cs typeface="Calibri" panose="020F0502020204030204" pitchFamily="34" charset="0"/>
            </a:endParaRPr>
          </a:p>
        </p:txBody>
      </p:sp>
      <p:sp>
        <p:nvSpPr>
          <p:cNvPr id="69" name="矩形 68">
            <a:extLst>
              <a:ext uri="{FF2B5EF4-FFF2-40B4-BE49-F238E27FC236}">
                <a16:creationId xmlns:a16="http://schemas.microsoft.com/office/drawing/2014/main" id="{D8711956-4E2C-3410-9114-AE3340798687}"/>
              </a:ext>
            </a:extLst>
          </p:cNvPr>
          <p:cNvSpPr/>
          <p:nvPr/>
        </p:nvSpPr>
        <p:spPr>
          <a:xfrm>
            <a:off x="4315615" y="3827756"/>
            <a:ext cx="6123786" cy="1446550"/>
          </a:xfrm>
          <a:prstGeom prst="rect">
            <a:avLst/>
          </a:prstGeom>
        </p:spPr>
        <p:txBody>
          <a:bodyPr wrap="square">
            <a:spAutoFit/>
          </a:bodyPr>
          <a:lstStyle/>
          <a:p>
            <a:r>
              <a:rPr lang="en-US" altLang="zh-CN" sz="8800" b="1" dirty="0">
                <a:latin typeface="Calibri" panose="020F0502020204030204" pitchFamily="34" charset="0"/>
                <a:ea typeface="Calibri" panose="020F0502020204030204" pitchFamily="34" charset="0"/>
                <a:cs typeface="Calibri" panose="020F0502020204030204" pitchFamily="34" charset="0"/>
              </a:rPr>
              <a:t>Introduction</a:t>
            </a:r>
            <a:endParaRPr lang="zh-CN" altLang="en-US" sz="8800" b="1" dirty="0">
              <a:latin typeface="Calibri" panose="020F0502020204030204" pitchFamily="34" charset="0"/>
              <a:cs typeface="Calibri" panose="020F0502020204030204" pitchFamily="34" charset="0"/>
            </a:endParaRPr>
          </a:p>
        </p:txBody>
      </p:sp>
      <p:sp>
        <p:nvSpPr>
          <p:cNvPr id="24" name="矩形 23">
            <a:extLst>
              <a:ext uri="{FF2B5EF4-FFF2-40B4-BE49-F238E27FC236}">
                <a16:creationId xmlns:a16="http://schemas.microsoft.com/office/drawing/2014/main" id="{4BC23279-2067-F800-F153-43BDA4187129}"/>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25" name="组合 24">
            <a:extLst>
              <a:ext uri="{FF2B5EF4-FFF2-40B4-BE49-F238E27FC236}">
                <a16:creationId xmlns:a16="http://schemas.microsoft.com/office/drawing/2014/main" id="{01BCA0ED-059B-4BF0-0647-42433D71D126}"/>
              </a:ext>
            </a:extLst>
          </p:cNvPr>
          <p:cNvGrpSpPr/>
          <p:nvPr/>
        </p:nvGrpSpPr>
        <p:grpSpPr>
          <a:xfrm>
            <a:off x="321467" y="4464710"/>
            <a:ext cx="71438" cy="2214563"/>
            <a:chOff x="214311" y="3257550"/>
            <a:chExt cx="47625" cy="1476375"/>
          </a:xfrm>
        </p:grpSpPr>
        <p:sp>
          <p:nvSpPr>
            <p:cNvPr id="26" name="椭圆 25">
              <a:extLst>
                <a:ext uri="{FF2B5EF4-FFF2-40B4-BE49-F238E27FC236}">
                  <a16:creationId xmlns:a16="http://schemas.microsoft.com/office/drawing/2014/main" id="{B642803A-4DA8-55AA-CAFA-5AACA39D1E7F}"/>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7" name="椭圆 26">
              <a:extLst>
                <a:ext uri="{FF2B5EF4-FFF2-40B4-BE49-F238E27FC236}">
                  <a16:creationId xmlns:a16="http://schemas.microsoft.com/office/drawing/2014/main" id="{D090A35A-EE04-A58F-33DA-A6502F9D7EDE}"/>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椭圆 27">
              <a:extLst>
                <a:ext uri="{FF2B5EF4-FFF2-40B4-BE49-F238E27FC236}">
                  <a16:creationId xmlns:a16="http://schemas.microsoft.com/office/drawing/2014/main" id="{BB46F716-73E8-913D-92AA-56E04018CEF5}"/>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B3A6518E-30EE-C45A-EB44-80E7AE7D3FA1}"/>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1" name="椭圆 30">
              <a:extLst>
                <a:ext uri="{FF2B5EF4-FFF2-40B4-BE49-F238E27FC236}">
                  <a16:creationId xmlns:a16="http://schemas.microsoft.com/office/drawing/2014/main" id="{3E8290C2-70B8-F6CB-5F37-10B450D06D1D}"/>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2" name="椭圆 31">
              <a:extLst>
                <a:ext uri="{FF2B5EF4-FFF2-40B4-BE49-F238E27FC236}">
                  <a16:creationId xmlns:a16="http://schemas.microsoft.com/office/drawing/2014/main" id="{17AE9FCA-FBBE-FC71-4C95-7189ADA24145}"/>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82200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1118870" y="3001010"/>
            <a:ext cx="13452475" cy="417131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516890" indent="1270" algn="l" rtl="0" eaLnBrk="0">
              <a:lnSpc>
                <a:spcPct val="128000"/>
              </a:lnSpc>
              <a:spcBef>
                <a:spcPts val="0"/>
              </a:spcBef>
              <a:buClrTx/>
              <a:buSzTx/>
              <a:buFontTx/>
            </a:pPr>
            <a:r>
              <a:rPr sz="2700" kern="0" spc="-20" dirty="0">
                <a:solidFill>
                  <a:srgbClr val="424242">
                    <a:alpha val="100000"/>
                  </a:srgbClr>
                </a:solidFill>
                <a:latin typeface="Calibri" panose="020F0502020204030204"/>
                <a:ea typeface="Calibri" panose="020F0502020204030204"/>
                <a:cs typeface="Calibri" panose="020F0502020204030204"/>
              </a:rPr>
              <a:t>Xiaohongshu (XHS) has established a unique dual-content ecosystem dominated by image-text posts, with short videos as a supplementary format. As a leading social commerce platform in China, its core user base consists of Gen Z females (born 1995–2010) in first-tier and new first-tier cities, who rely on the platform for in-depth consumption decision-making information. While prior research has explored the impact of content format on user engagement, few studies have systematically examined the psychological mechanism underlying the difference between image-text and short video posts on Xiaohongshu. This study focuses on the relationship between post type (image-text vs. short video) and user engagement intentions, and investigates the mediating role of perceived control in this process. Understanding this mechanism is of great theoretical and practical significance: it not only enriches the research on social media content psychology, but also provides actionable guidance for content creators and platform operators to optimize content strategies and improve user experience.</a:t>
            </a:r>
          </a:p>
        </p:txBody>
      </p:sp>
      <p:pic>
        <p:nvPicPr>
          <p:cNvPr id="56" name="picture 56"/>
          <p:cNvPicPr>
            <a:picLocks noChangeAspect="1"/>
          </p:cNvPicPr>
          <p:nvPr/>
        </p:nvPicPr>
        <p:blipFill>
          <a:blip r:embed="rId2"/>
          <a:stretch>
            <a:fillRect/>
          </a:stretch>
        </p:blipFill>
        <p:spPr>
          <a:xfrm rot="21600000">
            <a:off x="14736032" y="2325153"/>
            <a:ext cx="3551967" cy="7961844"/>
          </a:xfrm>
          <a:prstGeom prst="rect">
            <a:avLst/>
          </a:prstGeom>
        </p:spPr>
      </p:pic>
      <p:sp>
        <p:nvSpPr>
          <p:cNvPr id="58" name="rect 58"/>
          <p:cNvSpPr/>
          <p:nvPr/>
        </p:nvSpPr>
        <p:spPr>
          <a:xfrm>
            <a:off x="0" y="0"/>
            <a:ext cx="714375" cy="10286997"/>
          </a:xfrm>
          <a:prstGeom prst="rect">
            <a:avLst/>
          </a:prstGeom>
          <a:solidFill>
            <a:srgbClr val="203864">
              <a:alpha val="100000"/>
            </a:srgbClr>
          </a:solidFill>
          <a:ln w="0" cap="flat">
            <a:noFill/>
            <a:prstDash val="solid"/>
            <a:miter lim="0"/>
          </a:ln>
        </p:spPr>
        <p:txBody>
          <a:bodyPr rtlCol="0"/>
          <a:lstStyle/>
          <a:p>
            <a:pPr algn="ctr"/>
            <a:endParaRPr lang="zh-CN" altLang="en-US"/>
          </a:p>
        </p:txBody>
      </p:sp>
      <p:sp>
        <p:nvSpPr>
          <p:cNvPr id="60" name="textbox 60"/>
          <p:cNvSpPr/>
          <p:nvPr/>
        </p:nvSpPr>
        <p:spPr>
          <a:xfrm>
            <a:off x="1711477" y="1864055"/>
            <a:ext cx="3163570" cy="53594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70000"/>
              </a:lnSpc>
            </a:pPr>
            <a:r>
              <a:rPr sz="4800" b="1" kern="0" spc="-30" dirty="0">
                <a:solidFill>
                  <a:srgbClr val="203864">
                    <a:alpha val="100000"/>
                  </a:srgbClr>
                </a:solidFill>
                <a:latin typeface="Calibri" panose="020F0502020204030204"/>
                <a:ea typeface="Calibri" panose="020F0502020204030204"/>
                <a:cs typeface="Calibri" panose="020F0502020204030204"/>
              </a:rPr>
              <a:t>Introduction</a:t>
            </a:r>
            <a:endParaRPr sz="4800" dirty="0">
              <a:latin typeface="Calibri" panose="020F0502020204030204"/>
              <a:ea typeface="Calibri" panose="020F0502020204030204"/>
              <a:cs typeface="Calibri" panose="020F0502020204030204"/>
            </a:endParaRPr>
          </a:p>
        </p:txBody>
      </p:sp>
      <p:pic>
        <p:nvPicPr>
          <p:cNvPr id="62" name="picture 62"/>
          <p:cNvPicPr>
            <a:picLocks noChangeAspect="1"/>
          </p:cNvPicPr>
          <p:nvPr/>
        </p:nvPicPr>
        <p:blipFill>
          <a:blip r:embed="rId3"/>
          <a:stretch>
            <a:fillRect/>
          </a:stretch>
        </p:blipFill>
        <p:spPr>
          <a:xfrm rot="21600000">
            <a:off x="14976475" y="2400337"/>
            <a:ext cx="1128318" cy="705192"/>
          </a:xfrm>
          <a:prstGeom prst="rect">
            <a:avLst/>
          </a:prstGeom>
        </p:spPr>
      </p:pic>
      <p:sp>
        <p:nvSpPr>
          <p:cNvPr id="64" name="textbox 64"/>
          <p:cNvSpPr/>
          <p:nvPr/>
        </p:nvSpPr>
        <p:spPr>
          <a:xfrm rot="5400000">
            <a:off x="-739229" y="8303742"/>
            <a:ext cx="2149475" cy="29210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2100" kern="0" spc="-90" dirty="0">
                <a:solidFill>
                  <a:srgbClr val="FFFFFF">
                    <a:alpha val="100000"/>
                  </a:srgbClr>
                </a:solidFill>
                <a:latin typeface="Calibri" panose="020F0502020204030204"/>
                <a:ea typeface="Calibri" panose="020F0502020204030204"/>
                <a:cs typeface="Calibri" panose="020F0502020204030204"/>
              </a:rPr>
              <a:t>A</a:t>
            </a:r>
            <a:r>
              <a:rPr sz="2100" kern="0" spc="10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I</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D</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M</a:t>
            </a:r>
            <a:r>
              <a:rPr sz="2100" kern="0" spc="1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7  4</a:t>
            </a:r>
            <a:r>
              <a:rPr sz="2100" kern="0" spc="1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8</a:t>
            </a:r>
            <a:r>
              <a:rPr sz="2100" kern="0" spc="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0</a:t>
            </a:r>
            <a:endParaRPr sz="2100" dirty="0">
              <a:latin typeface="Calibri" panose="020F0502020204030204"/>
              <a:ea typeface="Calibri" panose="020F0502020204030204"/>
              <a:cs typeface="Calibri" panose="020F0502020204030204"/>
            </a:endParaRPr>
          </a:p>
        </p:txBody>
      </p:sp>
      <p:sp>
        <p:nvSpPr>
          <p:cNvPr id="66" name="path 66"/>
          <p:cNvSpPr/>
          <p:nvPr/>
        </p:nvSpPr>
        <p:spPr>
          <a:xfrm>
            <a:off x="321462" y="4464685"/>
            <a:ext cx="71437" cy="2214625"/>
          </a:xfrm>
          <a:custGeom>
            <a:avLst/>
            <a:gdLst/>
            <a:ahLst/>
            <a:cxnLst/>
            <a:rect l="0" t="0" r="0" b="0"/>
            <a:pathLst>
              <a:path w="112" h="3487">
                <a:moveTo>
                  <a:pt x="0" y="56"/>
                </a:moveTo>
                <a:cubicBezTo>
                  <a:pt x="0" y="25"/>
                  <a:pt x="25" y="0"/>
                  <a:pt x="56" y="0"/>
                </a:cubicBezTo>
                <a:cubicBezTo>
                  <a:pt x="87" y="0"/>
                  <a:pt x="112" y="25"/>
                  <a:pt x="112" y="56"/>
                </a:cubicBezTo>
                <a:cubicBezTo>
                  <a:pt x="112" y="87"/>
                  <a:pt x="87" y="112"/>
                  <a:pt x="56" y="112"/>
                </a:cubicBezTo>
                <a:cubicBezTo>
                  <a:pt x="25" y="112"/>
                  <a:pt x="0" y="87"/>
                  <a:pt x="0" y="56"/>
                </a:cubicBezTo>
              </a:path>
              <a:path w="112" h="3487">
                <a:moveTo>
                  <a:pt x="0" y="731"/>
                </a:moveTo>
                <a:cubicBezTo>
                  <a:pt x="0" y="700"/>
                  <a:pt x="25" y="674"/>
                  <a:pt x="56" y="674"/>
                </a:cubicBezTo>
                <a:cubicBezTo>
                  <a:pt x="87" y="674"/>
                  <a:pt x="112" y="700"/>
                  <a:pt x="112" y="731"/>
                </a:cubicBezTo>
                <a:cubicBezTo>
                  <a:pt x="112" y="762"/>
                  <a:pt x="87" y="787"/>
                  <a:pt x="56" y="787"/>
                </a:cubicBezTo>
                <a:cubicBezTo>
                  <a:pt x="25" y="787"/>
                  <a:pt x="0" y="762"/>
                  <a:pt x="0" y="731"/>
                </a:cubicBezTo>
              </a:path>
              <a:path w="112" h="3487">
                <a:moveTo>
                  <a:pt x="0" y="1406"/>
                </a:moveTo>
                <a:cubicBezTo>
                  <a:pt x="0" y="1375"/>
                  <a:pt x="25" y="1350"/>
                  <a:pt x="56" y="1350"/>
                </a:cubicBezTo>
                <a:cubicBezTo>
                  <a:pt x="87" y="1350"/>
                  <a:pt x="112" y="1375"/>
                  <a:pt x="112" y="1406"/>
                </a:cubicBezTo>
                <a:cubicBezTo>
                  <a:pt x="112" y="1437"/>
                  <a:pt x="87" y="1462"/>
                  <a:pt x="56" y="1462"/>
                </a:cubicBezTo>
                <a:cubicBezTo>
                  <a:pt x="25" y="1462"/>
                  <a:pt x="0" y="1437"/>
                  <a:pt x="0" y="1406"/>
                </a:cubicBezTo>
              </a:path>
              <a:path w="112" h="3487">
                <a:moveTo>
                  <a:pt x="0" y="2081"/>
                </a:moveTo>
                <a:cubicBezTo>
                  <a:pt x="0" y="2050"/>
                  <a:pt x="25" y="2024"/>
                  <a:pt x="56" y="2024"/>
                </a:cubicBezTo>
                <a:cubicBezTo>
                  <a:pt x="87" y="2024"/>
                  <a:pt x="112" y="2050"/>
                  <a:pt x="112" y="2081"/>
                </a:cubicBezTo>
                <a:cubicBezTo>
                  <a:pt x="112" y="2112"/>
                  <a:pt x="87" y="2137"/>
                  <a:pt x="56" y="2137"/>
                </a:cubicBezTo>
                <a:cubicBezTo>
                  <a:pt x="25" y="2137"/>
                  <a:pt x="0" y="2112"/>
                  <a:pt x="0" y="2081"/>
                </a:cubicBezTo>
              </a:path>
              <a:path w="112" h="3487">
                <a:moveTo>
                  <a:pt x="0" y="2756"/>
                </a:moveTo>
                <a:cubicBezTo>
                  <a:pt x="0" y="2725"/>
                  <a:pt x="25" y="2700"/>
                  <a:pt x="56" y="2700"/>
                </a:cubicBezTo>
                <a:cubicBezTo>
                  <a:pt x="87" y="2700"/>
                  <a:pt x="112" y="2725"/>
                  <a:pt x="112" y="2756"/>
                </a:cubicBezTo>
                <a:cubicBezTo>
                  <a:pt x="112" y="2787"/>
                  <a:pt x="87" y="2812"/>
                  <a:pt x="56" y="2812"/>
                </a:cubicBezTo>
                <a:cubicBezTo>
                  <a:pt x="25" y="2812"/>
                  <a:pt x="0" y="2787"/>
                  <a:pt x="0" y="2756"/>
                </a:cubicBezTo>
              </a:path>
              <a:path w="112" h="3487">
                <a:moveTo>
                  <a:pt x="0" y="3431"/>
                </a:moveTo>
                <a:cubicBezTo>
                  <a:pt x="0" y="3400"/>
                  <a:pt x="25" y="3374"/>
                  <a:pt x="56" y="3374"/>
                </a:cubicBezTo>
                <a:cubicBezTo>
                  <a:pt x="87" y="3374"/>
                  <a:pt x="112" y="3400"/>
                  <a:pt x="112" y="3431"/>
                </a:cubicBezTo>
                <a:cubicBezTo>
                  <a:pt x="112" y="3462"/>
                  <a:pt x="87" y="3487"/>
                  <a:pt x="56" y="3487"/>
                </a:cubicBezTo>
                <a:cubicBezTo>
                  <a:pt x="25" y="3487"/>
                  <a:pt x="0" y="3462"/>
                  <a:pt x="0" y="3431"/>
                </a:cubicBezTo>
              </a:path>
            </a:pathLst>
          </a:custGeom>
          <a:solidFill>
            <a:srgbClr val="FFFFFF">
              <a:alpha val="100000"/>
            </a:srgbClr>
          </a:solidFill>
          <a:ln w="0" cap="flat">
            <a:noFill/>
            <a:prstDash val="solid"/>
            <a:miter lim="0"/>
          </a:ln>
        </p:spPr>
        <p:txBody>
          <a:bodyPr rtlCol="0"/>
          <a:lstStyle/>
          <a:p>
            <a:pPr algn="ctr"/>
            <a:endParaRPr lang="zh-CN" altLang="en-US"/>
          </a:p>
        </p:txBody>
      </p:sp>
    </p:spTree>
    <p:extLst>
      <p:ext uri="{BB962C8B-B14F-4D97-AF65-F5344CB8AC3E}">
        <p14:creationId xmlns:p14="http://schemas.microsoft.com/office/powerpoint/2010/main" val="3981283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4D768-B606-64C5-FC90-5A449F74F2F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936C3C4-60C9-854B-A8C6-747DB35E90BC}"/>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B4360694-F8D3-5BA7-E7E1-AA207A26F75C}"/>
              </a:ext>
            </a:extLst>
          </p:cNvPr>
          <p:cNvGrpSpPr/>
          <p:nvPr/>
        </p:nvGrpSpPr>
        <p:grpSpPr>
          <a:xfrm>
            <a:off x="15621000" y="0"/>
            <a:ext cx="3582918" cy="10287000"/>
            <a:chOff x="9457206" y="0"/>
            <a:chExt cx="3345405" cy="6858000"/>
          </a:xfrm>
        </p:grpSpPr>
        <p:sp>
          <p:nvSpPr>
            <p:cNvPr id="13" name="任意多边形: 形状 12">
              <a:extLst>
                <a:ext uri="{FF2B5EF4-FFF2-40B4-BE49-F238E27FC236}">
                  <a16:creationId xmlns:a16="http://schemas.microsoft.com/office/drawing/2014/main" id="{6A010F21-32AE-1E61-9866-C99829006C9F}"/>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3D7B6F17-84EE-0B5D-E04B-1AE1693AFA28}"/>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432A44DE-F061-F50F-A8E6-94535CC9A6DF}"/>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97DC9844-614D-C8BB-7FB7-AF6439594B96}"/>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61CD7D45-273C-8911-840A-4B7A0798D0FB}"/>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226CF4B5-4FBB-BBD2-7B1D-88A3695243F8}"/>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BB075C89-7847-6181-F802-0F2F427C3183}"/>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AD896009-8E6D-4899-D6DF-F65FDC6DC1D0}"/>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7EB749A2-5296-816D-1276-098C8ECC2981}"/>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15A2BDA5-63FC-2537-DC83-A576AC5282BC}"/>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68" name="矩形 67">
            <a:extLst>
              <a:ext uri="{FF2B5EF4-FFF2-40B4-BE49-F238E27FC236}">
                <a16:creationId xmlns:a16="http://schemas.microsoft.com/office/drawing/2014/main" id="{278F7873-F180-F814-E466-CF4A0DCD1A92}"/>
              </a:ext>
            </a:extLst>
          </p:cNvPr>
          <p:cNvSpPr/>
          <p:nvPr/>
        </p:nvSpPr>
        <p:spPr>
          <a:xfrm>
            <a:off x="2017652" y="3827756"/>
            <a:ext cx="1759079" cy="1477328"/>
          </a:xfrm>
          <a:prstGeom prst="rect">
            <a:avLst/>
          </a:prstGeom>
        </p:spPr>
        <p:txBody>
          <a:bodyPr wrap="square">
            <a:spAutoFit/>
          </a:bodyPr>
          <a:lstStyle/>
          <a:p>
            <a:pPr algn="ctr"/>
            <a:r>
              <a:rPr lang="en-US" altLang="zh-CN" sz="9000" b="1" dirty="0">
                <a:latin typeface="Calibri" panose="020F0502020204030204" pitchFamily="34" charset="0"/>
                <a:ea typeface="Calibri" panose="020F0502020204030204" pitchFamily="34" charset="0"/>
                <a:cs typeface="Calibri" panose="020F0502020204030204" pitchFamily="34" charset="0"/>
              </a:rPr>
              <a:t>2</a:t>
            </a:r>
            <a:endParaRPr lang="zh-CN" altLang="en-US" sz="9000" b="1" dirty="0">
              <a:latin typeface="Calibri" panose="020F0502020204030204" pitchFamily="34" charset="0"/>
              <a:cs typeface="Calibri" panose="020F0502020204030204" pitchFamily="34" charset="0"/>
            </a:endParaRPr>
          </a:p>
        </p:txBody>
      </p:sp>
      <p:sp>
        <p:nvSpPr>
          <p:cNvPr id="69" name="矩形 68">
            <a:extLst>
              <a:ext uri="{FF2B5EF4-FFF2-40B4-BE49-F238E27FC236}">
                <a16:creationId xmlns:a16="http://schemas.microsoft.com/office/drawing/2014/main" id="{4B747B30-913E-7EFC-CC07-667DE3B99002}"/>
              </a:ext>
            </a:extLst>
          </p:cNvPr>
          <p:cNvSpPr/>
          <p:nvPr/>
        </p:nvSpPr>
        <p:spPr>
          <a:xfrm>
            <a:off x="4315614" y="3827756"/>
            <a:ext cx="10848051" cy="1446550"/>
          </a:xfrm>
          <a:prstGeom prst="rect">
            <a:avLst/>
          </a:prstGeom>
        </p:spPr>
        <p:txBody>
          <a:bodyPr wrap="square">
            <a:spAutoFit/>
          </a:bodyPr>
          <a:lstStyle/>
          <a:p>
            <a:r>
              <a:rPr lang="en-US" altLang="zh-CN" sz="8800" b="1" dirty="0">
                <a:latin typeface="Calibri" panose="020F0502020204030204" pitchFamily="34" charset="0"/>
                <a:ea typeface="Calibri" panose="020F0502020204030204" pitchFamily="34" charset="0"/>
                <a:cs typeface="Calibri" panose="020F0502020204030204" pitchFamily="34" charset="0"/>
              </a:rPr>
              <a:t>Literature reviews</a:t>
            </a:r>
          </a:p>
        </p:txBody>
      </p:sp>
      <p:sp>
        <p:nvSpPr>
          <p:cNvPr id="24" name="矩形 23">
            <a:extLst>
              <a:ext uri="{FF2B5EF4-FFF2-40B4-BE49-F238E27FC236}">
                <a16:creationId xmlns:a16="http://schemas.microsoft.com/office/drawing/2014/main" id="{D1858492-CEE1-9C48-FB74-82F07B0C6CF6}"/>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25" name="组合 24">
            <a:extLst>
              <a:ext uri="{FF2B5EF4-FFF2-40B4-BE49-F238E27FC236}">
                <a16:creationId xmlns:a16="http://schemas.microsoft.com/office/drawing/2014/main" id="{B8A72B9B-BCBF-DE2C-AE7A-84846D68C361}"/>
              </a:ext>
            </a:extLst>
          </p:cNvPr>
          <p:cNvGrpSpPr/>
          <p:nvPr/>
        </p:nvGrpSpPr>
        <p:grpSpPr>
          <a:xfrm>
            <a:off x="321467" y="4464710"/>
            <a:ext cx="71438" cy="2214563"/>
            <a:chOff x="214311" y="3257550"/>
            <a:chExt cx="47625" cy="1476375"/>
          </a:xfrm>
        </p:grpSpPr>
        <p:sp>
          <p:nvSpPr>
            <p:cNvPr id="26" name="椭圆 25">
              <a:extLst>
                <a:ext uri="{FF2B5EF4-FFF2-40B4-BE49-F238E27FC236}">
                  <a16:creationId xmlns:a16="http://schemas.microsoft.com/office/drawing/2014/main" id="{E5E50AE2-5FDB-FCB8-F9F8-95E29079DE1B}"/>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7" name="椭圆 26">
              <a:extLst>
                <a:ext uri="{FF2B5EF4-FFF2-40B4-BE49-F238E27FC236}">
                  <a16:creationId xmlns:a16="http://schemas.microsoft.com/office/drawing/2014/main" id="{9D7AB1F9-1D7D-F74C-B7B7-3DD8897D2BB6}"/>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椭圆 27">
              <a:extLst>
                <a:ext uri="{FF2B5EF4-FFF2-40B4-BE49-F238E27FC236}">
                  <a16:creationId xmlns:a16="http://schemas.microsoft.com/office/drawing/2014/main" id="{5B933198-8DB1-9ACB-4998-E8C3055C504D}"/>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1D580A9C-B9A7-F761-4EF0-439383C6B6F3}"/>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1" name="椭圆 30">
              <a:extLst>
                <a:ext uri="{FF2B5EF4-FFF2-40B4-BE49-F238E27FC236}">
                  <a16:creationId xmlns:a16="http://schemas.microsoft.com/office/drawing/2014/main" id="{517B3F36-8B80-C115-8EE0-0E91F56712C9}"/>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2" name="椭圆 31">
              <a:extLst>
                <a:ext uri="{FF2B5EF4-FFF2-40B4-BE49-F238E27FC236}">
                  <a16:creationId xmlns:a16="http://schemas.microsoft.com/office/drawing/2014/main" id="{15533C7F-2301-89E8-6685-C6732A169728}"/>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
        <p:nvSpPr>
          <p:cNvPr id="2" name="TextBox 13">
            <a:extLst>
              <a:ext uri="{FF2B5EF4-FFF2-40B4-BE49-F238E27FC236}">
                <a16:creationId xmlns:a16="http://schemas.microsoft.com/office/drawing/2014/main" id="{5AC8F7B8-DA0F-69C0-23F1-DC208EC4C846}"/>
              </a:ext>
            </a:extLst>
          </p:cNvPr>
          <p:cNvSpPr txBox="1"/>
          <p:nvPr/>
        </p:nvSpPr>
        <p:spPr>
          <a:xfrm>
            <a:off x="4419600" y="5453425"/>
            <a:ext cx="8305800" cy="2518510"/>
          </a:xfrm>
          <a:prstGeom prst="rect">
            <a:avLst/>
          </a:prstGeom>
        </p:spPr>
        <p:txBody>
          <a:bodyPr wrap="square" lIns="0" tIns="0" rIns="0" bIns="0" rtlCol="0" anchor="t">
            <a:spAutoFit/>
          </a:bodyPr>
          <a:lstStyle/>
          <a:p>
            <a:pPr>
              <a:lnSpc>
                <a:spcPct val="150000"/>
              </a:lnSpc>
              <a:spcBef>
                <a:spcPct val="0"/>
              </a:spcBef>
            </a:pPr>
            <a:r>
              <a:rPr lang="fr-FR"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2.1   </a:t>
            </a:r>
            <a:r>
              <a:rPr lang="fr-FR" altLang="zh-CN" sz="2800" b="1" dirty="0">
                <a:latin typeface="Calibri" panose="020F0502020204030204" pitchFamily="34" charset="0"/>
                <a:ea typeface="Calibri" panose="020F0502020204030204" pitchFamily="34" charset="0"/>
                <a:cs typeface="Calibri" panose="020F0502020204030204" pitchFamily="34" charset="0"/>
              </a:rPr>
              <a:t>User Engagement on Social Media</a:t>
            </a:r>
            <a:endPar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endParaRPr>
          </a:p>
          <a:p>
            <a:pPr algn="l">
              <a:lnSpc>
                <a:spcPct val="150000"/>
              </a:lnSpc>
              <a:spcBef>
                <a:spcPct val="0"/>
              </a:spcBef>
            </a:pPr>
            <a:r>
              <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2.2   Media Affordances and Content Formats</a:t>
            </a:r>
          </a:p>
          <a:p>
            <a:pPr>
              <a:lnSpc>
                <a:spcPct val="150000"/>
              </a:lnSpc>
              <a:spcBef>
                <a:spcPct val="0"/>
              </a:spcBef>
            </a:pPr>
            <a:r>
              <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2.3   The Need for Autonomy and Perceived Control</a:t>
            </a:r>
          </a:p>
          <a:p>
            <a:pPr>
              <a:lnSpc>
                <a:spcPct val="150000"/>
              </a:lnSpc>
              <a:spcBef>
                <a:spcPct val="0"/>
              </a:spcBef>
            </a:pPr>
            <a:r>
              <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2.4   </a:t>
            </a:r>
            <a:r>
              <a:rPr lang="en-US" altLang="zh-CN" sz="2800" b="1" dirty="0">
                <a:latin typeface="Calibri" panose="020F0502020204030204" pitchFamily="34" charset="0"/>
                <a:ea typeface="Calibri" panose="020F0502020204030204" pitchFamily="34" charset="0"/>
                <a:cs typeface="Calibri" panose="020F0502020204030204" pitchFamily="34" charset="0"/>
              </a:rPr>
              <a:t>The Mediating Role of Perceived Control</a:t>
            </a:r>
          </a:p>
        </p:txBody>
      </p:sp>
    </p:spTree>
    <p:extLst>
      <p:ext uri="{BB962C8B-B14F-4D97-AF65-F5344CB8AC3E}">
        <p14:creationId xmlns:p14="http://schemas.microsoft.com/office/powerpoint/2010/main" val="89097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900040" y="1432497"/>
            <a:ext cx="983476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4800" b="1" dirty="0">
                <a:latin typeface="Calibri" panose="020F0502020204030204" pitchFamily="34" charset="0"/>
                <a:ea typeface="Calibri" panose="020F0502020204030204" pitchFamily="34" charset="0"/>
                <a:cs typeface="Calibri" panose="020F0502020204030204" pitchFamily="34" charset="0"/>
                <a:sym typeface="Poppins"/>
              </a:rPr>
              <a:t>2.1 User Engagement on Social Media</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7" name="AutoShape 7"/>
          <p:cNvSpPr/>
          <p:nvPr/>
        </p:nvSpPr>
        <p:spPr>
          <a:xfrm>
            <a:off x="1904956" y="3009900"/>
            <a:ext cx="4191044"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700" b="1" dirty="0">
                <a:solidFill>
                  <a:srgbClr val="374151"/>
                </a:solidFill>
                <a:latin typeface="Calibri" panose="020F0502020204030204" pitchFamily="34" charset="0"/>
                <a:ea typeface="Calibri" panose="020F0502020204030204" pitchFamily="34" charset="0"/>
                <a:cs typeface="Calibri" panose="020F0502020204030204" pitchFamily="34" charset="0"/>
                <a:sym typeface="Poppins"/>
              </a:rPr>
              <a:t>Definition &amp; Dimensions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9" name="AutoShape 9"/>
          <p:cNvSpPr/>
          <p:nvPr/>
        </p:nvSpPr>
        <p:spPr>
          <a:xfrm>
            <a:off x="1936911" y="3537462"/>
            <a:ext cx="11506200" cy="66675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User engagement is defined as proactive psychological tendencies to interact with online content.</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1" name="AutoShape 11"/>
          <p:cNvSpPr/>
          <p:nvPr/>
        </p:nvSpPr>
        <p:spPr>
          <a:xfrm>
            <a:off x="1936911" y="4102356"/>
            <a:ext cx="9527502" cy="4572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650" dirty="0">
                <a:latin typeface="Calibri" panose="020F0502020204030204" pitchFamily="34" charset="0"/>
                <a:ea typeface="Calibri" panose="020F0502020204030204" pitchFamily="34" charset="0"/>
                <a:cs typeface="Calibri" panose="020F0502020204030204" pitchFamily="34" charset="0"/>
                <a:sym typeface="Noto Sans SC"/>
              </a:rPr>
              <a:t>Operationalized into 5 core dimensions: </a:t>
            </a:r>
            <a:r>
              <a:rPr lang="en-US" sz="1650" b="1" dirty="0">
                <a:latin typeface="Calibri" panose="020F0502020204030204" pitchFamily="34" charset="0"/>
                <a:ea typeface="Calibri" panose="020F0502020204030204" pitchFamily="34" charset="0"/>
                <a:cs typeface="Calibri" panose="020F0502020204030204" pitchFamily="34" charset="0"/>
                <a:sym typeface="Noto Sans SC"/>
              </a:rPr>
              <a:t>liking, sharing, commenting, watching/reading, and saving.</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5" name="AutoShape 15"/>
          <p:cNvSpPr/>
          <p:nvPr/>
        </p:nvSpPr>
        <p:spPr>
          <a:xfrm>
            <a:off x="1968865" y="4912405"/>
            <a:ext cx="3048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700" b="1" dirty="0">
                <a:solidFill>
                  <a:srgbClr val="374151"/>
                </a:solidFill>
                <a:latin typeface="Calibri" panose="020F0502020204030204" pitchFamily="34" charset="0"/>
                <a:ea typeface="Calibri" panose="020F0502020204030204" pitchFamily="34" charset="0"/>
                <a:cs typeface="Calibri" panose="020F0502020204030204" pitchFamily="34" charset="0"/>
                <a:sym typeface="Poppins"/>
              </a:rPr>
              <a:t>Dual Classification</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8" name="AutoShape 18"/>
          <p:cNvSpPr/>
          <p:nvPr/>
        </p:nvSpPr>
        <p:spPr>
          <a:xfrm>
            <a:off x="1936910" y="5614701"/>
            <a:ext cx="3810000" cy="457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Social-oriented Behaviors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9" name="AutoShape 19"/>
          <p:cNvSpPr/>
          <p:nvPr/>
        </p:nvSpPr>
        <p:spPr>
          <a:xfrm>
            <a:off x="1936910" y="6041117"/>
            <a:ext cx="6823631" cy="455664"/>
          </a:xfrm>
          <a:prstGeom prst="rect">
            <a:avLst/>
          </a:prstGeom>
          <a:noFill/>
          <a:ln w="12700" cap="flat" cmpd="sng">
            <a:noFill/>
            <a:prstDash val="solid"/>
            <a:round/>
          </a:ln>
        </p:spPr>
        <p:txBody>
          <a:bodyPr vert="horz" wrap="square" lIns="0" tIns="0" rIns="0" bIns="0" rtlCol="0" anchor="ctr" anchorCtr="0"/>
          <a:lstStyle/>
          <a:p>
            <a:pPr>
              <a:defRPr/>
            </a:pPr>
            <a:r>
              <a:rPr lang="en-US" sz="1650"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Liking, Sharing, Commenting. Reflects the need for social connection.</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21" name="AutoShape 21"/>
          <p:cNvSpPr/>
          <p:nvPr/>
        </p:nvSpPr>
        <p:spPr>
          <a:xfrm>
            <a:off x="1936910" y="6556926"/>
            <a:ext cx="3810000" cy="457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Utilitarian Behaviors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22" name="AutoShape 22"/>
          <p:cNvSpPr/>
          <p:nvPr/>
        </p:nvSpPr>
        <p:spPr>
          <a:xfrm>
            <a:off x="1936910" y="6974375"/>
            <a:ext cx="7391444" cy="518728"/>
          </a:xfrm>
          <a:prstGeom prst="rect">
            <a:avLst/>
          </a:prstGeom>
          <a:noFill/>
          <a:ln w="12700" cap="flat" cmpd="sng">
            <a:noFill/>
            <a:prstDash val="solid"/>
            <a:round/>
          </a:ln>
        </p:spPr>
        <p:txBody>
          <a:bodyPr vert="horz" wrap="square" lIns="0" tIns="0" rIns="0" bIns="0" rtlCol="0" anchor="ctr" anchorCtr="0"/>
          <a:lstStyle/>
          <a:p>
            <a:pPr>
              <a:defRPr/>
            </a:pPr>
            <a:r>
              <a:rPr lang="en-US" sz="1650"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Watching/Reading, Saving. Represents goal-driven information processing.</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26" name="AutoShape 26"/>
          <p:cNvSpPr/>
          <p:nvPr/>
        </p:nvSpPr>
        <p:spPr>
          <a:xfrm>
            <a:off x="1936911" y="7850866"/>
            <a:ext cx="3048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700" b="1" dirty="0">
                <a:solidFill>
                  <a:srgbClr val="374151"/>
                </a:solidFill>
                <a:latin typeface="Calibri" panose="020F0502020204030204" pitchFamily="34" charset="0"/>
                <a:ea typeface="Calibri" panose="020F0502020204030204" pitchFamily="34" charset="0"/>
                <a:cs typeface="Calibri" panose="020F0502020204030204" pitchFamily="34" charset="0"/>
                <a:sym typeface="Poppins"/>
              </a:rPr>
              <a:t>Research Context</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28" name="AutoShape 28"/>
          <p:cNvSpPr/>
          <p:nvPr/>
        </p:nvSpPr>
        <p:spPr>
          <a:xfrm>
            <a:off x="1936910" y="8393791"/>
            <a:ext cx="10712289" cy="5715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This study focuses specifically on </a:t>
            </a: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information-seeking scenarios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where engagement supports decision-making.</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31" name="AutoShape 31"/>
          <p:cNvSpPr/>
          <p:nvPr/>
        </p:nvSpPr>
        <p:spPr>
          <a:xfrm>
            <a:off x="1936910" y="8850991"/>
            <a:ext cx="11017091" cy="586018"/>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65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SC"/>
              </a:rPr>
              <a:t>Example Platform: </a:t>
            </a:r>
            <a:r>
              <a:rPr lang="en-US" sz="1650" b="1" dirty="0" err="1">
                <a:solidFill>
                  <a:srgbClr val="374151"/>
                </a:solidFill>
                <a:latin typeface="Calibri" panose="020F0502020204030204" pitchFamily="34" charset="0"/>
                <a:ea typeface="Calibri" panose="020F0502020204030204" pitchFamily="34" charset="0"/>
                <a:cs typeface="Calibri" panose="020F0502020204030204" pitchFamily="34" charset="0"/>
                <a:sym typeface="Noto Sans SC"/>
              </a:rPr>
              <a:t>Xiaohongshu</a:t>
            </a:r>
            <a:r>
              <a:rPr lang="en-US" sz="1650" b="1"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SC"/>
              </a:rPr>
              <a:t> (RED) </a:t>
            </a:r>
            <a:r>
              <a:rPr lang="en-US" sz="165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SC"/>
              </a:rPr>
              <a:t>Excludes pure e-commerce transactions.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7747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905000" y="1024398"/>
            <a:ext cx="116586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4800" b="1" dirty="0">
                <a:latin typeface="Calibri" panose="020F0502020204030204" pitchFamily="34" charset="0"/>
                <a:ea typeface="Calibri" panose="020F0502020204030204" pitchFamily="34" charset="0"/>
                <a:cs typeface="Calibri" panose="020F0502020204030204" pitchFamily="34" charset="0"/>
                <a:sym typeface="Poppins"/>
              </a:rPr>
              <a:t>2.2 Media Affordances and Content Formats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7" name="AutoShape 7"/>
          <p:cNvSpPr/>
          <p:nvPr/>
        </p:nvSpPr>
        <p:spPr>
          <a:xfrm>
            <a:off x="1905000" y="2517365"/>
            <a:ext cx="5334000" cy="609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850" b="1" dirty="0">
                <a:solidFill>
                  <a:srgbClr val="374151"/>
                </a:solidFill>
                <a:latin typeface="Calibri" panose="020F0502020204030204" pitchFamily="34" charset="0"/>
                <a:ea typeface="Calibri" panose="020F0502020204030204" pitchFamily="34" charset="0"/>
                <a:cs typeface="Calibri" panose="020F0502020204030204" pitchFamily="34" charset="0"/>
                <a:sym typeface="Poppins"/>
              </a:rPr>
              <a:t>Graphic-textual Mode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9" name="AutoShape 9"/>
          <p:cNvSpPr/>
          <p:nvPr/>
        </p:nvSpPr>
        <p:spPr>
          <a:xfrm>
            <a:off x="1905000" y="3343889"/>
            <a:ext cx="8305800" cy="762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CORE MECHANISM</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Presents information via </a:t>
            </a: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static images + text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for a structured, visually anchored delivery.</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0" name="AutoShape 10"/>
          <p:cNvSpPr/>
          <p:nvPr/>
        </p:nvSpPr>
        <p:spPr>
          <a:xfrm>
            <a:off x="1905000" y="4124939"/>
            <a:ext cx="8001000" cy="762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USER CONTROL</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User-paced</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 Allows independent regulation of processing speed and free navigation.</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1" name="AutoShape 11"/>
          <p:cNvSpPr/>
          <p:nvPr/>
        </p:nvSpPr>
        <p:spPr>
          <a:xfrm>
            <a:off x="1905000" y="4886939"/>
            <a:ext cx="6667500" cy="762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PRIMARY VALUE</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Goal-driven</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 Better supports focused information-seeking tasks.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5" name="AutoShape 15"/>
          <p:cNvSpPr/>
          <p:nvPr/>
        </p:nvSpPr>
        <p:spPr>
          <a:xfrm>
            <a:off x="1905000" y="5970024"/>
            <a:ext cx="4644259" cy="609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850" b="1" dirty="0">
                <a:solidFill>
                  <a:srgbClr val="374151"/>
                </a:solidFill>
                <a:latin typeface="Calibri" panose="020F0502020204030204" pitchFamily="34" charset="0"/>
                <a:ea typeface="Calibri" panose="020F0502020204030204" pitchFamily="34" charset="0"/>
                <a:cs typeface="Calibri" panose="020F0502020204030204" pitchFamily="34" charset="0"/>
                <a:sym typeface="Poppins"/>
              </a:rPr>
              <a:t>Short Video Mode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7" name="AutoShape 17"/>
          <p:cNvSpPr/>
          <p:nvPr/>
        </p:nvSpPr>
        <p:spPr>
          <a:xfrm>
            <a:off x="1905000" y="6627249"/>
            <a:ext cx="7620000" cy="9525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CORE MECHANISM</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Delivers content via </a:t>
            </a: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dynamic visuals + audio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for a multisensory, continuous flow.</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8" name="AutoShape 18"/>
          <p:cNvSpPr/>
          <p:nvPr/>
        </p:nvSpPr>
        <p:spPr>
          <a:xfrm>
            <a:off x="1905000" y="7415980"/>
            <a:ext cx="7696200" cy="9525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USER CONTROL</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System-paced</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 Linear nature prevents users from controlling the pace of intake.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9" name="AutoShape 19"/>
          <p:cNvSpPr/>
          <p:nvPr/>
        </p:nvSpPr>
        <p:spPr>
          <a:xfrm>
            <a:off x="1905000" y="8267700"/>
            <a:ext cx="7696200" cy="762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950" b="1" dirty="0">
                <a:latin typeface="Calibri" panose="020F0502020204030204" pitchFamily="34" charset="0"/>
                <a:ea typeface="Calibri" panose="020F0502020204030204" pitchFamily="34" charset="0"/>
                <a:cs typeface="Calibri" panose="020F0502020204030204" pitchFamily="34" charset="0"/>
                <a:sym typeface="Poppins"/>
              </a:rPr>
              <a:t>PRIMARY VALUE</a:t>
            </a:r>
            <a:br>
              <a:rPr lang="en-US" sz="2400" dirty="0">
                <a:solidFill>
                  <a:srgbClr val="1F2329"/>
                </a:solidFill>
                <a:latin typeface="Calibri" panose="020F0502020204030204" pitchFamily="34" charset="0"/>
                <a:ea typeface="Calibri" panose="020F0502020204030204" pitchFamily="34" charset="0"/>
                <a:cs typeface="Calibri" panose="020F0502020204030204" pitchFamily="34" charset="0"/>
                <a:sym typeface="Poppins"/>
              </a:rPr>
            </a:b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Immersive</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Poppins"/>
              </a:rPr>
              <a:t>: High media richness creates a vivid, emotionally engaging experience.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21" name="AutoShape 21"/>
          <p:cNvSpPr/>
          <p:nvPr/>
        </p:nvSpPr>
        <p:spPr>
          <a:xfrm>
            <a:off x="1905000" y="9412851"/>
            <a:ext cx="14478000" cy="609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i="1" dirty="0">
                <a:latin typeface="Calibri" panose="020F0502020204030204" pitchFamily="34" charset="0"/>
                <a:ea typeface="Calibri" panose="020F0502020204030204" pitchFamily="34" charset="0"/>
                <a:cs typeface="Calibri" panose="020F0502020204030204" pitchFamily="34" charset="0"/>
                <a:sym typeface="Poppins"/>
              </a:rPr>
              <a:t> Key Insight: Even with the same content quality, the choice of format fundamentally reshapes user experience and interaction dynamics.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1178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676400" y="1463777"/>
            <a:ext cx="15240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4800" b="1" dirty="0">
                <a:latin typeface="Calibri" panose="020F0502020204030204" pitchFamily="34" charset="0"/>
                <a:ea typeface="Calibri" panose="020F0502020204030204" pitchFamily="34" charset="0"/>
                <a:cs typeface="Calibri" panose="020F0502020204030204" pitchFamily="34" charset="0"/>
                <a:sym typeface="Poppins"/>
              </a:rPr>
              <a:t>2.3 The Need for Autonomy and Perceived Control</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7" name="AutoShape 7"/>
          <p:cNvSpPr/>
          <p:nvPr/>
        </p:nvSpPr>
        <p:spPr>
          <a:xfrm>
            <a:off x="1676400" y="3428999"/>
            <a:ext cx="3048000" cy="685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000" b="1" dirty="0">
                <a:solidFill>
                  <a:srgbClr val="1F2937"/>
                </a:solidFill>
                <a:latin typeface="Calibri" panose="020F0502020204030204" pitchFamily="34" charset="0"/>
                <a:ea typeface="Calibri" panose="020F0502020204030204" pitchFamily="34" charset="0"/>
                <a:cs typeface="Calibri" panose="020F0502020204030204" pitchFamily="34" charset="0"/>
                <a:sym typeface="Poppins"/>
              </a:rPr>
              <a:t>Perceived Control</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8" name="AutoShape 8"/>
          <p:cNvSpPr/>
          <p:nvPr/>
        </p:nvSpPr>
        <p:spPr>
          <a:xfrm>
            <a:off x="1676400" y="4272115"/>
            <a:ext cx="6286500" cy="1714500"/>
          </a:xfrm>
          <a:prstGeom prst="roundRect">
            <a:avLst>
              <a:gd name="adj" fmla="val 8888"/>
            </a:avLst>
          </a:prstGeom>
          <a:solidFill>
            <a:srgbClr val="F3F4F6">
              <a:alpha val="80000"/>
            </a:srgbClr>
          </a:solidFill>
          <a:ln w="25400" cap="flat" cmpd="sng">
            <a:noFill/>
            <a:prstDash val="solid"/>
            <a:round/>
          </a:ln>
        </p:spPr>
        <p:txBody>
          <a:bodyPr vert="horz" wrap="square" lIns="95250" tIns="95250" rIns="95250" bIns="95250" rtlCol="0" anchor="ctr"/>
          <a:lstStyle/>
          <a:p>
            <a:pPr algn="ctr">
              <a:defRPr/>
            </a:pPr>
            <a:endParaRPr sz="2700">
              <a:latin typeface="Calibri" panose="020F0502020204030204" pitchFamily="34" charset="0"/>
              <a:ea typeface="Calibri" panose="020F0502020204030204" pitchFamily="34" charset="0"/>
              <a:cs typeface="Calibri" panose="020F0502020204030204" pitchFamily="34" charset="0"/>
            </a:endParaRPr>
          </a:p>
        </p:txBody>
      </p:sp>
      <p:sp>
        <p:nvSpPr>
          <p:cNvPr id="9" name="AutoShape 9"/>
          <p:cNvSpPr/>
          <p:nvPr/>
        </p:nvSpPr>
        <p:spPr>
          <a:xfrm>
            <a:off x="1962150" y="4462615"/>
            <a:ext cx="5715000" cy="13335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The user’s </a:t>
            </a:r>
            <a:r>
              <a:rPr lang="en-US" b="1" dirty="0">
                <a:latin typeface="Calibri" panose="020F0502020204030204" pitchFamily="34" charset="0"/>
                <a:ea typeface="Calibri" panose="020F0502020204030204" pitchFamily="34" charset="0"/>
                <a:cs typeface="Calibri" panose="020F0502020204030204" pitchFamily="34" charset="0"/>
                <a:sym typeface="Noto Sans SC"/>
              </a:rPr>
              <a:t>subjective sense of agency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over their information processing experience (e.g., adjusting reading pace, navigating content freely).</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0" name="AutoShape 10"/>
          <p:cNvSpPr/>
          <p:nvPr/>
        </p:nvSpPr>
        <p:spPr>
          <a:xfrm>
            <a:off x="1676400" y="6362700"/>
            <a:ext cx="6286500" cy="1905000"/>
          </a:xfrm>
          <a:prstGeom prst="roundRect">
            <a:avLst>
              <a:gd name="adj" fmla="val 8000"/>
            </a:avLst>
          </a:prstGeom>
          <a:solidFill>
            <a:srgbClr val="F3F4F6">
              <a:alpha val="80000"/>
            </a:srgbClr>
          </a:solidFill>
          <a:ln w="25400" cap="flat" cmpd="sng">
            <a:noFill/>
            <a:prstDash val="solid"/>
            <a:round/>
          </a:ln>
        </p:spPr>
        <p:txBody>
          <a:bodyPr vert="horz" wrap="square" lIns="95250" tIns="95250" rIns="95250" bIns="95250" rtlCol="0" anchor="ctr"/>
          <a:lstStyle/>
          <a:p>
            <a:pPr algn="ctr">
              <a:defRPr/>
            </a:pPr>
            <a:endParaRPr sz="2700">
              <a:latin typeface="Calibri" panose="020F0502020204030204" pitchFamily="34" charset="0"/>
              <a:ea typeface="Calibri" panose="020F0502020204030204" pitchFamily="34" charset="0"/>
              <a:cs typeface="Calibri" panose="020F0502020204030204" pitchFamily="34" charset="0"/>
            </a:endParaRPr>
          </a:p>
        </p:txBody>
      </p:sp>
      <p:sp>
        <p:nvSpPr>
          <p:cNvPr id="11" name="AutoShape 11"/>
          <p:cNvSpPr/>
          <p:nvPr/>
        </p:nvSpPr>
        <p:spPr>
          <a:xfrm>
            <a:off x="1962150" y="6553200"/>
            <a:ext cx="5715000" cy="15240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Rooted in the </a:t>
            </a:r>
            <a:r>
              <a:rPr lang="en-US" b="1"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Theory of Planned Behavior (TPB)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and intrinsically linked to the psychological need for </a:t>
            </a:r>
            <a:r>
              <a:rPr lang="en-US" b="1" dirty="0">
                <a:latin typeface="Calibri" panose="020F0502020204030204" pitchFamily="34" charset="0"/>
                <a:ea typeface="Calibri" panose="020F0502020204030204" pitchFamily="34" charset="0"/>
                <a:cs typeface="Calibri" panose="020F0502020204030204" pitchFamily="34" charset="0"/>
                <a:sym typeface="Noto Sans SC"/>
              </a:rPr>
              <a:t>autonomy</a:t>
            </a:r>
            <a:r>
              <a:rPr lang="en-US" b="1" dirty="0">
                <a:solidFill>
                  <a:srgbClr val="059669"/>
                </a:solidFill>
                <a:latin typeface="Calibri" panose="020F0502020204030204" pitchFamily="34" charset="0"/>
                <a:ea typeface="Calibri" panose="020F0502020204030204" pitchFamily="34" charset="0"/>
                <a:cs typeface="Calibri" panose="020F0502020204030204" pitchFamily="34" charset="0"/>
                <a:sym typeface="Noto Sans SC"/>
              </a:rPr>
              <a:t> </a:t>
            </a: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(Self-Determination Theory, SDT).</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5" name="AutoShape 15"/>
          <p:cNvSpPr/>
          <p:nvPr/>
        </p:nvSpPr>
        <p:spPr>
          <a:xfrm>
            <a:off x="9525000" y="3428999"/>
            <a:ext cx="5334000" cy="685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000" b="1" dirty="0">
                <a:solidFill>
                  <a:srgbClr val="1F2937"/>
                </a:solidFill>
                <a:latin typeface="Calibri" panose="020F0502020204030204" pitchFamily="34" charset="0"/>
                <a:ea typeface="Calibri" panose="020F0502020204030204" pitchFamily="34" charset="0"/>
                <a:cs typeface="Calibri" panose="020F0502020204030204" pitchFamily="34" charset="0"/>
                <a:sym typeface="Poppins"/>
              </a:rPr>
              <a:t>Hypothesis H1</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6" name="AutoShape 16"/>
          <p:cNvSpPr/>
          <p:nvPr/>
        </p:nvSpPr>
        <p:spPr>
          <a:xfrm>
            <a:off x="9525000" y="4253680"/>
            <a:ext cx="6286500" cy="1524000"/>
          </a:xfrm>
          <a:prstGeom prst="roundRect">
            <a:avLst>
              <a:gd name="adj" fmla="val 10000"/>
            </a:avLst>
          </a:prstGeom>
          <a:solidFill>
            <a:srgbClr val="F3F4F6">
              <a:alpha val="80000"/>
            </a:srgbClr>
          </a:solidFill>
          <a:ln w="25400" cap="flat" cmpd="sng">
            <a:noFill/>
            <a:prstDash val="solid"/>
            <a:round/>
          </a:ln>
        </p:spPr>
        <p:txBody>
          <a:bodyPr vert="horz" wrap="square" lIns="95250" tIns="95250" rIns="95250" bIns="95250" rtlCol="0" anchor="ctr"/>
          <a:lstStyle/>
          <a:p>
            <a:pPr algn="ctr">
              <a:defRPr/>
            </a:pPr>
            <a:endParaRPr sz="2700">
              <a:latin typeface="Calibri" panose="020F0502020204030204" pitchFamily="34" charset="0"/>
              <a:ea typeface="Calibri" panose="020F0502020204030204" pitchFamily="34" charset="0"/>
              <a:cs typeface="Calibri" panose="020F0502020204030204" pitchFamily="34" charset="0"/>
            </a:endParaRPr>
          </a:p>
        </p:txBody>
      </p:sp>
      <p:sp>
        <p:nvSpPr>
          <p:cNvPr id="17" name="AutoShape 17"/>
          <p:cNvSpPr/>
          <p:nvPr/>
        </p:nvSpPr>
        <p:spPr>
          <a:xfrm>
            <a:off x="9810750" y="4444180"/>
            <a:ext cx="5715000" cy="1143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Content formats directly shape perceived control: User-paced formats (graphic-text) satisfy autonomy needs, while system-paced formats (short videos) restrict them.</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8" name="AutoShape 18"/>
          <p:cNvSpPr/>
          <p:nvPr/>
        </p:nvSpPr>
        <p:spPr>
          <a:xfrm>
            <a:off x="9525000" y="6172200"/>
            <a:ext cx="6286500" cy="2095500"/>
          </a:xfrm>
          <a:prstGeom prst="roundRect">
            <a:avLst>
              <a:gd name="adj" fmla="val 7272"/>
            </a:avLst>
          </a:prstGeom>
          <a:solidFill>
            <a:schemeClr val="accent1">
              <a:lumMod val="20000"/>
              <a:lumOff val="80000"/>
              <a:alpha val="90000"/>
            </a:schemeClr>
          </a:solidFill>
          <a:ln w="12700" cap="flat" cmpd="sng">
            <a:solidFill>
              <a:srgbClr val="203864"/>
            </a:solidFill>
            <a:prstDash val="solid"/>
            <a:round/>
          </a:ln>
        </p:spPr>
        <p:txBody>
          <a:bodyPr vert="horz" wrap="square" lIns="95250" tIns="95250" rIns="95250" bIns="95250" rtlCol="0" anchor="ctr"/>
          <a:lstStyle/>
          <a:p>
            <a:pPr algn="ctr">
              <a:defRPr/>
            </a:pPr>
            <a:endParaRPr sz="2700">
              <a:latin typeface="Calibri" panose="020F0502020204030204" pitchFamily="34" charset="0"/>
              <a:ea typeface="Calibri" panose="020F0502020204030204" pitchFamily="34" charset="0"/>
              <a:cs typeface="Calibri" panose="020F0502020204030204" pitchFamily="34" charset="0"/>
            </a:endParaRPr>
          </a:p>
        </p:txBody>
      </p:sp>
      <p:sp>
        <p:nvSpPr>
          <p:cNvPr id="19" name="AutoShape 19"/>
          <p:cNvSpPr/>
          <p:nvPr/>
        </p:nvSpPr>
        <p:spPr>
          <a:xfrm>
            <a:off x="9810750" y="6362700"/>
            <a:ext cx="5715000" cy="17145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b="1" dirty="0">
                <a:latin typeface="Calibri" panose="020F0502020204030204" pitchFamily="34" charset="0"/>
                <a:ea typeface="Calibri" panose="020F0502020204030204" pitchFamily="34" charset="0"/>
                <a:cs typeface="Calibri" panose="020F0502020204030204" pitchFamily="34" charset="0"/>
                <a:sym typeface="Noto Sans SC"/>
              </a:rPr>
              <a:t>H1: Compared with short video posts, graphic posts tend to significantly increase users’ perceived control over the information processing experience.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406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524000" y="1143000"/>
            <a:ext cx="15240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4800" b="1" dirty="0">
                <a:latin typeface="Calibri" panose="020F0502020204030204" pitchFamily="34" charset="0"/>
                <a:ea typeface="Calibri" panose="020F0502020204030204" pitchFamily="34" charset="0"/>
                <a:cs typeface="Calibri" panose="020F0502020204030204" pitchFamily="34" charset="0"/>
                <a:sym typeface="Poppins"/>
              </a:rPr>
              <a:t>2.4 The Mediating Role of Perceived Control</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7" name="AutoShape 7"/>
          <p:cNvSpPr/>
          <p:nvPr/>
        </p:nvSpPr>
        <p:spPr>
          <a:xfrm>
            <a:off x="1529223" y="2642266"/>
            <a:ext cx="5524500" cy="457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100" b="1" dirty="0">
                <a:latin typeface="Calibri" panose="020F0502020204030204" pitchFamily="34" charset="0"/>
                <a:ea typeface="Calibri" panose="020F0502020204030204" pitchFamily="34" charset="0"/>
                <a:cs typeface="Calibri" panose="020F0502020204030204" pitchFamily="34" charset="0"/>
                <a:sym typeface="Poppins"/>
              </a:rPr>
              <a:t>H2: Direct Effect of Control</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8" name="AutoShape 8"/>
          <p:cNvSpPr/>
          <p:nvPr/>
        </p:nvSpPr>
        <p:spPr>
          <a:xfrm>
            <a:off x="1526458" y="3046772"/>
            <a:ext cx="12951542" cy="47625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650"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 Perceived control is positively associated with intentions to (H2a) like, (H2b) share, (H2c) comment, (H2d) watch/read, and (H2e) save.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0" name="AutoShape 10"/>
          <p:cNvSpPr/>
          <p:nvPr/>
        </p:nvSpPr>
        <p:spPr>
          <a:xfrm>
            <a:off x="1524000" y="3515033"/>
            <a:ext cx="5524500" cy="457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100" b="1" dirty="0">
                <a:latin typeface="Calibri" panose="020F0502020204030204" pitchFamily="34" charset="0"/>
                <a:ea typeface="Calibri" panose="020F0502020204030204" pitchFamily="34" charset="0"/>
                <a:cs typeface="Calibri" panose="020F0502020204030204" pitchFamily="34" charset="0"/>
                <a:sym typeface="Poppins"/>
              </a:rPr>
              <a:t>H3: Effect of Post Format</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1" name="AutoShape 11"/>
          <p:cNvSpPr/>
          <p:nvPr/>
        </p:nvSpPr>
        <p:spPr>
          <a:xfrm>
            <a:off x="1524000" y="3938589"/>
            <a:ext cx="14630400" cy="4572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650"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 Users have higher behavioral intentions to (H3a) like, (H3b) share, (H3c) comment, (H3d) watch/read, and (H3e) save graphic posts compared with short video posts.</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3" name="AutoShape 13"/>
          <p:cNvSpPr/>
          <p:nvPr/>
        </p:nvSpPr>
        <p:spPr>
          <a:xfrm>
            <a:off x="1524000" y="4409768"/>
            <a:ext cx="5524500" cy="457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100" b="1" dirty="0">
                <a:latin typeface="Calibri" panose="020F0502020204030204" pitchFamily="34" charset="0"/>
                <a:ea typeface="Calibri" panose="020F0502020204030204" pitchFamily="34" charset="0"/>
                <a:cs typeface="Calibri" panose="020F0502020204030204" pitchFamily="34" charset="0"/>
                <a:sym typeface="Poppins"/>
              </a:rPr>
              <a:t>H4: Mediation Effect</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sp>
        <p:nvSpPr>
          <p:cNvPr id="14" name="AutoShape 14"/>
          <p:cNvSpPr/>
          <p:nvPr/>
        </p:nvSpPr>
        <p:spPr>
          <a:xfrm>
            <a:off x="1524000" y="4838700"/>
            <a:ext cx="14554200" cy="476250"/>
          </a:xfrm>
          <a:prstGeom prst="rect">
            <a:avLst/>
          </a:prstGeom>
          <a:noFill/>
          <a:ln w="12700" cap="flat" cmpd="sng">
            <a:noFill/>
            <a:prstDash val="solid"/>
            <a:round/>
          </a:ln>
        </p:spPr>
        <p:txBody>
          <a:bodyPr vert="horz" wrap="square" lIns="0" tIns="0" rIns="0" bIns="0" rtlCol="0" anchor="ctr" anchorCtr="0"/>
          <a:lstStyle/>
          <a:p>
            <a:pPr>
              <a:defRPr/>
            </a:pPr>
            <a:r>
              <a:rPr lang="en-US" sz="1650" dirty="0">
                <a:solidFill>
                  <a:srgbClr val="4B5563"/>
                </a:solidFill>
                <a:latin typeface="Calibri" panose="020F0502020204030204" pitchFamily="34" charset="0"/>
                <a:ea typeface="Calibri" panose="020F0502020204030204" pitchFamily="34" charset="0"/>
                <a:cs typeface="Calibri" panose="020F0502020204030204" pitchFamily="34" charset="0"/>
                <a:sym typeface="Noto Sans SC"/>
              </a:rPr>
              <a:t>H4: Perceived control mediates the effect of post type on the intention to (H4a) like, (H4b) share, (H4c) comment, (H4d) watch/read, and (H4e) save.</a:t>
            </a:r>
            <a:endParaRPr lang="en-US" sz="1650" dirty="0">
              <a:latin typeface="Calibri" panose="020F0502020204030204" pitchFamily="34" charset="0"/>
              <a:ea typeface="Calibri" panose="020F0502020204030204" pitchFamily="34" charset="0"/>
              <a:cs typeface="Calibri" panose="020F0502020204030204" pitchFamily="34" charset="0"/>
            </a:endParaRPr>
          </a:p>
        </p:txBody>
      </p:sp>
      <p:pic>
        <p:nvPicPr>
          <p:cNvPr id="32" name="图片 31">
            <a:extLst>
              <a:ext uri="{FF2B5EF4-FFF2-40B4-BE49-F238E27FC236}">
                <a16:creationId xmlns:a16="http://schemas.microsoft.com/office/drawing/2014/main" id="{0D996D9D-9C93-0BA0-9044-A86EA50CC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5039" y="5582266"/>
            <a:ext cx="10857922" cy="4375650"/>
          </a:xfrm>
          <a:prstGeom prst="rect">
            <a:avLst/>
          </a:prstGeom>
        </p:spPr>
      </p:pic>
    </p:spTree>
    <p:extLst>
      <p:ext uri="{BB962C8B-B14F-4D97-AF65-F5344CB8AC3E}">
        <p14:creationId xmlns:p14="http://schemas.microsoft.com/office/powerpoint/2010/main" val="4286299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9F826-F281-0492-AFE6-58511C95457C}"/>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C405FE5-981E-5C56-45F8-8FD8AAA944E1}"/>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F956F96F-E847-11E1-396B-498E22459BA6}"/>
              </a:ext>
            </a:extLst>
          </p:cNvPr>
          <p:cNvGrpSpPr/>
          <p:nvPr/>
        </p:nvGrpSpPr>
        <p:grpSpPr>
          <a:xfrm>
            <a:off x="14185810" y="0"/>
            <a:ext cx="5018108" cy="10287000"/>
            <a:chOff x="9457206" y="0"/>
            <a:chExt cx="3345405" cy="6858000"/>
          </a:xfrm>
        </p:grpSpPr>
        <p:sp>
          <p:nvSpPr>
            <p:cNvPr id="13" name="任意多边形: 形状 12">
              <a:extLst>
                <a:ext uri="{FF2B5EF4-FFF2-40B4-BE49-F238E27FC236}">
                  <a16:creationId xmlns:a16="http://schemas.microsoft.com/office/drawing/2014/main" id="{8150559B-B34B-7E43-17AB-F0632D0550B4}"/>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2961CBFF-96E9-360C-F7FC-FB6F7CA8D48D}"/>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AECD7BAE-2114-8DE1-87AC-5187F6C80FEA}"/>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DBE965FD-AFCC-4F20-B838-BF681161BCB2}"/>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4C6BB4CC-BBBD-2246-3BD6-7B376750B6A9}"/>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77030CD3-A2BF-D177-9DFA-FA63629F30B8}"/>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EB6DFDFE-9653-CBBE-6E3C-DF1D50CA3923}"/>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6A70B785-4F3C-47AA-C3AB-9C2D66CB37FC}"/>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4CF576D1-C395-F641-67FA-788C98ED1CC5}"/>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7823F893-647C-842B-C555-9B663EE71D60}"/>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68" name="矩形 67">
            <a:extLst>
              <a:ext uri="{FF2B5EF4-FFF2-40B4-BE49-F238E27FC236}">
                <a16:creationId xmlns:a16="http://schemas.microsoft.com/office/drawing/2014/main" id="{C3AC4E30-53E1-E372-F7A0-B5383D475431}"/>
              </a:ext>
            </a:extLst>
          </p:cNvPr>
          <p:cNvSpPr/>
          <p:nvPr/>
        </p:nvSpPr>
        <p:spPr>
          <a:xfrm>
            <a:off x="2017652" y="3827756"/>
            <a:ext cx="1759079" cy="1477328"/>
          </a:xfrm>
          <a:prstGeom prst="rect">
            <a:avLst/>
          </a:prstGeom>
        </p:spPr>
        <p:txBody>
          <a:bodyPr wrap="square">
            <a:spAutoFit/>
          </a:bodyPr>
          <a:lstStyle/>
          <a:p>
            <a:pPr algn="ctr"/>
            <a:r>
              <a:rPr lang="en-US" altLang="zh-CN" sz="9000" b="1" dirty="0">
                <a:latin typeface="Calibri" panose="020F0502020204030204" pitchFamily="34" charset="0"/>
                <a:ea typeface="Calibri" panose="020F0502020204030204" pitchFamily="34" charset="0"/>
                <a:cs typeface="Calibri" panose="020F0502020204030204" pitchFamily="34" charset="0"/>
              </a:rPr>
              <a:t>3</a:t>
            </a:r>
            <a:endParaRPr lang="zh-CN" altLang="en-US" sz="9000" b="1" dirty="0">
              <a:latin typeface="Calibri" panose="020F0502020204030204" pitchFamily="34" charset="0"/>
              <a:cs typeface="Calibri" panose="020F0502020204030204" pitchFamily="34" charset="0"/>
            </a:endParaRPr>
          </a:p>
        </p:txBody>
      </p:sp>
      <p:sp>
        <p:nvSpPr>
          <p:cNvPr id="69" name="矩形 68">
            <a:extLst>
              <a:ext uri="{FF2B5EF4-FFF2-40B4-BE49-F238E27FC236}">
                <a16:creationId xmlns:a16="http://schemas.microsoft.com/office/drawing/2014/main" id="{0540CBEE-B8D0-6216-2EFE-216FDC631E6D}"/>
              </a:ext>
            </a:extLst>
          </p:cNvPr>
          <p:cNvSpPr/>
          <p:nvPr/>
        </p:nvSpPr>
        <p:spPr>
          <a:xfrm>
            <a:off x="4315615" y="3827756"/>
            <a:ext cx="9171785" cy="1446550"/>
          </a:xfrm>
          <a:prstGeom prst="rect">
            <a:avLst/>
          </a:prstGeom>
        </p:spPr>
        <p:txBody>
          <a:bodyPr wrap="square">
            <a:spAutoFit/>
          </a:bodyPr>
          <a:lstStyle/>
          <a:p>
            <a:r>
              <a:rPr lang="en-US" altLang="zh-CN" sz="8800" b="1" dirty="0">
                <a:latin typeface="Calibri" panose="020F0502020204030204" pitchFamily="34" charset="0"/>
                <a:ea typeface="Calibri" panose="020F0502020204030204" pitchFamily="34" charset="0"/>
                <a:cs typeface="Calibri" panose="020F0502020204030204" pitchFamily="34" charset="0"/>
              </a:rPr>
              <a:t>Method</a:t>
            </a:r>
          </a:p>
        </p:txBody>
      </p:sp>
      <p:sp>
        <p:nvSpPr>
          <p:cNvPr id="24" name="矩形 23">
            <a:extLst>
              <a:ext uri="{FF2B5EF4-FFF2-40B4-BE49-F238E27FC236}">
                <a16:creationId xmlns:a16="http://schemas.microsoft.com/office/drawing/2014/main" id="{2E50D4B7-6ADF-7BC9-2D1C-4BE4D42212F9}"/>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25" name="组合 24">
            <a:extLst>
              <a:ext uri="{FF2B5EF4-FFF2-40B4-BE49-F238E27FC236}">
                <a16:creationId xmlns:a16="http://schemas.microsoft.com/office/drawing/2014/main" id="{E3701765-3607-D85A-7594-78250CFB57F5}"/>
              </a:ext>
            </a:extLst>
          </p:cNvPr>
          <p:cNvGrpSpPr/>
          <p:nvPr/>
        </p:nvGrpSpPr>
        <p:grpSpPr>
          <a:xfrm>
            <a:off x="321467" y="4464710"/>
            <a:ext cx="71438" cy="2214563"/>
            <a:chOff x="214311" y="3257550"/>
            <a:chExt cx="47625" cy="1476375"/>
          </a:xfrm>
        </p:grpSpPr>
        <p:sp>
          <p:nvSpPr>
            <p:cNvPr id="26" name="椭圆 25">
              <a:extLst>
                <a:ext uri="{FF2B5EF4-FFF2-40B4-BE49-F238E27FC236}">
                  <a16:creationId xmlns:a16="http://schemas.microsoft.com/office/drawing/2014/main" id="{E320357D-1F61-AAB9-97C3-CFE8BA1351E8}"/>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7" name="椭圆 26">
              <a:extLst>
                <a:ext uri="{FF2B5EF4-FFF2-40B4-BE49-F238E27FC236}">
                  <a16:creationId xmlns:a16="http://schemas.microsoft.com/office/drawing/2014/main" id="{F39114E8-F373-824D-203E-3D894B1979D7}"/>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椭圆 27">
              <a:extLst>
                <a:ext uri="{FF2B5EF4-FFF2-40B4-BE49-F238E27FC236}">
                  <a16:creationId xmlns:a16="http://schemas.microsoft.com/office/drawing/2014/main" id="{AD375034-218D-3483-B7DE-521B6D7AB3E9}"/>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1E42A62F-BC4D-9F36-92F7-59E74BEC5701}"/>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1" name="椭圆 30">
              <a:extLst>
                <a:ext uri="{FF2B5EF4-FFF2-40B4-BE49-F238E27FC236}">
                  <a16:creationId xmlns:a16="http://schemas.microsoft.com/office/drawing/2014/main" id="{91110DB8-C6C0-69D0-F86F-A760DA50B0EB}"/>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2" name="椭圆 31">
              <a:extLst>
                <a:ext uri="{FF2B5EF4-FFF2-40B4-BE49-F238E27FC236}">
                  <a16:creationId xmlns:a16="http://schemas.microsoft.com/office/drawing/2014/main" id="{53BD1376-EDC8-EB98-17BF-B202BDF4002C}"/>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907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70"/>
          <p:cNvSpPr/>
          <p:nvPr/>
        </p:nvSpPr>
        <p:spPr>
          <a:xfrm>
            <a:off x="1828800" y="1805556"/>
            <a:ext cx="15252065" cy="2659129"/>
          </a:xfrm>
          <a:prstGeom prst="roundRect">
            <a:avLst>
              <a:gd name="adj" fmla="val 10447"/>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vert="horz" wrap="square" lIns="0" tIns="0" rIns="0" bIns="0"/>
          <a:lstStyle/>
          <a:p>
            <a:pPr algn="l" rtl="0" eaLnBrk="0"/>
            <a:r>
              <a:rPr sz="2700" b="1" kern="0" spc="-20" dirty="0">
                <a:solidFill>
                  <a:srgbClr val="203864">
                    <a:alpha val="100000"/>
                  </a:srgbClr>
                </a:solidFill>
                <a:latin typeface="Calibri" panose="020F0502020204030204"/>
                <a:ea typeface="Calibri" panose="020F0502020204030204"/>
                <a:cs typeface="Calibri" panose="020F0502020204030204"/>
              </a:rPr>
              <a:t>1. Participants &amp; Sampling</a:t>
            </a:r>
          </a:p>
          <a:p>
            <a:pPr marL="342900" indent="-342900" algn="l" rtl="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Target sample: Gen Z users (born 1995–2010)  </a:t>
            </a:r>
          </a:p>
          <a:p>
            <a:pPr marL="342900" indent="-342900" algn="l" rtl="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Randomized controlled design: Participants were randomly assigned to either the image-text group or the short video group </a:t>
            </a:r>
          </a:p>
          <a:p>
            <a:pPr marL="342900" indent="-342900" algn="l" rtl="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Stimulus materials: 3 common content topics (outfit matching, home cooking, product recommendation) with consistent core information across formats</a:t>
            </a:r>
          </a:p>
        </p:txBody>
      </p:sp>
      <p:pic>
        <p:nvPicPr>
          <p:cNvPr id="72" name="picture 72"/>
          <p:cNvPicPr>
            <a:picLocks noChangeAspect="1"/>
          </p:cNvPicPr>
          <p:nvPr/>
        </p:nvPicPr>
        <p:blipFill>
          <a:blip r:embed="rId2"/>
          <a:stretch>
            <a:fillRect/>
          </a:stretch>
        </p:blipFill>
        <p:spPr>
          <a:xfrm rot="21600000">
            <a:off x="14736030" y="7044173"/>
            <a:ext cx="3551969" cy="3242823"/>
          </a:xfrm>
          <a:prstGeom prst="rect">
            <a:avLst/>
          </a:prstGeom>
        </p:spPr>
      </p:pic>
      <p:sp>
        <p:nvSpPr>
          <p:cNvPr id="74" name="rect 74"/>
          <p:cNvSpPr/>
          <p:nvPr/>
        </p:nvSpPr>
        <p:spPr>
          <a:xfrm>
            <a:off x="0" y="0"/>
            <a:ext cx="714375" cy="10286997"/>
          </a:xfrm>
          <a:prstGeom prst="rect">
            <a:avLst/>
          </a:prstGeom>
          <a:solidFill>
            <a:srgbClr val="203864">
              <a:alpha val="100000"/>
            </a:srgbClr>
          </a:solidFill>
          <a:ln w="0" cap="flat">
            <a:noFill/>
            <a:prstDash val="solid"/>
            <a:miter lim="0"/>
          </a:ln>
        </p:spPr>
        <p:txBody>
          <a:bodyPr rtlCol="0"/>
          <a:lstStyle/>
          <a:p>
            <a:pPr algn="ctr"/>
            <a:endParaRPr lang="zh-CN" altLang="en-US"/>
          </a:p>
        </p:txBody>
      </p:sp>
      <p:sp>
        <p:nvSpPr>
          <p:cNvPr id="78" name="textbox 78"/>
          <p:cNvSpPr/>
          <p:nvPr/>
        </p:nvSpPr>
        <p:spPr>
          <a:xfrm rot="5400000">
            <a:off x="-739229" y="8303742"/>
            <a:ext cx="2149475" cy="2927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2100" kern="0" spc="-90" dirty="0">
                <a:solidFill>
                  <a:srgbClr val="FFFFFF">
                    <a:alpha val="100000"/>
                  </a:srgbClr>
                </a:solidFill>
                <a:latin typeface="Calibri" panose="020F0502020204030204"/>
                <a:ea typeface="Calibri" panose="020F0502020204030204"/>
                <a:cs typeface="Calibri" panose="020F0502020204030204"/>
              </a:rPr>
              <a:t>A</a:t>
            </a:r>
            <a:r>
              <a:rPr sz="2100" kern="0" spc="10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I</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D</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M</a:t>
            </a:r>
            <a:r>
              <a:rPr sz="2100" kern="0" spc="1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7  4</a:t>
            </a:r>
            <a:r>
              <a:rPr sz="2100" kern="0" spc="1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8</a:t>
            </a:r>
            <a:r>
              <a:rPr sz="2100" kern="0" spc="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0</a:t>
            </a:r>
            <a:endParaRPr sz="2100" dirty="0">
              <a:latin typeface="Calibri" panose="020F0502020204030204"/>
              <a:ea typeface="Calibri" panose="020F0502020204030204"/>
              <a:cs typeface="Calibri" panose="020F0502020204030204"/>
            </a:endParaRPr>
          </a:p>
        </p:txBody>
      </p:sp>
      <p:sp>
        <p:nvSpPr>
          <p:cNvPr id="80" name="path 80"/>
          <p:cNvSpPr/>
          <p:nvPr/>
        </p:nvSpPr>
        <p:spPr>
          <a:xfrm>
            <a:off x="321462" y="4464685"/>
            <a:ext cx="71437" cy="2214625"/>
          </a:xfrm>
          <a:custGeom>
            <a:avLst/>
            <a:gdLst/>
            <a:ahLst/>
            <a:cxnLst/>
            <a:rect l="0" t="0" r="0" b="0"/>
            <a:pathLst>
              <a:path w="112" h="3487">
                <a:moveTo>
                  <a:pt x="0" y="56"/>
                </a:moveTo>
                <a:cubicBezTo>
                  <a:pt x="0" y="25"/>
                  <a:pt x="25" y="0"/>
                  <a:pt x="56" y="0"/>
                </a:cubicBezTo>
                <a:cubicBezTo>
                  <a:pt x="87" y="0"/>
                  <a:pt x="112" y="25"/>
                  <a:pt x="112" y="56"/>
                </a:cubicBezTo>
                <a:cubicBezTo>
                  <a:pt x="112" y="87"/>
                  <a:pt x="87" y="112"/>
                  <a:pt x="56" y="112"/>
                </a:cubicBezTo>
                <a:cubicBezTo>
                  <a:pt x="25" y="112"/>
                  <a:pt x="0" y="87"/>
                  <a:pt x="0" y="56"/>
                </a:cubicBezTo>
              </a:path>
              <a:path w="112" h="3487">
                <a:moveTo>
                  <a:pt x="0" y="731"/>
                </a:moveTo>
                <a:cubicBezTo>
                  <a:pt x="0" y="700"/>
                  <a:pt x="25" y="674"/>
                  <a:pt x="56" y="674"/>
                </a:cubicBezTo>
                <a:cubicBezTo>
                  <a:pt x="87" y="674"/>
                  <a:pt x="112" y="700"/>
                  <a:pt x="112" y="731"/>
                </a:cubicBezTo>
                <a:cubicBezTo>
                  <a:pt x="112" y="762"/>
                  <a:pt x="87" y="787"/>
                  <a:pt x="56" y="787"/>
                </a:cubicBezTo>
                <a:cubicBezTo>
                  <a:pt x="25" y="787"/>
                  <a:pt x="0" y="762"/>
                  <a:pt x="0" y="731"/>
                </a:cubicBezTo>
              </a:path>
              <a:path w="112" h="3487">
                <a:moveTo>
                  <a:pt x="0" y="1406"/>
                </a:moveTo>
                <a:cubicBezTo>
                  <a:pt x="0" y="1375"/>
                  <a:pt x="25" y="1350"/>
                  <a:pt x="56" y="1350"/>
                </a:cubicBezTo>
                <a:cubicBezTo>
                  <a:pt x="87" y="1350"/>
                  <a:pt x="112" y="1375"/>
                  <a:pt x="112" y="1406"/>
                </a:cubicBezTo>
                <a:cubicBezTo>
                  <a:pt x="112" y="1437"/>
                  <a:pt x="87" y="1462"/>
                  <a:pt x="56" y="1462"/>
                </a:cubicBezTo>
                <a:cubicBezTo>
                  <a:pt x="25" y="1462"/>
                  <a:pt x="0" y="1437"/>
                  <a:pt x="0" y="1406"/>
                </a:cubicBezTo>
              </a:path>
              <a:path w="112" h="3487">
                <a:moveTo>
                  <a:pt x="0" y="2081"/>
                </a:moveTo>
                <a:cubicBezTo>
                  <a:pt x="0" y="2050"/>
                  <a:pt x="25" y="2024"/>
                  <a:pt x="56" y="2024"/>
                </a:cubicBezTo>
                <a:cubicBezTo>
                  <a:pt x="87" y="2024"/>
                  <a:pt x="112" y="2050"/>
                  <a:pt x="112" y="2081"/>
                </a:cubicBezTo>
                <a:cubicBezTo>
                  <a:pt x="112" y="2112"/>
                  <a:pt x="87" y="2137"/>
                  <a:pt x="56" y="2137"/>
                </a:cubicBezTo>
                <a:cubicBezTo>
                  <a:pt x="25" y="2137"/>
                  <a:pt x="0" y="2112"/>
                  <a:pt x="0" y="2081"/>
                </a:cubicBezTo>
              </a:path>
              <a:path w="112" h="3487">
                <a:moveTo>
                  <a:pt x="0" y="2756"/>
                </a:moveTo>
                <a:cubicBezTo>
                  <a:pt x="0" y="2725"/>
                  <a:pt x="25" y="2700"/>
                  <a:pt x="56" y="2700"/>
                </a:cubicBezTo>
                <a:cubicBezTo>
                  <a:pt x="87" y="2700"/>
                  <a:pt x="112" y="2725"/>
                  <a:pt x="112" y="2756"/>
                </a:cubicBezTo>
                <a:cubicBezTo>
                  <a:pt x="112" y="2787"/>
                  <a:pt x="87" y="2812"/>
                  <a:pt x="56" y="2812"/>
                </a:cubicBezTo>
                <a:cubicBezTo>
                  <a:pt x="25" y="2812"/>
                  <a:pt x="0" y="2787"/>
                  <a:pt x="0" y="2756"/>
                </a:cubicBezTo>
              </a:path>
              <a:path w="112" h="3487">
                <a:moveTo>
                  <a:pt x="0" y="3431"/>
                </a:moveTo>
                <a:cubicBezTo>
                  <a:pt x="0" y="3400"/>
                  <a:pt x="25" y="3374"/>
                  <a:pt x="56" y="3374"/>
                </a:cubicBezTo>
                <a:cubicBezTo>
                  <a:pt x="87" y="3374"/>
                  <a:pt x="112" y="3400"/>
                  <a:pt x="112" y="3431"/>
                </a:cubicBezTo>
                <a:cubicBezTo>
                  <a:pt x="112" y="3462"/>
                  <a:pt x="87" y="3487"/>
                  <a:pt x="56" y="3487"/>
                </a:cubicBezTo>
                <a:cubicBezTo>
                  <a:pt x="25" y="3487"/>
                  <a:pt x="0" y="3462"/>
                  <a:pt x="0" y="3431"/>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 name="textbox 76">
            <a:extLst>
              <a:ext uri="{FF2B5EF4-FFF2-40B4-BE49-F238E27FC236}">
                <a16:creationId xmlns:a16="http://schemas.microsoft.com/office/drawing/2014/main" id="{85035004-C3DA-FAD3-99F4-20F1DD5B9918}"/>
              </a:ext>
            </a:extLst>
          </p:cNvPr>
          <p:cNvSpPr/>
          <p:nvPr/>
        </p:nvSpPr>
        <p:spPr>
          <a:xfrm>
            <a:off x="1828801" y="723900"/>
            <a:ext cx="3886200" cy="813436"/>
          </a:xfrm>
          <a:prstGeom prst="rect">
            <a:avLst/>
          </a:prstGeom>
          <a:noFill/>
          <a:ln w="0" cap="flat">
            <a:noFill/>
            <a:prstDash val="solid"/>
            <a:miter lim="0"/>
          </a:ln>
        </p:spPr>
        <p:txBody>
          <a:bodyPr vert="horz" wrap="square" lIns="0" tIns="0" rIns="0" bIns="0"/>
          <a:lstStyle/>
          <a:p>
            <a:pPr algn="l" rtl="0" eaLnBrk="0">
              <a:lnSpc>
                <a:spcPct val="95000"/>
              </a:lnSpc>
            </a:pPr>
            <a:r>
              <a:rPr sz="4800" b="1" kern="0" spc="-30" dirty="0">
                <a:solidFill>
                  <a:srgbClr val="203864">
                    <a:alpha val="100000"/>
                  </a:srgbClr>
                </a:solidFill>
                <a:latin typeface="Calibri" panose="020F0502020204030204"/>
                <a:ea typeface="Calibri" panose="020F0502020204030204"/>
                <a:cs typeface="Calibri" panose="020F0502020204030204"/>
                <a:sym typeface="+mn-ea"/>
              </a:rPr>
              <a:t>Questionnaire</a:t>
            </a:r>
            <a:endParaRPr lang="zh-CN" sz="4800" b="1" kern="0" spc="-40" dirty="0">
              <a:solidFill>
                <a:srgbClr val="203864">
                  <a:alpha val="100000"/>
                </a:srgbClr>
              </a:solidFill>
              <a:latin typeface="Calibri" panose="020F0502020204030204"/>
              <a:ea typeface="宋体" panose="02010600030101010101" pitchFamily="2" charset="-122"/>
              <a:cs typeface="Calibri" panose="020F0502020204030204"/>
            </a:endParaRPr>
          </a:p>
        </p:txBody>
      </p:sp>
      <p:sp>
        <p:nvSpPr>
          <p:cNvPr id="3" name="textbox 70"/>
          <p:cNvSpPr/>
          <p:nvPr/>
        </p:nvSpPr>
        <p:spPr>
          <a:xfrm>
            <a:off x="1828800" y="4468372"/>
            <a:ext cx="15871398" cy="3233890"/>
          </a:xfrm>
          <a:prstGeom prst="roundRect">
            <a:avLst>
              <a:gd name="adj" fmla="val 10447"/>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vert="horz" wrap="square" lIns="0" tIns="0" rIns="0" bIns="0"/>
          <a:lstStyle/>
          <a:p>
            <a:pPr algn="l" rtl="0" eaLnBrk="0"/>
            <a:r>
              <a:rPr lang="en-US" altLang="zh-CN" sz="2700" b="1" kern="0" spc="-20" dirty="0">
                <a:solidFill>
                  <a:srgbClr val="203864">
                    <a:alpha val="100000"/>
                  </a:srgbClr>
                </a:solidFill>
                <a:latin typeface="Calibri" panose="020F0502020204030204"/>
                <a:ea typeface="Calibri" panose="020F0502020204030204"/>
                <a:cs typeface="Calibri" panose="020F0502020204030204"/>
              </a:rPr>
              <a:t>2. Measures </a:t>
            </a: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Independent Variable: Post type (image-text / short video)</a:t>
            </a:r>
            <a:endParaRPr lang="en-US" sz="2700" kern="0" spc="-20" dirty="0">
              <a:solidFill>
                <a:srgbClr val="424242">
                  <a:alpha val="100000"/>
                </a:srgbClr>
              </a:solidFill>
              <a:latin typeface="Calibri" panose="020F0502020204030204"/>
              <a:ea typeface="Calibri" panose="020F0502020204030204"/>
              <a:cs typeface="Calibri" panose="020F0502020204030204"/>
            </a:endParaRP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Mediator: Perceived control (information processing control) </a:t>
            </a:r>
            <a:endParaRPr lang="en-US" sz="2700" kern="0" spc="-20" dirty="0">
              <a:solidFill>
                <a:srgbClr val="424242">
                  <a:alpha val="100000"/>
                </a:srgbClr>
              </a:solidFill>
              <a:latin typeface="Calibri" panose="020F0502020204030204"/>
              <a:ea typeface="Calibri" panose="020F0502020204030204"/>
              <a:cs typeface="Calibri" panose="020F0502020204030204"/>
            </a:endParaRP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Dependent Variable: User engagement intentions (like, share, comment, watch, save)</a:t>
            </a:r>
            <a:endParaRPr lang="en-US" sz="2700" kern="0" spc="-20" dirty="0">
              <a:solidFill>
                <a:srgbClr val="424242">
                  <a:alpha val="100000"/>
                </a:srgbClr>
              </a:solidFill>
              <a:latin typeface="Calibri" panose="020F0502020204030204"/>
              <a:ea typeface="Calibri" panose="020F0502020204030204"/>
              <a:cs typeface="Calibri" panose="020F0502020204030204"/>
            </a:endParaRP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Scal</a:t>
            </a:r>
            <a:r>
              <a:rPr lang="en-US" sz="2700" kern="0" spc="-20" dirty="0">
                <a:solidFill>
                  <a:srgbClr val="424242">
                    <a:alpha val="100000"/>
                  </a:srgbClr>
                </a:solidFill>
                <a:latin typeface="Calibri" panose="020F0502020204030204"/>
                <a:ea typeface="Calibri" panose="020F0502020204030204"/>
                <a:cs typeface="Calibri" panose="020F0502020204030204"/>
              </a:rPr>
              <a:t>e</a:t>
            </a:r>
            <a:r>
              <a:rPr sz="2700" kern="0" spc="-20" dirty="0">
                <a:solidFill>
                  <a:srgbClr val="424242">
                    <a:alpha val="100000"/>
                  </a:srgbClr>
                </a:solidFill>
                <a:latin typeface="Calibri" panose="020F0502020204030204"/>
                <a:ea typeface="Calibri" panose="020F0502020204030204"/>
                <a:cs typeface="Calibri" panose="020F0502020204030204"/>
              </a:rPr>
              <a:t>s: 7-point Likert scale for perceived control; 5-point likelihood scale for engagement intentions</a:t>
            </a:r>
            <a:endParaRPr lang="en-US" sz="2700" kern="0" spc="-20" dirty="0">
              <a:solidFill>
                <a:srgbClr val="424242">
                  <a:alpha val="100000"/>
                </a:srgbClr>
              </a:solidFill>
              <a:latin typeface="Calibri" panose="020F0502020204030204"/>
              <a:ea typeface="Calibri" panose="020F0502020204030204"/>
              <a:cs typeface="Calibri" panose="020F0502020204030204"/>
            </a:endParaRP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Covariates: Gender, age, daily Xiaohongshu usage duration </a:t>
            </a:r>
            <a:endParaRPr lang="en-US" sz="2700" kern="0" spc="-20" dirty="0">
              <a:solidFill>
                <a:srgbClr val="424242">
                  <a:alpha val="100000"/>
                </a:srgbClr>
              </a:solidFill>
              <a:latin typeface="Calibri" panose="020F0502020204030204"/>
              <a:ea typeface="Calibri" panose="020F0502020204030204"/>
              <a:cs typeface="Calibri" panose="020F0502020204030204"/>
            </a:endParaRPr>
          </a:p>
          <a:p>
            <a:pPr marL="342900" indent="-342900" eaLnBrk="0">
              <a:buFont typeface="Arial" panose="020B0604020202020204" pitchFamily="34" charset="0"/>
              <a:buChar char="•"/>
            </a:pPr>
            <a:r>
              <a:rPr sz="2700" kern="0" spc="-20" dirty="0">
                <a:solidFill>
                  <a:srgbClr val="424242">
                    <a:alpha val="100000"/>
                  </a:srgbClr>
                </a:solidFill>
                <a:latin typeface="Calibri" panose="020F0502020204030204"/>
                <a:ea typeface="Calibri" panose="020F0502020204030204"/>
                <a:cs typeface="Calibri" panose="020F0502020204030204"/>
              </a:rPr>
              <a:t>Reliability: All scales demonstrated good internal consistency (Cronbach’s α &gt; 0.7)</a:t>
            </a:r>
          </a:p>
        </p:txBody>
      </p:sp>
      <p:sp>
        <p:nvSpPr>
          <p:cNvPr id="4" name="textbox 70"/>
          <p:cNvSpPr/>
          <p:nvPr/>
        </p:nvSpPr>
        <p:spPr>
          <a:xfrm>
            <a:off x="1828800" y="7702262"/>
            <a:ext cx="12446000" cy="2209800"/>
          </a:xfrm>
          <a:prstGeom prst="roundRect">
            <a:avLst>
              <a:gd name="adj" fmla="val 10447"/>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vert="horz" wrap="square" lIns="0" tIns="0" rIns="0" bIns="0"/>
          <a:lstStyle/>
          <a:p>
            <a:pPr algn="l" rtl="0" eaLnBrk="0"/>
            <a:r>
              <a:rPr lang="en-US" altLang="zh-CN" sz="2700" b="1" kern="0" spc="-20" dirty="0">
                <a:solidFill>
                  <a:srgbClr val="203864">
                    <a:alpha val="100000"/>
                  </a:srgbClr>
                </a:solidFill>
                <a:latin typeface="Calibri" panose="020F0502020204030204"/>
                <a:ea typeface="Calibri" panose="020F0502020204030204"/>
                <a:cs typeface="Calibri" panose="020F0502020204030204"/>
              </a:rPr>
              <a:t>3. Procedures</a:t>
            </a:r>
          </a:p>
          <a:p>
            <a:pPr marL="342900" indent="-342900" eaLnBrk="0">
              <a:buFont typeface="Arial" panose="020B0604020202020204" pitchFamily="34" charset="0"/>
              <a:buChar char="•"/>
            </a:pPr>
            <a:r>
              <a:rPr lang="en-US" altLang="zh-CN" sz="2700" kern="0" spc="-20" dirty="0">
                <a:solidFill>
                  <a:srgbClr val="424242">
                    <a:alpha val="100000"/>
                  </a:srgbClr>
                </a:solidFill>
                <a:latin typeface="Calibri" panose="020F0502020204030204"/>
                <a:ea typeface="Calibri" panose="020F0502020204030204"/>
                <a:cs typeface="Calibri" panose="020F0502020204030204"/>
              </a:rPr>
              <a:t>Informed consent</a:t>
            </a:r>
          </a:p>
          <a:p>
            <a:pPr marL="342900" indent="-342900" eaLnBrk="0">
              <a:buFont typeface="Arial" panose="020B0604020202020204" pitchFamily="34" charset="0"/>
              <a:buChar char="•"/>
            </a:pPr>
            <a:r>
              <a:rPr lang="en-US" altLang="zh-CN" sz="2700" kern="0" spc="-20" dirty="0">
                <a:solidFill>
                  <a:srgbClr val="424242">
                    <a:alpha val="100000"/>
                  </a:srgbClr>
                </a:solidFill>
                <a:latin typeface="Calibri" panose="020F0502020204030204"/>
                <a:ea typeface="Calibri" panose="020F0502020204030204"/>
                <a:cs typeface="Calibri" panose="020F0502020204030204"/>
              </a:rPr>
              <a:t>Random exposure to stimulus materials</a:t>
            </a:r>
          </a:p>
          <a:p>
            <a:pPr marL="342900" indent="-342900" eaLnBrk="0">
              <a:buFont typeface="Arial" panose="020B0604020202020204" pitchFamily="34" charset="0"/>
              <a:buChar char="•"/>
            </a:pPr>
            <a:r>
              <a:rPr lang="en-US" altLang="zh-CN" sz="2700" kern="0" spc="-20" dirty="0">
                <a:solidFill>
                  <a:srgbClr val="424242">
                    <a:alpha val="100000"/>
                  </a:srgbClr>
                </a:solidFill>
                <a:latin typeface="Calibri" panose="020F0502020204030204"/>
                <a:ea typeface="Calibri" panose="020F0502020204030204"/>
                <a:cs typeface="Calibri" panose="020F0502020204030204"/>
              </a:rPr>
              <a:t>Completion of perceived control and engagement intention scales</a:t>
            </a:r>
          </a:p>
          <a:p>
            <a:pPr marL="342900" indent="-342900" eaLnBrk="0">
              <a:buFont typeface="Arial" panose="020B0604020202020204" pitchFamily="34" charset="0"/>
              <a:buChar char="•"/>
            </a:pPr>
            <a:r>
              <a:rPr lang="en-US" altLang="zh-CN" sz="2700" kern="0" spc="-20" dirty="0">
                <a:solidFill>
                  <a:srgbClr val="424242">
                    <a:alpha val="100000"/>
                  </a:srgbClr>
                </a:solidFill>
                <a:latin typeface="Calibri" panose="020F0502020204030204"/>
                <a:ea typeface="Calibri" panose="020F0502020204030204"/>
                <a:cs typeface="Calibri" panose="020F0502020204030204"/>
              </a:rPr>
              <a:t>Collection of demographic and covariate information</a:t>
            </a:r>
          </a:p>
        </p:txBody>
      </p:sp>
    </p:spTree>
    <p:extLst>
      <p:ext uri="{BB962C8B-B14F-4D97-AF65-F5344CB8AC3E}">
        <p14:creationId xmlns:p14="http://schemas.microsoft.com/office/powerpoint/2010/main" val="273935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714375" cy="10287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sym typeface="+mn-lt"/>
            </a:endParaRPr>
          </a:p>
        </p:txBody>
      </p:sp>
      <p:sp>
        <p:nvSpPr>
          <p:cNvPr id="20" name="矩形 19"/>
          <p:cNvSpPr/>
          <p:nvPr/>
        </p:nvSpPr>
        <p:spPr>
          <a:xfrm rot="5400000">
            <a:off x="-866865" y="8308093"/>
            <a:ext cx="2448106" cy="415498"/>
          </a:xfrm>
          <a:prstGeom prst="rect">
            <a:avLst/>
          </a:prstGeom>
        </p:spPr>
        <p:txBody>
          <a:bodyPr wrap="none">
            <a:spAutoFit/>
          </a:bodyPr>
          <a:lstStyle/>
          <a:p>
            <a:pPr defTabSz="1371600"/>
            <a:r>
              <a:rPr lang="en-US" altLang="zh-CN" sz="2100" spc="900" dirty="0">
                <a:solidFill>
                  <a:prstClr val="white"/>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prstClr val="white"/>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30" name="组合 29"/>
          <p:cNvGrpSpPr/>
          <p:nvPr/>
        </p:nvGrpSpPr>
        <p:grpSpPr>
          <a:xfrm>
            <a:off x="321467" y="4464710"/>
            <a:ext cx="71438" cy="2214563"/>
            <a:chOff x="214311" y="3257550"/>
            <a:chExt cx="47625" cy="1476375"/>
          </a:xfrm>
        </p:grpSpPr>
        <p:sp>
          <p:nvSpPr>
            <p:cNvPr id="59" name="椭圆 58"/>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endParaRPr>
            </a:p>
          </p:txBody>
        </p:sp>
        <p:sp>
          <p:nvSpPr>
            <p:cNvPr id="60" name="椭圆 59"/>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61" name="椭圆 60"/>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62" name="椭圆 61"/>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75" name="椭圆 74"/>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76" name="椭圆 75"/>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endParaRPr>
            </a:p>
          </p:txBody>
        </p:sp>
      </p:grpSp>
      <p:pic>
        <p:nvPicPr>
          <p:cNvPr id="3" name="图片 2"/>
          <p:cNvPicPr>
            <a:picLocks noChangeAspect="1"/>
          </p:cNvPicPr>
          <p:nvPr/>
        </p:nvPicPr>
        <p:blipFill>
          <a:blip r:embed="rId5"/>
          <a:stretch>
            <a:fillRect/>
          </a:stretch>
        </p:blipFill>
        <p:spPr>
          <a:xfrm>
            <a:off x="2692718" y="199835"/>
            <a:ext cx="3719148" cy="7610665"/>
          </a:xfrm>
          <a:prstGeom prst="rect">
            <a:avLst/>
          </a:prstGeom>
        </p:spPr>
      </p:pic>
      <p:pic>
        <p:nvPicPr>
          <p:cNvPr id="9" name="图片 8"/>
          <p:cNvPicPr>
            <a:picLocks noChangeAspect="1"/>
          </p:cNvPicPr>
          <p:nvPr/>
        </p:nvPicPr>
        <p:blipFill>
          <a:blip r:embed="rId6"/>
          <a:srcRect t="1892" r="2848"/>
          <a:stretch>
            <a:fillRect/>
          </a:stretch>
        </p:blipFill>
        <p:spPr>
          <a:xfrm>
            <a:off x="8153400" y="199835"/>
            <a:ext cx="8743971" cy="9379457"/>
          </a:xfrm>
          <a:prstGeom prst="rect">
            <a:avLst/>
          </a:prstGeom>
        </p:spPr>
      </p:pic>
      <p:sp>
        <p:nvSpPr>
          <p:cNvPr id="11" name="文本框 10"/>
          <p:cNvSpPr txBox="1"/>
          <p:nvPr>
            <p:custDataLst>
              <p:tags r:id="rId1"/>
            </p:custDataLst>
          </p:nvPr>
        </p:nvSpPr>
        <p:spPr>
          <a:xfrm>
            <a:off x="2692718" y="9448800"/>
            <a:ext cx="4028123" cy="369332"/>
          </a:xfrm>
          <a:prstGeom prst="rect">
            <a:avLst/>
          </a:prstGeom>
          <a:noFill/>
        </p:spPr>
        <p:txBody>
          <a:bodyPr wrap="square" rtlCol="0">
            <a:spAutoFit/>
          </a:bodyPr>
          <a:lstStyle/>
          <a:p>
            <a:pPr defTabSz="1371600"/>
            <a:r>
              <a:rPr lang="en-US" dirty="0">
                <a:solidFill>
                  <a:srgbClr val="757575"/>
                </a:solidFill>
                <a:latin typeface="Roboto"/>
                <a:ea typeface="Roboto"/>
                <a:cs typeface="Roboto"/>
              </a:rPr>
              <a:t>picture example</a:t>
            </a:r>
          </a:p>
        </p:txBody>
      </p:sp>
      <p:sp>
        <p:nvSpPr>
          <p:cNvPr id="13" name="文本框 12"/>
          <p:cNvSpPr txBox="1"/>
          <p:nvPr>
            <p:custDataLst>
              <p:tags r:id="rId2"/>
            </p:custDataLst>
          </p:nvPr>
        </p:nvSpPr>
        <p:spPr>
          <a:xfrm>
            <a:off x="8699184" y="9448800"/>
            <a:ext cx="4028123" cy="369332"/>
          </a:xfrm>
          <a:prstGeom prst="rect">
            <a:avLst/>
          </a:prstGeom>
          <a:noFill/>
        </p:spPr>
        <p:txBody>
          <a:bodyPr wrap="square" rtlCol="0">
            <a:spAutoFit/>
          </a:bodyPr>
          <a:lstStyle/>
          <a:p>
            <a:pPr defTabSz="1371600"/>
            <a:r>
              <a:rPr lang="en-US">
                <a:solidFill>
                  <a:srgbClr val="757575"/>
                </a:solidFill>
                <a:latin typeface="Roboto"/>
                <a:ea typeface="Roboto"/>
                <a:cs typeface="Roboto"/>
              </a:rPr>
              <a:t>video exmaple</a:t>
            </a:r>
          </a:p>
        </p:txBody>
      </p:sp>
    </p:spTree>
    <p:extLst>
      <p:ext uri="{BB962C8B-B14F-4D97-AF65-F5344CB8AC3E}">
        <p14:creationId xmlns:p14="http://schemas.microsoft.com/office/powerpoint/2010/main" val="17731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714375" cy="10287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sym typeface="+mn-lt"/>
            </a:endParaRPr>
          </a:p>
        </p:txBody>
      </p:sp>
      <p:sp>
        <p:nvSpPr>
          <p:cNvPr id="20" name="矩形 19"/>
          <p:cNvSpPr/>
          <p:nvPr/>
        </p:nvSpPr>
        <p:spPr>
          <a:xfrm rot="5400000">
            <a:off x="-866865" y="8308093"/>
            <a:ext cx="2448106" cy="415498"/>
          </a:xfrm>
          <a:prstGeom prst="rect">
            <a:avLst/>
          </a:prstGeom>
        </p:spPr>
        <p:txBody>
          <a:bodyPr wrap="none">
            <a:spAutoFit/>
          </a:bodyPr>
          <a:lstStyle/>
          <a:p>
            <a:pPr defTabSz="1371600"/>
            <a:r>
              <a:rPr lang="en-US" altLang="zh-CN" sz="2100" spc="900" dirty="0">
                <a:solidFill>
                  <a:prstClr val="white"/>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prstClr val="white"/>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30" name="组合 29"/>
          <p:cNvGrpSpPr/>
          <p:nvPr/>
        </p:nvGrpSpPr>
        <p:grpSpPr>
          <a:xfrm>
            <a:off x="321467" y="4464710"/>
            <a:ext cx="71438" cy="2214563"/>
            <a:chOff x="214311" y="3257550"/>
            <a:chExt cx="47625" cy="1476375"/>
          </a:xfrm>
        </p:grpSpPr>
        <p:sp>
          <p:nvSpPr>
            <p:cNvPr id="59" name="椭圆 58"/>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endParaRPr>
            </a:p>
          </p:txBody>
        </p:sp>
        <p:sp>
          <p:nvSpPr>
            <p:cNvPr id="60" name="椭圆 59"/>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61" name="椭圆 60"/>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62" name="椭圆 61"/>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75" name="椭圆 74"/>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lumMod val="100000"/>
                  </a:prstClr>
                </a:solidFill>
                <a:latin typeface="Calibri" panose="020F0502020204030204" pitchFamily="34" charset="0"/>
                <a:cs typeface="Calibri" panose="020F0502020204030204" pitchFamily="34" charset="0"/>
              </a:endParaRPr>
            </a:p>
          </p:txBody>
        </p:sp>
        <p:sp>
          <p:nvSpPr>
            <p:cNvPr id="76" name="椭圆 75"/>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zh-CN" altLang="en-US" sz="2700">
                <a:solidFill>
                  <a:prstClr val="white"/>
                </a:solidFill>
                <a:latin typeface="Calibri" panose="020F0502020204030204" pitchFamily="34" charset="0"/>
                <a:cs typeface="Calibri" panose="020F0502020204030204" pitchFamily="34" charset="0"/>
              </a:endParaRPr>
            </a:p>
          </p:txBody>
        </p:sp>
      </p:grpSp>
      <p:pic>
        <p:nvPicPr>
          <p:cNvPr id="2" name="图片 1" descr="2d2e23e18ed446ed8e4f3a801c7c339b.jpeg~tplv-a9rns2rl98-image"/>
          <p:cNvPicPr>
            <a:picLocks noChangeAspect="1"/>
          </p:cNvPicPr>
          <p:nvPr>
            <p:custDataLst>
              <p:tags r:id="rId1"/>
            </p:custDataLst>
          </p:nvPr>
        </p:nvPicPr>
        <p:blipFill>
          <a:blip r:embed="rId8"/>
          <a:srcRect l="-1263" t="12241" b="27759"/>
          <a:stretch>
            <a:fillRect/>
          </a:stretch>
        </p:blipFill>
        <p:spPr>
          <a:xfrm>
            <a:off x="1056893" y="1519539"/>
            <a:ext cx="5347335" cy="6970395"/>
          </a:xfrm>
          <a:prstGeom prst="rect">
            <a:avLst/>
          </a:prstGeom>
        </p:spPr>
      </p:pic>
      <p:sp>
        <p:nvSpPr>
          <p:cNvPr id="5" name="文本框 4"/>
          <p:cNvSpPr txBox="1"/>
          <p:nvPr>
            <p:custDataLst>
              <p:tags r:id="rId2"/>
            </p:custDataLst>
          </p:nvPr>
        </p:nvSpPr>
        <p:spPr>
          <a:xfrm>
            <a:off x="1441321" y="8767461"/>
            <a:ext cx="4578477" cy="369332"/>
          </a:xfrm>
          <a:prstGeom prst="rect">
            <a:avLst/>
          </a:prstGeom>
          <a:noFill/>
        </p:spPr>
        <p:txBody>
          <a:bodyPr wrap="square" rtlCol="0">
            <a:spAutoFit/>
          </a:bodyPr>
          <a:lstStyle/>
          <a:p>
            <a:pPr defTabSz="1371600"/>
            <a:r>
              <a:rPr lang="en-US" dirty="0">
                <a:solidFill>
                  <a:srgbClr val="757575"/>
                </a:solidFill>
                <a:latin typeface="Calibri" panose="020F0502020204030204" pitchFamily="34" charset="0"/>
                <a:ea typeface="Calibri" panose="020F0502020204030204" pitchFamily="34" charset="0"/>
                <a:cs typeface="Calibri" panose="020F0502020204030204" pitchFamily="34" charset="0"/>
                <a:sym typeface="Roboto"/>
              </a:rPr>
              <a:t>Fig.1: Questionnaire Structure Diagram</a:t>
            </a:r>
            <a:endParaRPr lang="zh-CN" altLang="en-US" dirty="0">
              <a:solidFill>
                <a:prstClr val="black"/>
              </a:solidFill>
              <a:latin typeface="Calibri" panose="020F0502020204030204" pitchFamily="34" charset="0"/>
              <a:cs typeface="Calibri" panose="020F0502020204030204" pitchFamily="34" charset="0"/>
            </a:endParaRPr>
          </a:p>
        </p:txBody>
      </p:sp>
      <p:pic>
        <p:nvPicPr>
          <p:cNvPr id="6" name="图片 5" descr="4b363954dd414c62a9e4e5db6bff5703.jpeg~tplv-a9rns2rl98-image"/>
          <p:cNvPicPr>
            <a:picLocks noChangeAspect="1"/>
          </p:cNvPicPr>
          <p:nvPr>
            <p:custDataLst>
              <p:tags r:id="rId3"/>
            </p:custDataLst>
          </p:nvPr>
        </p:nvPicPr>
        <p:blipFill>
          <a:blip r:embed="rId9"/>
          <a:srcRect t="22741" r="-4074" b="21056"/>
          <a:stretch>
            <a:fillRect/>
          </a:stretch>
        </p:blipFill>
        <p:spPr>
          <a:xfrm>
            <a:off x="6553200" y="1519539"/>
            <a:ext cx="5865495" cy="6969443"/>
          </a:xfrm>
          <a:prstGeom prst="rect">
            <a:avLst/>
          </a:prstGeom>
        </p:spPr>
      </p:pic>
      <p:sp>
        <p:nvSpPr>
          <p:cNvPr id="8" name="文本框 7"/>
          <p:cNvSpPr txBox="1"/>
          <p:nvPr>
            <p:custDataLst>
              <p:tags r:id="rId4"/>
            </p:custDataLst>
          </p:nvPr>
        </p:nvSpPr>
        <p:spPr>
          <a:xfrm>
            <a:off x="6731504" y="8767461"/>
            <a:ext cx="4028123" cy="369332"/>
          </a:xfrm>
          <a:prstGeom prst="rect">
            <a:avLst/>
          </a:prstGeom>
          <a:noFill/>
        </p:spPr>
        <p:txBody>
          <a:bodyPr wrap="square" rtlCol="0">
            <a:spAutoFit/>
          </a:bodyPr>
          <a:lstStyle/>
          <a:p>
            <a:pPr defTabSz="1371600"/>
            <a:r>
              <a:rPr lang="en-US" dirty="0">
                <a:solidFill>
                  <a:srgbClr val="757575"/>
                </a:solidFill>
                <a:latin typeface="Calibri" panose="020F0502020204030204" pitchFamily="34" charset="0"/>
                <a:ea typeface="Calibri" panose="020F0502020204030204" pitchFamily="34" charset="0"/>
                <a:cs typeface="Calibri" panose="020F0502020204030204" pitchFamily="34" charset="0"/>
                <a:sym typeface="Roboto"/>
              </a:rPr>
              <a:t>Fig.2: Informed Consent</a:t>
            </a:r>
            <a:endParaRPr lang="en-US" dirty="0">
              <a:solidFill>
                <a:srgbClr val="757575"/>
              </a:solidFill>
              <a:latin typeface="Calibri" panose="020F0502020204030204" pitchFamily="34" charset="0"/>
              <a:ea typeface="Calibri" panose="020F0502020204030204" pitchFamily="34" charset="0"/>
              <a:cs typeface="Calibri" panose="020F0502020204030204" pitchFamily="34" charset="0"/>
            </a:endParaRPr>
          </a:p>
        </p:txBody>
      </p:sp>
      <p:pic>
        <p:nvPicPr>
          <p:cNvPr id="10" name="图片 9" descr="3eddecdc7c1e4414bafce5d363da1802.jpeg~tplv-a9rns2rl98-image"/>
          <p:cNvPicPr>
            <a:picLocks noChangeAspect="1"/>
          </p:cNvPicPr>
          <p:nvPr>
            <p:custDataLst>
              <p:tags r:id="rId5"/>
            </p:custDataLst>
          </p:nvPr>
        </p:nvPicPr>
        <p:blipFill>
          <a:blip r:embed="rId10"/>
          <a:srcRect l="2688" t="4571" r="2484" b="76308"/>
          <a:stretch>
            <a:fillRect/>
          </a:stretch>
        </p:blipFill>
        <p:spPr>
          <a:xfrm>
            <a:off x="12268199" y="1519538"/>
            <a:ext cx="5527489" cy="6969443"/>
          </a:xfrm>
          <a:prstGeom prst="rect">
            <a:avLst/>
          </a:prstGeom>
        </p:spPr>
      </p:pic>
      <p:sp>
        <p:nvSpPr>
          <p:cNvPr id="12" name="文本框 11"/>
          <p:cNvSpPr txBox="1"/>
          <p:nvPr>
            <p:custDataLst>
              <p:tags r:id="rId6"/>
            </p:custDataLst>
          </p:nvPr>
        </p:nvSpPr>
        <p:spPr>
          <a:xfrm>
            <a:off x="12418695" y="8767461"/>
            <a:ext cx="4028123" cy="369332"/>
          </a:xfrm>
          <a:prstGeom prst="rect">
            <a:avLst/>
          </a:prstGeom>
          <a:noFill/>
        </p:spPr>
        <p:txBody>
          <a:bodyPr wrap="square" rtlCol="0">
            <a:spAutoFit/>
          </a:bodyPr>
          <a:lstStyle/>
          <a:p>
            <a:pPr defTabSz="1371600"/>
            <a:r>
              <a:rPr lang="en-US" dirty="0">
                <a:solidFill>
                  <a:srgbClr val="757575"/>
                </a:solidFill>
                <a:latin typeface="Calibri" panose="020F0502020204030204" pitchFamily="34" charset="0"/>
                <a:ea typeface="Calibri" panose="020F0502020204030204" pitchFamily="34" charset="0"/>
                <a:cs typeface="Calibri" panose="020F0502020204030204" pitchFamily="34" charset="0"/>
                <a:sym typeface="Roboto"/>
              </a:rPr>
              <a:t>Fig.3 Questionnaire Item Example</a:t>
            </a:r>
            <a:endParaRPr lang="en-US" dirty="0">
              <a:solidFill>
                <a:srgbClr val="757575"/>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2323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E3D4-FD22-7003-62D2-211C3F66CC8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243D7D8-3F65-4159-9DC9-F0C178421C96}"/>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61B05C14-544D-79AF-EF5E-0ABCBEDCE877}"/>
              </a:ext>
            </a:extLst>
          </p:cNvPr>
          <p:cNvGrpSpPr/>
          <p:nvPr/>
        </p:nvGrpSpPr>
        <p:grpSpPr>
          <a:xfrm>
            <a:off x="14185810" y="0"/>
            <a:ext cx="5018108" cy="10287000"/>
            <a:chOff x="9457206" y="0"/>
            <a:chExt cx="3345405" cy="6858000"/>
          </a:xfrm>
        </p:grpSpPr>
        <p:sp>
          <p:nvSpPr>
            <p:cNvPr id="13" name="任意多边形: 形状 12">
              <a:extLst>
                <a:ext uri="{FF2B5EF4-FFF2-40B4-BE49-F238E27FC236}">
                  <a16:creationId xmlns:a16="http://schemas.microsoft.com/office/drawing/2014/main" id="{395403F0-0B0C-864E-3E12-70E7B17E23B8}"/>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51C5FB4A-6AE1-22DC-9B93-E4EDDA40E564}"/>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2A5AED02-F398-B8D9-0492-26E1748EF04C}"/>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1450193A-D2D7-5693-1C91-E141B442F869}"/>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C3162D4E-779E-9E1D-9AE6-8D75CFED348B}"/>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1791A5AF-EA27-DDA3-B1A1-39456906119D}"/>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1BEF554A-80F6-D27D-EB10-C1A34BFFF195}"/>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0A84F53A-4522-88FE-C409-5D7B1C60F728}"/>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C7D0C593-B78E-A9D4-4717-03BDB4B38496}"/>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5ECD3F2B-D108-0EF6-7728-1C5E19CF65C7}"/>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68" name="矩形 67">
            <a:extLst>
              <a:ext uri="{FF2B5EF4-FFF2-40B4-BE49-F238E27FC236}">
                <a16:creationId xmlns:a16="http://schemas.microsoft.com/office/drawing/2014/main" id="{82B96486-6261-5FAD-F131-8ED5769BF338}"/>
              </a:ext>
            </a:extLst>
          </p:cNvPr>
          <p:cNvSpPr/>
          <p:nvPr/>
        </p:nvSpPr>
        <p:spPr>
          <a:xfrm>
            <a:off x="2017652" y="3827756"/>
            <a:ext cx="1759079" cy="1477328"/>
          </a:xfrm>
          <a:prstGeom prst="rect">
            <a:avLst/>
          </a:prstGeom>
        </p:spPr>
        <p:txBody>
          <a:bodyPr wrap="square">
            <a:spAutoFit/>
          </a:bodyPr>
          <a:lstStyle/>
          <a:p>
            <a:pPr algn="ctr"/>
            <a:r>
              <a:rPr lang="en-US" altLang="zh-CN" sz="9000" b="1" dirty="0">
                <a:latin typeface="Calibri" panose="020F0502020204030204" pitchFamily="34" charset="0"/>
                <a:ea typeface="Calibri" panose="020F0502020204030204" pitchFamily="34" charset="0"/>
                <a:cs typeface="Calibri" panose="020F0502020204030204" pitchFamily="34" charset="0"/>
              </a:rPr>
              <a:t>4</a:t>
            </a:r>
            <a:endParaRPr lang="zh-CN" altLang="en-US" sz="9000" b="1" dirty="0">
              <a:latin typeface="Calibri" panose="020F0502020204030204" pitchFamily="34" charset="0"/>
              <a:cs typeface="Calibri" panose="020F0502020204030204" pitchFamily="34" charset="0"/>
            </a:endParaRPr>
          </a:p>
        </p:txBody>
      </p:sp>
      <p:sp>
        <p:nvSpPr>
          <p:cNvPr id="69" name="矩形 68">
            <a:extLst>
              <a:ext uri="{FF2B5EF4-FFF2-40B4-BE49-F238E27FC236}">
                <a16:creationId xmlns:a16="http://schemas.microsoft.com/office/drawing/2014/main" id="{380F381F-B858-8E10-638A-F9F8B1ACAD07}"/>
              </a:ext>
            </a:extLst>
          </p:cNvPr>
          <p:cNvSpPr/>
          <p:nvPr/>
        </p:nvSpPr>
        <p:spPr>
          <a:xfrm>
            <a:off x="4315615" y="3827756"/>
            <a:ext cx="3685385" cy="1446550"/>
          </a:xfrm>
          <a:prstGeom prst="rect">
            <a:avLst/>
          </a:prstGeom>
        </p:spPr>
        <p:txBody>
          <a:bodyPr wrap="square">
            <a:spAutoFit/>
          </a:bodyPr>
          <a:lstStyle/>
          <a:p>
            <a:r>
              <a:rPr lang="en-US" altLang="zh-CN" sz="8800" b="1" dirty="0">
                <a:latin typeface="Calibri" panose="020F0502020204030204" pitchFamily="34" charset="0"/>
                <a:ea typeface="Calibri" panose="020F0502020204030204" pitchFamily="34" charset="0"/>
                <a:cs typeface="Calibri" panose="020F0502020204030204" pitchFamily="34" charset="0"/>
              </a:rPr>
              <a:t>Results</a:t>
            </a:r>
            <a:endParaRPr lang="zh-CN" altLang="en-US" sz="8800" b="1" dirty="0">
              <a:latin typeface="Calibri" panose="020F0502020204030204" pitchFamily="34" charset="0"/>
              <a:cs typeface="Calibri" panose="020F0502020204030204" pitchFamily="34" charset="0"/>
            </a:endParaRPr>
          </a:p>
        </p:txBody>
      </p:sp>
      <p:sp>
        <p:nvSpPr>
          <p:cNvPr id="24" name="矩形 23">
            <a:extLst>
              <a:ext uri="{FF2B5EF4-FFF2-40B4-BE49-F238E27FC236}">
                <a16:creationId xmlns:a16="http://schemas.microsoft.com/office/drawing/2014/main" id="{FAF38B7D-7141-DD88-D0A7-C26363CBCEC8}"/>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25" name="组合 24">
            <a:extLst>
              <a:ext uri="{FF2B5EF4-FFF2-40B4-BE49-F238E27FC236}">
                <a16:creationId xmlns:a16="http://schemas.microsoft.com/office/drawing/2014/main" id="{4D2112C4-38ED-BCD3-03E0-75AFBBF0A201}"/>
              </a:ext>
            </a:extLst>
          </p:cNvPr>
          <p:cNvGrpSpPr/>
          <p:nvPr/>
        </p:nvGrpSpPr>
        <p:grpSpPr>
          <a:xfrm>
            <a:off x="321467" y="4464710"/>
            <a:ext cx="71438" cy="2214563"/>
            <a:chOff x="214311" y="3257550"/>
            <a:chExt cx="47625" cy="1476375"/>
          </a:xfrm>
        </p:grpSpPr>
        <p:sp>
          <p:nvSpPr>
            <p:cNvPr id="26" name="椭圆 25">
              <a:extLst>
                <a:ext uri="{FF2B5EF4-FFF2-40B4-BE49-F238E27FC236}">
                  <a16:creationId xmlns:a16="http://schemas.microsoft.com/office/drawing/2014/main" id="{31BEE829-94C7-95D7-6D82-A548F54EB1B2}"/>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7" name="椭圆 26">
              <a:extLst>
                <a:ext uri="{FF2B5EF4-FFF2-40B4-BE49-F238E27FC236}">
                  <a16:creationId xmlns:a16="http://schemas.microsoft.com/office/drawing/2014/main" id="{8B9BBCD7-F1D2-D2D8-D53E-91117DCF9459}"/>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椭圆 27">
              <a:extLst>
                <a:ext uri="{FF2B5EF4-FFF2-40B4-BE49-F238E27FC236}">
                  <a16:creationId xmlns:a16="http://schemas.microsoft.com/office/drawing/2014/main" id="{FCF0CC15-EA67-B4A5-D86E-8CE3A08D271A}"/>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9915667B-7EA4-5C37-2C3D-09E2C194CDA9}"/>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1" name="椭圆 30">
              <a:extLst>
                <a:ext uri="{FF2B5EF4-FFF2-40B4-BE49-F238E27FC236}">
                  <a16:creationId xmlns:a16="http://schemas.microsoft.com/office/drawing/2014/main" id="{0E4454C1-BF5C-9944-EB59-1B42F1E1C04F}"/>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2" name="椭圆 31">
              <a:extLst>
                <a:ext uri="{FF2B5EF4-FFF2-40B4-BE49-F238E27FC236}">
                  <a16:creationId xmlns:a16="http://schemas.microsoft.com/office/drawing/2014/main" id="{AE8C4253-B495-1257-3C75-57FEF11636E5}"/>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
        <p:nvSpPr>
          <p:cNvPr id="2" name="TextBox 13">
            <a:extLst>
              <a:ext uri="{FF2B5EF4-FFF2-40B4-BE49-F238E27FC236}">
                <a16:creationId xmlns:a16="http://schemas.microsoft.com/office/drawing/2014/main" id="{680B0641-4EC4-1541-2327-0B4243E9E437}"/>
              </a:ext>
            </a:extLst>
          </p:cNvPr>
          <p:cNvSpPr txBox="1"/>
          <p:nvPr/>
        </p:nvSpPr>
        <p:spPr>
          <a:xfrm>
            <a:off x="4419600" y="5453425"/>
            <a:ext cx="6917011" cy="1225848"/>
          </a:xfrm>
          <a:prstGeom prst="rect">
            <a:avLst/>
          </a:prstGeom>
        </p:spPr>
        <p:txBody>
          <a:bodyPr wrap="square" lIns="0" tIns="0" rIns="0" bIns="0" rtlCol="0" anchor="t">
            <a:spAutoFit/>
          </a:bodyPr>
          <a:lstStyle/>
          <a:p>
            <a:pPr algn="l">
              <a:lnSpc>
                <a:spcPct val="150000"/>
              </a:lnSpc>
              <a:spcBef>
                <a:spcPct val="0"/>
              </a:spcBef>
            </a:pPr>
            <a:r>
              <a:rPr lang="fr-FR"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4.1   Data Analysis &amp; Questionnaire Results</a:t>
            </a:r>
            <a:endPar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endParaRPr>
          </a:p>
          <a:p>
            <a:pPr algn="l">
              <a:lnSpc>
                <a:spcPct val="150000"/>
              </a:lnSpc>
              <a:spcBef>
                <a:spcPct val="0"/>
              </a:spcBef>
            </a:pPr>
            <a:r>
              <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4.2   Hypothesis testing and comparison</a:t>
            </a:r>
          </a:p>
        </p:txBody>
      </p:sp>
    </p:spTree>
    <p:extLst>
      <p:ext uri="{BB962C8B-B14F-4D97-AF65-F5344CB8AC3E}">
        <p14:creationId xmlns:p14="http://schemas.microsoft.com/office/powerpoint/2010/main" val="3676356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box 202"/>
          <p:cNvSpPr/>
          <p:nvPr/>
        </p:nvSpPr>
        <p:spPr>
          <a:xfrm>
            <a:off x="2201417" y="4069207"/>
            <a:ext cx="12396469" cy="2484120"/>
          </a:xfrm>
          <a:prstGeom prst="rect">
            <a:avLst/>
          </a:prstGeom>
          <a:noFill/>
          <a:ln w="0" cap="flat">
            <a:noFill/>
            <a:prstDash val="solid"/>
            <a:miter lim="0"/>
          </a:ln>
        </p:spPr>
        <p:txBody>
          <a:bodyPr vert="horz" wrap="square" lIns="0" tIns="0" rIns="0" bIns="0"/>
          <a:lstStyle/>
          <a:p>
            <a:pPr algn="l" rtl="0" eaLnBrk="0">
              <a:lnSpc>
                <a:spcPct val="57000"/>
              </a:lnSpc>
            </a:pPr>
            <a:endParaRPr sz="100" dirty="0">
              <a:latin typeface="Arial" panose="020B0604020202020204"/>
              <a:ea typeface="Arial" panose="020B0604020202020204"/>
              <a:cs typeface="Arial" panose="020B0604020202020204"/>
            </a:endParaRPr>
          </a:p>
          <a:p>
            <a:pPr marL="12700" algn="l" rtl="0" eaLnBrk="0">
              <a:lnSpc>
                <a:spcPct val="84000"/>
              </a:lnSpc>
            </a:pPr>
            <a:r>
              <a:rPr lang="en-US" sz="9000" b="1" kern="0" spc="-30" dirty="0">
                <a:solidFill>
                  <a:srgbClr val="000000">
                    <a:alpha val="100000"/>
                  </a:srgbClr>
                </a:solidFill>
                <a:latin typeface="Calibri" panose="020F0502020204030204"/>
                <a:ea typeface="Calibri" panose="020F0502020204030204"/>
                <a:cs typeface="Calibri" panose="020F0502020204030204"/>
              </a:rPr>
              <a:t>4</a:t>
            </a:r>
            <a:r>
              <a:rPr sz="9000" b="1" kern="0" spc="-30" dirty="0">
                <a:solidFill>
                  <a:srgbClr val="000000">
                    <a:alpha val="100000"/>
                  </a:srgbClr>
                </a:solidFill>
                <a:latin typeface="Calibri" panose="020F0502020204030204"/>
                <a:ea typeface="Calibri" panose="020F0502020204030204"/>
                <a:cs typeface="Calibri" panose="020F0502020204030204"/>
              </a:rPr>
              <a:t>.1</a:t>
            </a:r>
            <a:r>
              <a:rPr sz="9000" b="1" kern="0" spc="200" dirty="0">
                <a:solidFill>
                  <a:srgbClr val="000000">
                    <a:alpha val="100000"/>
                  </a:srgbClr>
                </a:solidFill>
                <a:latin typeface="Calibri" panose="020F0502020204030204"/>
                <a:ea typeface="Calibri" panose="020F0502020204030204"/>
                <a:cs typeface="Calibri" panose="020F0502020204030204"/>
              </a:rPr>
              <a:t>   </a:t>
            </a:r>
            <a:r>
              <a:rPr sz="8700" b="1" kern="0" spc="-30" dirty="0">
                <a:solidFill>
                  <a:srgbClr val="000000">
                    <a:alpha val="100000"/>
                  </a:srgbClr>
                </a:solidFill>
                <a:latin typeface="Calibri" panose="020F0502020204030204"/>
                <a:ea typeface="Calibri" panose="020F0502020204030204"/>
                <a:cs typeface="Calibri" panose="020F0502020204030204"/>
              </a:rPr>
              <a:t>Data Anal</a:t>
            </a:r>
            <a:r>
              <a:rPr sz="8700" b="1" kern="0" spc="-40" dirty="0">
                <a:solidFill>
                  <a:srgbClr val="000000">
                    <a:alpha val="100000"/>
                  </a:srgbClr>
                </a:solidFill>
                <a:latin typeface="Calibri" panose="020F0502020204030204"/>
                <a:ea typeface="Calibri" panose="020F0502020204030204"/>
                <a:cs typeface="Calibri" panose="020F0502020204030204"/>
              </a:rPr>
              <a:t>ysis &amp;</a:t>
            </a:r>
            <a:endParaRPr sz="8700" dirty="0">
              <a:latin typeface="Calibri" panose="020F0502020204030204"/>
              <a:ea typeface="Calibri" panose="020F0502020204030204"/>
              <a:cs typeface="Calibri" panose="020F0502020204030204"/>
            </a:endParaRPr>
          </a:p>
          <a:p>
            <a:pPr algn="r" rtl="0" eaLnBrk="0">
              <a:lnSpc>
                <a:spcPct val="84000"/>
              </a:lnSpc>
              <a:spcBef>
                <a:spcPts val="1550"/>
              </a:spcBef>
            </a:pPr>
            <a:r>
              <a:rPr sz="8700" b="1" kern="0" spc="-20" dirty="0">
                <a:solidFill>
                  <a:srgbClr val="000000">
                    <a:alpha val="100000"/>
                  </a:srgbClr>
                </a:solidFill>
                <a:latin typeface="Calibri" panose="020F0502020204030204"/>
                <a:ea typeface="Calibri" panose="020F0502020204030204"/>
                <a:cs typeface="Calibri" panose="020F0502020204030204"/>
              </a:rPr>
              <a:t>Questionnaire</a:t>
            </a:r>
            <a:r>
              <a:rPr sz="8700" b="1" kern="0" spc="640" dirty="0">
                <a:solidFill>
                  <a:srgbClr val="000000">
                    <a:alpha val="100000"/>
                  </a:srgbClr>
                </a:solidFill>
                <a:latin typeface="Calibri" panose="020F0502020204030204"/>
                <a:ea typeface="Calibri" panose="020F0502020204030204"/>
                <a:cs typeface="Calibri" panose="020F0502020204030204"/>
              </a:rPr>
              <a:t> </a:t>
            </a:r>
            <a:r>
              <a:rPr sz="8700" b="1" kern="0" spc="-20" dirty="0">
                <a:solidFill>
                  <a:srgbClr val="000000">
                    <a:alpha val="100000"/>
                  </a:srgbClr>
                </a:solidFill>
                <a:latin typeface="Calibri" panose="020F0502020204030204"/>
                <a:ea typeface="Calibri" panose="020F0502020204030204"/>
                <a:cs typeface="Calibri" panose="020F0502020204030204"/>
              </a:rPr>
              <a:t>R</a:t>
            </a:r>
            <a:r>
              <a:rPr sz="8700" b="1" kern="0" spc="-30" dirty="0">
                <a:solidFill>
                  <a:srgbClr val="000000">
                    <a:alpha val="100000"/>
                  </a:srgbClr>
                </a:solidFill>
                <a:latin typeface="Calibri" panose="020F0502020204030204"/>
                <a:ea typeface="Calibri" panose="020F0502020204030204"/>
                <a:cs typeface="Calibri" panose="020F0502020204030204"/>
              </a:rPr>
              <a:t>esults</a:t>
            </a:r>
            <a:endParaRPr sz="8700" dirty="0">
              <a:latin typeface="Calibri" panose="020F0502020204030204"/>
              <a:ea typeface="Calibri" panose="020F0502020204030204"/>
              <a:cs typeface="Calibri" panose="020F0502020204030204"/>
            </a:endParaRPr>
          </a:p>
        </p:txBody>
      </p:sp>
      <p:pic>
        <p:nvPicPr>
          <p:cNvPr id="204" name="picture 204"/>
          <p:cNvPicPr>
            <a:picLocks noChangeAspect="1"/>
          </p:cNvPicPr>
          <p:nvPr/>
        </p:nvPicPr>
        <p:blipFill>
          <a:blip r:embed="rId2"/>
          <a:stretch>
            <a:fillRect/>
          </a:stretch>
        </p:blipFill>
        <p:spPr>
          <a:xfrm rot="21600000">
            <a:off x="15608946" y="0"/>
            <a:ext cx="2679051" cy="10286997"/>
          </a:xfrm>
          <a:prstGeom prst="rect">
            <a:avLst/>
          </a:prstGeom>
        </p:spPr>
      </p:pic>
      <p:sp>
        <p:nvSpPr>
          <p:cNvPr id="206" name="rect 206"/>
          <p:cNvSpPr/>
          <p:nvPr/>
        </p:nvSpPr>
        <p:spPr>
          <a:xfrm>
            <a:off x="0" y="0"/>
            <a:ext cx="714375" cy="10286997"/>
          </a:xfrm>
          <a:prstGeom prst="rect">
            <a:avLst/>
          </a:prstGeom>
          <a:solidFill>
            <a:srgbClr val="203864">
              <a:alpha val="100000"/>
            </a:srgbClr>
          </a:solidFill>
          <a:ln w="0" cap="flat">
            <a:noFill/>
            <a:prstDash val="solid"/>
            <a:miter lim="0"/>
          </a:ln>
        </p:spPr>
        <p:txBody>
          <a:bodyPr rtlCol="0"/>
          <a:lstStyle/>
          <a:p>
            <a:pPr algn="ctr"/>
            <a:endParaRPr lang="zh-CN" altLang="en-US"/>
          </a:p>
        </p:txBody>
      </p:sp>
      <p:sp>
        <p:nvSpPr>
          <p:cNvPr id="208" name="textbox 208"/>
          <p:cNvSpPr/>
          <p:nvPr/>
        </p:nvSpPr>
        <p:spPr>
          <a:xfrm rot="5400000">
            <a:off x="-738314" y="8304631"/>
            <a:ext cx="2149475" cy="2927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2100" kern="0" spc="-90" dirty="0">
                <a:solidFill>
                  <a:srgbClr val="FFFFFF">
                    <a:alpha val="100000"/>
                  </a:srgbClr>
                </a:solidFill>
                <a:latin typeface="Calibri" panose="020F0502020204030204"/>
                <a:ea typeface="Calibri" panose="020F0502020204030204"/>
                <a:cs typeface="Calibri" panose="020F0502020204030204"/>
              </a:rPr>
              <a:t>A</a:t>
            </a:r>
            <a:r>
              <a:rPr sz="2100" kern="0" spc="10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I</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D</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M</a:t>
            </a:r>
            <a:r>
              <a:rPr sz="2100" kern="0" spc="1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7  4</a:t>
            </a:r>
            <a:r>
              <a:rPr sz="2100" kern="0" spc="1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8</a:t>
            </a:r>
            <a:r>
              <a:rPr sz="2100" kern="0" spc="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0</a:t>
            </a:r>
            <a:endParaRPr sz="2100" dirty="0">
              <a:latin typeface="Calibri" panose="020F0502020204030204"/>
              <a:ea typeface="Calibri" panose="020F0502020204030204"/>
              <a:cs typeface="Calibri" panose="020F0502020204030204"/>
            </a:endParaRPr>
          </a:p>
        </p:txBody>
      </p:sp>
      <p:sp>
        <p:nvSpPr>
          <p:cNvPr id="210" name="path 210"/>
          <p:cNvSpPr/>
          <p:nvPr/>
        </p:nvSpPr>
        <p:spPr>
          <a:xfrm>
            <a:off x="321462" y="4464685"/>
            <a:ext cx="71437" cy="2214625"/>
          </a:xfrm>
          <a:custGeom>
            <a:avLst/>
            <a:gdLst/>
            <a:ahLst/>
            <a:cxnLst/>
            <a:rect l="0" t="0" r="0" b="0"/>
            <a:pathLst>
              <a:path w="112" h="3487">
                <a:moveTo>
                  <a:pt x="0" y="56"/>
                </a:moveTo>
                <a:cubicBezTo>
                  <a:pt x="0" y="25"/>
                  <a:pt x="25" y="0"/>
                  <a:pt x="56" y="0"/>
                </a:cubicBezTo>
                <a:cubicBezTo>
                  <a:pt x="87" y="0"/>
                  <a:pt x="112" y="25"/>
                  <a:pt x="112" y="56"/>
                </a:cubicBezTo>
                <a:cubicBezTo>
                  <a:pt x="112" y="87"/>
                  <a:pt x="87" y="112"/>
                  <a:pt x="56" y="112"/>
                </a:cubicBezTo>
                <a:cubicBezTo>
                  <a:pt x="25" y="112"/>
                  <a:pt x="0" y="87"/>
                  <a:pt x="0" y="56"/>
                </a:cubicBezTo>
              </a:path>
              <a:path w="112" h="3487">
                <a:moveTo>
                  <a:pt x="0" y="731"/>
                </a:moveTo>
                <a:cubicBezTo>
                  <a:pt x="0" y="700"/>
                  <a:pt x="25" y="674"/>
                  <a:pt x="56" y="674"/>
                </a:cubicBezTo>
                <a:cubicBezTo>
                  <a:pt x="87" y="674"/>
                  <a:pt x="112" y="700"/>
                  <a:pt x="112" y="731"/>
                </a:cubicBezTo>
                <a:cubicBezTo>
                  <a:pt x="112" y="762"/>
                  <a:pt x="87" y="787"/>
                  <a:pt x="56" y="787"/>
                </a:cubicBezTo>
                <a:cubicBezTo>
                  <a:pt x="25" y="787"/>
                  <a:pt x="0" y="762"/>
                  <a:pt x="0" y="731"/>
                </a:cubicBezTo>
              </a:path>
              <a:path w="112" h="3487">
                <a:moveTo>
                  <a:pt x="0" y="1406"/>
                </a:moveTo>
                <a:cubicBezTo>
                  <a:pt x="0" y="1375"/>
                  <a:pt x="25" y="1350"/>
                  <a:pt x="56" y="1350"/>
                </a:cubicBezTo>
                <a:cubicBezTo>
                  <a:pt x="87" y="1350"/>
                  <a:pt x="112" y="1375"/>
                  <a:pt x="112" y="1406"/>
                </a:cubicBezTo>
                <a:cubicBezTo>
                  <a:pt x="112" y="1437"/>
                  <a:pt x="87" y="1462"/>
                  <a:pt x="56" y="1462"/>
                </a:cubicBezTo>
                <a:cubicBezTo>
                  <a:pt x="25" y="1462"/>
                  <a:pt x="0" y="1437"/>
                  <a:pt x="0" y="1406"/>
                </a:cubicBezTo>
              </a:path>
              <a:path w="112" h="3487">
                <a:moveTo>
                  <a:pt x="0" y="2081"/>
                </a:moveTo>
                <a:cubicBezTo>
                  <a:pt x="0" y="2050"/>
                  <a:pt x="25" y="2024"/>
                  <a:pt x="56" y="2024"/>
                </a:cubicBezTo>
                <a:cubicBezTo>
                  <a:pt x="87" y="2024"/>
                  <a:pt x="112" y="2050"/>
                  <a:pt x="112" y="2081"/>
                </a:cubicBezTo>
                <a:cubicBezTo>
                  <a:pt x="112" y="2112"/>
                  <a:pt x="87" y="2137"/>
                  <a:pt x="56" y="2137"/>
                </a:cubicBezTo>
                <a:cubicBezTo>
                  <a:pt x="25" y="2137"/>
                  <a:pt x="0" y="2112"/>
                  <a:pt x="0" y="2081"/>
                </a:cubicBezTo>
              </a:path>
              <a:path w="112" h="3487">
                <a:moveTo>
                  <a:pt x="0" y="2756"/>
                </a:moveTo>
                <a:cubicBezTo>
                  <a:pt x="0" y="2725"/>
                  <a:pt x="25" y="2700"/>
                  <a:pt x="56" y="2700"/>
                </a:cubicBezTo>
                <a:cubicBezTo>
                  <a:pt x="87" y="2700"/>
                  <a:pt x="112" y="2725"/>
                  <a:pt x="112" y="2756"/>
                </a:cubicBezTo>
                <a:cubicBezTo>
                  <a:pt x="112" y="2787"/>
                  <a:pt x="87" y="2812"/>
                  <a:pt x="56" y="2812"/>
                </a:cubicBezTo>
                <a:cubicBezTo>
                  <a:pt x="25" y="2812"/>
                  <a:pt x="0" y="2787"/>
                  <a:pt x="0" y="2756"/>
                </a:cubicBezTo>
              </a:path>
              <a:path w="112" h="3487">
                <a:moveTo>
                  <a:pt x="0" y="3431"/>
                </a:moveTo>
                <a:cubicBezTo>
                  <a:pt x="0" y="3400"/>
                  <a:pt x="25" y="3374"/>
                  <a:pt x="56" y="3374"/>
                </a:cubicBezTo>
                <a:cubicBezTo>
                  <a:pt x="87" y="3374"/>
                  <a:pt x="112" y="3400"/>
                  <a:pt x="112" y="3431"/>
                </a:cubicBezTo>
                <a:cubicBezTo>
                  <a:pt x="112" y="3462"/>
                  <a:pt x="87" y="3487"/>
                  <a:pt x="56" y="3487"/>
                </a:cubicBezTo>
                <a:cubicBezTo>
                  <a:pt x="25" y="3487"/>
                  <a:pt x="0" y="3462"/>
                  <a:pt x="0" y="3431"/>
                </a:cubicBezTo>
              </a:path>
            </a:pathLst>
          </a:custGeom>
          <a:solidFill>
            <a:srgbClr val="FFFFFF">
              <a:alpha val="100000"/>
            </a:srgbClr>
          </a:solidFill>
          <a:ln w="0" cap="flat">
            <a:noFill/>
            <a:prstDash val="solid"/>
            <a:miter lim="0"/>
          </a:ln>
        </p:spPr>
        <p:txBody>
          <a:bodyPr rtlCol="0"/>
          <a:lstStyle/>
          <a:p>
            <a:pPr algn="ctr"/>
            <a:endParaRPr lang="zh-CN" altLang="en-US"/>
          </a:p>
        </p:txBody>
      </p:sp>
    </p:spTree>
    <p:extLst>
      <p:ext uri="{BB962C8B-B14F-4D97-AF65-F5344CB8AC3E}">
        <p14:creationId xmlns:p14="http://schemas.microsoft.com/office/powerpoint/2010/main" val="1091011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1793876" y="1563094"/>
            <a:ext cx="6172200" cy="883285"/>
          </a:xfrm>
          <a:prstGeom prst="rect">
            <a:avLst/>
          </a:prstGeom>
        </p:spPr>
        <p:txBody>
          <a:bodyPr lIns="0" tIns="0" rIns="0" bIns="0" rtlCol="0" anchor="ctr"/>
          <a:lstStyle/>
          <a:p>
            <a:pPr algn="l">
              <a:lnSpc>
                <a:spcPts val="7200"/>
              </a:lnSpc>
            </a:pPr>
            <a:r>
              <a:rPr lang="en-US" sz="4800" b="1" dirty="0">
                <a:solidFill>
                  <a:srgbClr val="203864"/>
                </a:solidFill>
                <a:latin typeface="Arial Bold" panose="020B0704020202020204"/>
                <a:ea typeface="Arial Bold" panose="020B0704020202020204"/>
                <a:cs typeface="Arial Bold" panose="020B0704020202020204"/>
                <a:sym typeface="Arial Bold" panose="020B0704020202020204"/>
              </a:rPr>
              <a:t>Sample distribution</a:t>
            </a:r>
          </a:p>
        </p:txBody>
      </p:sp>
      <p:sp>
        <p:nvSpPr>
          <p:cNvPr id="14" name="TextBox 14"/>
          <p:cNvSpPr txBox="1"/>
          <p:nvPr/>
        </p:nvSpPr>
        <p:spPr>
          <a:xfrm>
            <a:off x="1793876" y="2764422"/>
            <a:ext cx="14284324" cy="3505199"/>
          </a:xfrm>
          <a:prstGeom prst="rect">
            <a:avLst/>
          </a:prstGeom>
        </p:spPr>
        <p:txBody>
          <a:bodyPr lIns="0" tIns="0" rIns="0" bIns="0" rtlCol="0" anchor="ctr"/>
          <a:lstStyle/>
          <a:p>
            <a:pPr marL="342900" indent="-342900">
              <a:lnSpc>
                <a:spcPts val="3600"/>
              </a:lnSpc>
              <a:buFont typeface="Arial" panose="020B0604020202020204" pitchFamily="34" charset="0"/>
              <a:buChar char="•"/>
            </a:pPr>
            <a:r>
              <a:rPr lang="en-US" sz="2400" dirty="0">
                <a:solidFill>
                  <a:srgbClr val="000000"/>
                </a:solidFill>
                <a:latin typeface="Arial" panose="020B0604020202020204"/>
                <a:ea typeface="Arial" panose="020B0604020202020204"/>
                <a:cs typeface="Arial" panose="020B0604020202020204"/>
                <a:sym typeface="Arial" panose="020B0604020202020204"/>
              </a:rPr>
              <a:t>Filter forms with reasonable filling time, reasonable answers, and complete filling;</a:t>
            </a:r>
          </a:p>
          <a:p>
            <a:pPr marL="342900" indent="-342900">
              <a:lnSpc>
                <a:spcPts val="3600"/>
              </a:lnSpc>
              <a:buFont typeface="Arial" panose="020B0604020202020204" pitchFamily="34" charset="0"/>
              <a:buChar char="•"/>
            </a:pPr>
            <a:r>
              <a:rPr lang="en-US" sz="2400" dirty="0">
                <a:solidFill>
                  <a:srgbClr val="000000"/>
                </a:solidFill>
                <a:latin typeface="Arial" panose="020B0604020202020204"/>
                <a:ea typeface="Arial" panose="020B0604020202020204"/>
                <a:cs typeface="Arial" panose="020B0604020202020204"/>
                <a:sym typeface="Arial" panose="020B0604020202020204"/>
              </a:rPr>
              <a:t>Calculate basic statistical information in the original table:</a:t>
            </a:r>
          </a:p>
          <a:p>
            <a:pPr marL="914400" lvl="1" indent="-457200">
              <a:lnSpc>
                <a:spcPts val="3600"/>
              </a:lnSpc>
              <a:buFont typeface="+mj-lt"/>
              <a:buAutoNum type="arabicPeriod"/>
            </a:pPr>
            <a:r>
              <a:rPr lang="en-US" sz="2400" dirty="0">
                <a:solidFill>
                  <a:srgbClr val="000000"/>
                </a:solidFill>
                <a:latin typeface="Arial" panose="020B0604020202020204"/>
                <a:ea typeface="Arial" panose="020B0604020202020204"/>
                <a:cs typeface="Arial" panose="020B0604020202020204"/>
                <a:sym typeface="Arial" panose="020B0604020202020204"/>
              </a:rPr>
              <a:t>The original 224 pieces of data (including 15 previews), now 209 pieces of data, 170 usable data, with a loss of 18.66%;</a:t>
            </a:r>
          </a:p>
          <a:p>
            <a:pPr marL="914400" lvl="1" indent="-457200">
              <a:lnSpc>
                <a:spcPts val="3600"/>
              </a:lnSpc>
              <a:buFont typeface="+mj-lt"/>
              <a:buAutoNum type="arabicPeriod"/>
            </a:pPr>
            <a:r>
              <a:rPr lang="en-US" sz="2400" dirty="0">
                <a:solidFill>
                  <a:srgbClr val="000000"/>
                </a:solidFill>
                <a:latin typeface="Arial" panose="020B0604020202020204"/>
                <a:ea typeface="Arial" panose="020B0604020202020204"/>
                <a:cs typeface="Arial" panose="020B0604020202020204"/>
                <a:sym typeface="Arial" panose="020B0604020202020204"/>
              </a:rPr>
              <a:t>The average daily usage time of XHS is </a:t>
            </a:r>
            <a:r>
              <a:rPr lang="en-US" sz="2400" b="1" dirty="0">
                <a:solidFill>
                  <a:srgbClr val="1E3A8A"/>
                </a:solidFill>
                <a:latin typeface="Arial Bold" panose="020B0704020202020204"/>
                <a:cs typeface="Arial Bold" panose="020B0704020202020204"/>
                <a:sym typeface="Arial" panose="020B0604020202020204"/>
              </a:rPr>
              <a:t>3.5</a:t>
            </a:r>
            <a:r>
              <a:rPr lang="en-US" sz="2400" dirty="0">
                <a:solidFill>
                  <a:srgbClr val="000000"/>
                </a:solidFill>
                <a:latin typeface="Arial" panose="020B0604020202020204"/>
                <a:ea typeface="Arial" panose="020B0604020202020204"/>
                <a:cs typeface="Arial" panose="020B0604020202020204"/>
                <a:sym typeface="Arial" panose="020B0604020202020204"/>
              </a:rPr>
              <a:t> hours, with the majority being </a:t>
            </a:r>
            <a:r>
              <a:rPr lang="en-US" sz="2400" b="1" dirty="0">
                <a:solidFill>
                  <a:srgbClr val="1E3A8A"/>
                </a:solidFill>
                <a:latin typeface="Arial Bold" panose="020B0704020202020204"/>
                <a:cs typeface="Arial Bold" panose="020B0704020202020204"/>
                <a:sym typeface="Arial" panose="020B0604020202020204"/>
              </a:rPr>
              <a:t>4</a:t>
            </a:r>
            <a:r>
              <a:rPr lang="en-US" sz="2400" dirty="0">
                <a:solidFill>
                  <a:srgbClr val="000000"/>
                </a:solidFill>
                <a:latin typeface="Arial" panose="020B0604020202020204"/>
                <a:ea typeface="Arial" panose="020B0604020202020204"/>
                <a:cs typeface="Arial" panose="020B0604020202020204"/>
                <a:sym typeface="Arial" panose="020B0604020202020204"/>
              </a:rPr>
              <a:t> hours (mode);</a:t>
            </a:r>
          </a:p>
          <a:p>
            <a:pPr marL="914400" lvl="1" indent="-457200">
              <a:lnSpc>
                <a:spcPts val="3600"/>
              </a:lnSpc>
              <a:buFont typeface="+mj-lt"/>
              <a:buAutoNum type="arabicPeriod"/>
            </a:pPr>
            <a:r>
              <a:rPr lang="en-US" sz="2400" dirty="0">
                <a:solidFill>
                  <a:srgbClr val="000000"/>
                </a:solidFill>
                <a:latin typeface="Arial" panose="020B0604020202020204"/>
                <a:ea typeface="Arial" panose="020B0604020202020204"/>
                <a:cs typeface="Arial" panose="020B0604020202020204"/>
                <a:sym typeface="Arial" panose="020B0604020202020204"/>
              </a:rPr>
              <a:t>The average age of users participating in the questionnaire is </a:t>
            </a:r>
            <a:r>
              <a:rPr lang="en-US" sz="2400" b="1" dirty="0">
                <a:solidFill>
                  <a:srgbClr val="1E3A8A"/>
                </a:solidFill>
                <a:latin typeface="Arial Bold" panose="020B0704020202020204"/>
                <a:cs typeface="Arial Bold" panose="020B0704020202020204"/>
                <a:sym typeface="Arial" panose="020B0604020202020204"/>
              </a:rPr>
              <a:t>25</a:t>
            </a:r>
            <a:r>
              <a:rPr lang="en-US" sz="2400" dirty="0">
                <a:solidFill>
                  <a:srgbClr val="000000"/>
                </a:solidFill>
                <a:latin typeface="Arial" panose="020B0604020202020204"/>
                <a:ea typeface="Arial" panose="020B0604020202020204"/>
                <a:cs typeface="Arial" panose="020B0604020202020204"/>
                <a:sym typeface="Arial" panose="020B0604020202020204"/>
              </a:rPr>
              <a:t> (mean &amp; mode);</a:t>
            </a:r>
          </a:p>
          <a:p>
            <a:pPr marL="914400" lvl="1" indent="-457200">
              <a:lnSpc>
                <a:spcPts val="3600"/>
              </a:lnSpc>
              <a:buFont typeface="+mj-lt"/>
              <a:buAutoNum type="arabicPeriod"/>
            </a:pPr>
            <a:r>
              <a:rPr lang="en-US" sz="2400" dirty="0">
                <a:solidFill>
                  <a:srgbClr val="000000"/>
                </a:solidFill>
                <a:latin typeface="Arial" panose="020B0604020202020204"/>
                <a:ea typeface="Arial" panose="020B0604020202020204"/>
                <a:cs typeface="Arial" panose="020B0604020202020204"/>
                <a:sym typeface="Arial" panose="020B0604020202020204"/>
              </a:rPr>
              <a:t>Among them, more </a:t>
            </a:r>
            <a:r>
              <a:rPr lang="zh-CN" altLang="en-US" sz="2400" b="1" dirty="0">
                <a:solidFill>
                  <a:srgbClr val="1E3A8A"/>
                </a:solidFill>
                <a:latin typeface="Arial Bold" panose="020B0704020202020204"/>
                <a:cs typeface="Arial Bold" panose="020B0704020202020204"/>
                <a:sym typeface="Arial" panose="020B0604020202020204"/>
              </a:rPr>
              <a:t>♀</a:t>
            </a:r>
            <a:r>
              <a:rPr lang="en-US" sz="2400" b="1" dirty="0">
                <a:solidFill>
                  <a:srgbClr val="1E3A8A"/>
                </a:solidFill>
                <a:latin typeface="Arial Bold" panose="020B0704020202020204"/>
                <a:cs typeface="Arial Bold" panose="020B0704020202020204"/>
                <a:sym typeface="Arial" panose="020B0604020202020204"/>
              </a:rPr>
              <a:t> </a:t>
            </a:r>
            <a:r>
              <a:rPr lang="en-US" sz="2400" dirty="0">
                <a:solidFill>
                  <a:srgbClr val="000000"/>
                </a:solidFill>
                <a:latin typeface="Arial" panose="020B0604020202020204"/>
                <a:ea typeface="Arial" panose="020B0604020202020204"/>
                <a:cs typeface="Arial" panose="020B0604020202020204"/>
                <a:sym typeface="Arial" panose="020B0604020202020204"/>
              </a:rPr>
              <a:t>participated in the questionnaire (</a:t>
            </a:r>
            <a:r>
              <a:rPr lang="en-US" sz="2400" b="1" dirty="0">
                <a:solidFill>
                  <a:srgbClr val="1E3A8A"/>
                </a:solidFill>
                <a:latin typeface="Arial Bold" panose="020B0704020202020204"/>
                <a:cs typeface="Arial Bold" panose="020B0704020202020204"/>
                <a:sym typeface="Arial" panose="020B0604020202020204"/>
              </a:rPr>
              <a:t>80%</a:t>
            </a:r>
            <a:r>
              <a:rPr lang="en-US" sz="2400" dirty="0">
                <a:solidFill>
                  <a:srgbClr val="000000"/>
                </a:solidFill>
                <a:latin typeface="Arial" panose="020B0604020202020204"/>
                <a:ea typeface="Arial" panose="020B0604020202020204"/>
                <a:cs typeface="Arial" panose="020B0604020202020204"/>
                <a:sym typeface="Arial" panose="020B0604020202020204"/>
              </a:rPr>
              <a:t>). </a:t>
            </a:r>
          </a:p>
        </p:txBody>
      </p:sp>
      <p:sp>
        <p:nvSpPr>
          <p:cNvPr id="16" name="Freeform 16"/>
          <p:cNvSpPr/>
          <p:nvPr/>
        </p:nvSpPr>
        <p:spPr>
          <a:xfrm>
            <a:off x="1793876" y="6772300"/>
            <a:ext cx="6892925" cy="2286000"/>
          </a:xfrm>
          <a:custGeom>
            <a:avLst/>
            <a:gdLst/>
            <a:ahLst/>
            <a:cxnLst/>
            <a:rect l="l" t="t" r="r" b="b"/>
            <a:pathLst>
              <a:path w="9652000" h="3048000">
                <a:moveTo>
                  <a:pt x="0" y="254000"/>
                </a:moveTo>
                <a:cubicBezTo>
                  <a:pt x="0" y="113665"/>
                  <a:pt x="114300" y="0"/>
                  <a:pt x="255397" y="0"/>
                </a:cubicBezTo>
                <a:lnTo>
                  <a:pt x="9396603" y="0"/>
                </a:lnTo>
                <a:cubicBezTo>
                  <a:pt x="9537700" y="0"/>
                  <a:pt x="9652000" y="113665"/>
                  <a:pt x="9652000" y="254000"/>
                </a:cubicBezTo>
                <a:lnTo>
                  <a:pt x="9652000" y="2794000"/>
                </a:lnTo>
                <a:cubicBezTo>
                  <a:pt x="9652000" y="2934335"/>
                  <a:pt x="9537700" y="3048000"/>
                  <a:pt x="9396603" y="3048000"/>
                </a:cubicBezTo>
                <a:lnTo>
                  <a:pt x="255397" y="3048000"/>
                </a:lnTo>
                <a:cubicBezTo>
                  <a:pt x="114300" y="3048000"/>
                  <a:pt x="0" y="2934335"/>
                  <a:pt x="0" y="2794000"/>
                </a:cubicBezTo>
                <a:close/>
              </a:path>
            </a:pathLst>
          </a:custGeom>
          <a:solidFill>
            <a:srgbClr val="FFFFFF"/>
          </a:solidFill>
          <a:ln>
            <a:solidFill>
              <a:schemeClr val="bg1">
                <a:lumMod val="95000"/>
              </a:schemeClr>
            </a:solidFill>
          </a:ln>
        </p:spPr>
      </p:sp>
      <p:sp>
        <p:nvSpPr>
          <p:cNvPr id="21" name="TextBox 21"/>
          <p:cNvSpPr txBox="1"/>
          <p:nvPr/>
        </p:nvSpPr>
        <p:spPr>
          <a:xfrm>
            <a:off x="3514960" y="7128297"/>
            <a:ext cx="4339859" cy="1574006"/>
          </a:xfrm>
          <a:prstGeom prst="rect">
            <a:avLst/>
          </a:prstGeom>
        </p:spPr>
        <p:txBody>
          <a:bodyPr lIns="0" tIns="0" rIns="0" bIns="0" rtlCol="0" anchor="ctr"/>
          <a:lstStyle/>
          <a:p>
            <a:pPr algn="l">
              <a:lnSpc>
                <a:spcPts val="3600"/>
              </a:lnSpc>
            </a:pPr>
            <a:r>
              <a:rPr lang="en-US" sz="2400" b="1" dirty="0">
                <a:solidFill>
                  <a:srgbClr val="203864"/>
                </a:solidFill>
                <a:latin typeface="Noto Sans Bold" panose="020B0802040504020204"/>
                <a:ea typeface="Noto Sans Bold" panose="020B0802040504020204"/>
                <a:cs typeface="Noto Sans Bold" panose="020B0802040504020204"/>
                <a:sym typeface="Noto Sans Bold" panose="020B0802040504020204"/>
              </a:rPr>
              <a:t>Image and Text Post Group </a:t>
            </a:r>
          </a:p>
          <a:p>
            <a:pPr algn="l">
              <a:lnSpc>
                <a:spcPts val="3600"/>
              </a:lnSpc>
            </a:pPr>
            <a:r>
              <a:rPr lang="en-US" sz="2400" b="1" dirty="0">
                <a:solidFill>
                  <a:srgbClr val="203864"/>
                </a:solidFill>
                <a:latin typeface="Noto Sans Bold" panose="020B0802040504020204"/>
                <a:ea typeface="Noto Sans Bold" panose="020B0802040504020204"/>
                <a:cs typeface="Noto Sans Bold" panose="020B0802040504020204"/>
                <a:sym typeface="Noto Sans Bold" panose="020B0802040504020204"/>
              </a:rPr>
              <a:t>(Group A)</a:t>
            </a:r>
          </a:p>
          <a:p>
            <a:pPr algn="l">
              <a:lnSpc>
                <a:spcPts val="3600"/>
              </a:lnSpc>
            </a:pPr>
            <a:r>
              <a:rPr lang="en-US" sz="2400" dirty="0">
                <a:solidFill>
                  <a:srgbClr val="4B5563"/>
                </a:solidFill>
                <a:latin typeface="Noto Sans" panose="020B0502040504020204"/>
                <a:ea typeface="Noto Sans" panose="020B0502040504020204"/>
                <a:cs typeface="Noto Sans" panose="020B0502040504020204"/>
                <a:sym typeface="Noto Sans" panose="020B0502040504020204"/>
              </a:rPr>
              <a:t>Number of people: 88</a:t>
            </a:r>
          </a:p>
        </p:txBody>
      </p:sp>
      <p:sp>
        <p:nvSpPr>
          <p:cNvPr id="26" name="Freeform 26"/>
          <p:cNvSpPr/>
          <p:nvPr/>
        </p:nvSpPr>
        <p:spPr>
          <a:xfrm>
            <a:off x="9372600" y="6772300"/>
            <a:ext cx="6705600" cy="2286000"/>
          </a:xfrm>
          <a:custGeom>
            <a:avLst/>
            <a:gdLst/>
            <a:ahLst/>
            <a:cxnLst/>
            <a:rect l="l" t="t" r="r" b="b"/>
            <a:pathLst>
              <a:path w="9652000" h="3048000">
                <a:moveTo>
                  <a:pt x="0" y="254000"/>
                </a:moveTo>
                <a:cubicBezTo>
                  <a:pt x="0" y="113665"/>
                  <a:pt x="114300" y="0"/>
                  <a:pt x="255397" y="0"/>
                </a:cubicBezTo>
                <a:lnTo>
                  <a:pt x="9396603" y="0"/>
                </a:lnTo>
                <a:cubicBezTo>
                  <a:pt x="9537700" y="0"/>
                  <a:pt x="9652000" y="113665"/>
                  <a:pt x="9652000" y="254000"/>
                </a:cubicBezTo>
                <a:lnTo>
                  <a:pt x="9652000" y="2794000"/>
                </a:lnTo>
                <a:cubicBezTo>
                  <a:pt x="9652000" y="2934335"/>
                  <a:pt x="9537700" y="3048000"/>
                  <a:pt x="9396603" y="3048000"/>
                </a:cubicBezTo>
                <a:lnTo>
                  <a:pt x="255397" y="3048000"/>
                </a:lnTo>
                <a:cubicBezTo>
                  <a:pt x="114300" y="3048000"/>
                  <a:pt x="0" y="2934335"/>
                  <a:pt x="0" y="2794000"/>
                </a:cubicBezTo>
                <a:close/>
              </a:path>
            </a:pathLst>
          </a:custGeom>
          <a:solidFill>
            <a:srgbClr val="FFFFFF"/>
          </a:solidFill>
          <a:ln>
            <a:solidFill>
              <a:schemeClr val="bg1">
                <a:lumMod val="95000"/>
              </a:schemeClr>
            </a:solidFill>
          </a:ln>
        </p:spPr>
      </p:sp>
      <p:sp>
        <p:nvSpPr>
          <p:cNvPr id="31" name="TextBox 31"/>
          <p:cNvSpPr txBox="1"/>
          <p:nvPr/>
        </p:nvSpPr>
        <p:spPr>
          <a:xfrm>
            <a:off x="11277600" y="7128297"/>
            <a:ext cx="3657599" cy="1574006"/>
          </a:xfrm>
          <a:prstGeom prst="rect">
            <a:avLst/>
          </a:prstGeom>
        </p:spPr>
        <p:txBody>
          <a:bodyPr lIns="0" tIns="0" rIns="0" bIns="0" rtlCol="0" anchor="ctr"/>
          <a:lstStyle/>
          <a:p>
            <a:pPr algn="l">
              <a:lnSpc>
                <a:spcPts val="3600"/>
              </a:lnSpc>
            </a:pPr>
            <a:r>
              <a:rPr lang="en-US" sz="2400" b="1" dirty="0">
                <a:solidFill>
                  <a:srgbClr val="203864"/>
                </a:solidFill>
                <a:latin typeface="Noto Sans Bold" panose="020B0802040504020204"/>
                <a:ea typeface="Noto Sans Bold" panose="020B0802040504020204"/>
                <a:cs typeface="Noto Sans Bold" panose="020B0802040504020204"/>
                <a:sym typeface="Noto Sans Bold" panose="020B0802040504020204"/>
              </a:rPr>
              <a:t>Short Video Post Group</a:t>
            </a:r>
          </a:p>
          <a:p>
            <a:pPr algn="l">
              <a:lnSpc>
                <a:spcPts val="3600"/>
              </a:lnSpc>
            </a:pPr>
            <a:r>
              <a:rPr lang="en-US" sz="2400" b="1" dirty="0">
                <a:solidFill>
                  <a:srgbClr val="203864"/>
                </a:solidFill>
                <a:latin typeface="Noto Sans Bold" panose="020B0802040504020204"/>
                <a:ea typeface="Noto Sans Bold" panose="020B0802040504020204"/>
                <a:cs typeface="Noto Sans Bold" panose="020B0802040504020204"/>
                <a:sym typeface="Noto Sans Bold" panose="020B0802040504020204"/>
              </a:rPr>
              <a:t> (Group B)</a:t>
            </a:r>
          </a:p>
          <a:p>
            <a:pPr algn="l">
              <a:lnSpc>
                <a:spcPts val="3600"/>
              </a:lnSpc>
            </a:pPr>
            <a:r>
              <a:rPr lang="en-US" sz="2400" dirty="0">
                <a:solidFill>
                  <a:srgbClr val="4B5563"/>
                </a:solidFill>
                <a:latin typeface="Noto Sans" panose="020B0502040504020204"/>
                <a:ea typeface="Noto Sans" panose="020B0502040504020204"/>
                <a:cs typeface="Noto Sans" panose="020B0502040504020204"/>
                <a:sym typeface="Noto Sans" panose="020B0502040504020204"/>
              </a:rPr>
              <a:t>Number of people: 82</a:t>
            </a:r>
          </a:p>
        </p:txBody>
      </p:sp>
      <p:sp>
        <p:nvSpPr>
          <p:cNvPr id="32" name="矩形 31">
            <a:extLst>
              <a:ext uri="{FF2B5EF4-FFF2-40B4-BE49-F238E27FC236}">
                <a16:creationId xmlns:a16="http://schemas.microsoft.com/office/drawing/2014/main" id="{1756A0F6-6A73-5848-4486-C5B0FA1E8D97}"/>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sp>
        <p:nvSpPr>
          <p:cNvPr id="33" name="矩形 32">
            <a:extLst>
              <a:ext uri="{FF2B5EF4-FFF2-40B4-BE49-F238E27FC236}">
                <a16:creationId xmlns:a16="http://schemas.microsoft.com/office/drawing/2014/main" id="{DE973CF9-DADE-1D73-A86B-1E63DBA6A48E}"/>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34" name="组合 33">
            <a:extLst>
              <a:ext uri="{FF2B5EF4-FFF2-40B4-BE49-F238E27FC236}">
                <a16:creationId xmlns:a16="http://schemas.microsoft.com/office/drawing/2014/main" id="{6E7B8E91-8475-7BCB-5C52-B6E2FA9C0A5E}"/>
              </a:ext>
            </a:extLst>
          </p:cNvPr>
          <p:cNvGrpSpPr/>
          <p:nvPr/>
        </p:nvGrpSpPr>
        <p:grpSpPr>
          <a:xfrm>
            <a:off x="321467" y="4464710"/>
            <a:ext cx="71438" cy="2214563"/>
            <a:chOff x="214311" y="3257550"/>
            <a:chExt cx="47625" cy="1476375"/>
          </a:xfrm>
        </p:grpSpPr>
        <p:sp>
          <p:nvSpPr>
            <p:cNvPr id="35" name="椭圆 34">
              <a:extLst>
                <a:ext uri="{FF2B5EF4-FFF2-40B4-BE49-F238E27FC236}">
                  <a16:creationId xmlns:a16="http://schemas.microsoft.com/office/drawing/2014/main" id="{5DB58651-2602-FC80-2A39-86AB75662E53}"/>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36" name="椭圆 35">
              <a:extLst>
                <a:ext uri="{FF2B5EF4-FFF2-40B4-BE49-F238E27FC236}">
                  <a16:creationId xmlns:a16="http://schemas.microsoft.com/office/drawing/2014/main" id="{8071412E-16F1-511A-80BF-DA18F70DB8D0}"/>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7" name="椭圆 36">
              <a:extLst>
                <a:ext uri="{FF2B5EF4-FFF2-40B4-BE49-F238E27FC236}">
                  <a16:creationId xmlns:a16="http://schemas.microsoft.com/office/drawing/2014/main" id="{37CB3046-EC37-9373-83F8-DB3F0DE3840E}"/>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8" name="椭圆 37">
              <a:extLst>
                <a:ext uri="{FF2B5EF4-FFF2-40B4-BE49-F238E27FC236}">
                  <a16:creationId xmlns:a16="http://schemas.microsoft.com/office/drawing/2014/main" id="{89088BC9-A864-6986-74B9-CFE8FA258E88}"/>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9" name="椭圆 38">
              <a:extLst>
                <a:ext uri="{FF2B5EF4-FFF2-40B4-BE49-F238E27FC236}">
                  <a16:creationId xmlns:a16="http://schemas.microsoft.com/office/drawing/2014/main" id="{4A0F736E-047A-4D9D-5B7C-E4960243473F}"/>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40" name="椭圆 39">
              <a:extLst>
                <a:ext uri="{FF2B5EF4-FFF2-40B4-BE49-F238E27FC236}">
                  <a16:creationId xmlns:a16="http://schemas.microsoft.com/office/drawing/2014/main" id="{294437C5-87A6-DFBD-F9CE-29D7D723F654}"/>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
        <p:nvSpPr>
          <p:cNvPr id="2" name="Freeform 18">
            <a:extLst>
              <a:ext uri="{FF2B5EF4-FFF2-40B4-BE49-F238E27FC236}">
                <a16:creationId xmlns:a16="http://schemas.microsoft.com/office/drawing/2014/main" id="{404D2265-6FF9-6B90-6E69-5EE07F0EF3DB}"/>
              </a:ext>
            </a:extLst>
          </p:cNvPr>
          <p:cNvSpPr/>
          <p:nvPr/>
        </p:nvSpPr>
        <p:spPr>
          <a:xfrm>
            <a:off x="2353040" y="7632933"/>
            <a:ext cx="579189" cy="564734"/>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28">
            <a:extLst>
              <a:ext uri="{FF2B5EF4-FFF2-40B4-BE49-F238E27FC236}">
                <a16:creationId xmlns:a16="http://schemas.microsoft.com/office/drawing/2014/main" id="{552CA779-01C1-EDE6-6C7F-DF3F66B16B50}"/>
              </a:ext>
            </a:extLst>
          </p:cNvPr>
          <p:cNvSpPr/>
          <p:nvPr/>
        </p:nvSpPr>
        <p:spPr>
          <a:xfrm>
            <a:off x="10031254" y="7632933"/>
            <a:ext cx="587692" cy="5810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576633" y="1523048"/>
            <a:ext cx="7719767" cy="997744"/>
          </a:xfrm>
          <a:prstGeom prst="rect">
            <a:avLst/>
          </a:prstGeom>
        </p:spPr>
        <p:txBody>
          <a:bodyPr lIns="0" tIns="0" rIns="0" bIns="0" rtlCol="0" anchor="ctr"/>
          <a:lstStyle/>
          <a:p>
            <a:pPr algn="l">
              <a:lnSpc>
                <a:spcPts val="7200"/>
              </a:lnSpc>
            </a:pPr>
            <a:r>
              <a:rPr lang="en-US" sz="48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Arial Bold" panose="020B0704020202020204"/>
              </a:rPr>
              <a:t>Reliability Test (Cronbach’s α)</a:t>
            </a:r>
          </a:p>
        </p:txBody>
      </p:sp>
      <p:grpSp>
        <p:nvGrpSpPr>
          <p:cNvPr id="13" name="Group 13"/>
          <p:cNvGrpSpPr/>
          <p:nvPr/>
        </p:nvGrpSpPr>
        <p:grpSpPr>
          <a:xfrm>
            <a:off x="1576633" y="6972300"/>
            <a:ext cx="15763875" cy="1689735"/>
            <a:chOff x="-50800" y="1543473"/>
            <a:chExt cx="21361400" cy="2252980"/>
          </a:xfrm>
        </p:grpSpPr>
        <p:sp>
          <p:nvSpPr>
            <p:cNvPr id="14" name="Freeform 14"/>
            <p:cNvSpPr/>
            <p:nvPr/>
          </p:nvSpPr>
          <p:spPr>
            <a:xfrm>
              <a:off x="-38100" y="1556173"/>
              <a:ext cx="21336000" cy="2227580"/>
            </a:xfrm>
            <a:custGeom>
              <a:avLst/>
              <a:gdLst/>
              <a:ahLst/>
              <a:cxnLst/>
              <a:rect l="l" t="t" r="r" b="b"/>
              <a:pathLst>
                <a:path w="21336000" h="2227580">
                  <a:moveTo>
                    <a:pt x="0" y="371221"/>
                  </a:moveTo>
                  <a:cubicBezTo>
                    <a:pt x="0" y="166243"/>
                    <a:pt x="167894" y="0"/>
                    <a:pt x="375031" y="0"/>
                  </a:cubicBezTo>
                  <a:lnTo>
                    <a:pt x="20960969" y="0"/>
                  </a:lnTo>
                  <a:cubicBezTo>
                    <a:pt x="21168106" y="0"/>
                    <a:pt x="21336000" y="166243"/>
                    <a:pt x="21336000" y="371221"/>
                  </a:cubicBezTo>
                  <a:lnTo>
                    <a:pt x="21336000" y="1856359"/>
                  </a:lnTo>
                  <a:cubicBezTo>
                    <a:pt x="21336000" y="2061337"/>
                    <a:pt x="21168106" y="2227580"/>
                    <a:pt x="20960969" y="2227580"/>
                  </a:cubicBezTo>
                  <a:lnTo>
                    <a:pt x="375031" y="2227580"/>
                  </a:lnTo>
                  <a:cubicBezTo>
                    <a:pt x="167894" y="2227580"/>
                    <a:pt x="0" y="2061337"/>
                    <a:pt x="0" y="1856359"/>
                  </a:cubicBezTo>
                  <a:close/>
                </a:path>
              </a:pathLst>
            </a:custGeom>
            <a:solidFill>
              <a:srgbClr val="F3F4F6"/>
            </a:solidFill>
          </p:spPr>
        </p:sp>
        <p:sp>
          <p:nvSpPr>
            <p:cNvPr id="15" name="Freeform 15"/>
            <p:cNvSpPr/>
            <p:nvPr/>
          </p:nvSpPr>
          <p:spPr>
            <a:xfrm>
              <a:off x="-50800" y="1543473"/>
              <a:ext cx="21361400" cy="2252980"/>
            </a:xfrm>
            <a:custGeom>
              <a:avLst/>
              <a:gdLst/>
              <a:ahLst/>
              <a:cxnLst/>
              <a:rect l="l" t="t" r="r" b="b"/>
              <a:pathLst>
                <a:path w="21361400" h="2252980">
                  <a:moveTo>
                    <a:pt x="0" y="383921"/>
                  </a:moveTo>
                  <a:cubicBezTo>
                    <a:pt x="0" y="171831"/>
                    <a:pt x="173736" y="0"/>
                    <a:pt x="387731" y="0"/>
                  </a:cubicBezTo>
                  <a:lnTo>
                    <a:pt x="20973669" y="0"/>
                  </a:lnTo>
                  <a:lnTo>
                    <a:pt x="20973669" y="12700"/>
                  </a:lnTo>
                  <a:lnTo>
                    <a:pt x="20973669" y="0"/>
                  </a:lnTo>
                  <a:cubicBezTo>
                    <a:pt x="21187663" y="0"/>
                    <a:pt x="21361400" y="171831"/>
                    <a:pt x="21361400" y="383921"/>
                  </a:cubicBezTo>
                  <a:lnTo>
                    <a:pt x="21348700" y="383921"/>
                  </a:lnTo>
                  <a:lnTo>
                    <a:pt x="21361400" y="383921"/>
                  </a:lnTo>
                  <a:lnTo>
                    <a:pt x="21361400" y="1869059"/>
                  </a:lnTo>
                  <a:lnTo>
                    <a:pt x="21348700" y="1869059"/>
                  </a:lnTo>
                  <a:lnTo>
                    <a:pt x="21361400" y="1869059"/>
                  </a:lnTo>
                  <a:cubicBezTo>
                    <a:pt x="21361400" y="2081276"/>
                    <a:pt x="21187663" y="2252980"/>
                    <a:pt x="20973669" y="2252980"/>
                  </a:cubicBezTo>
                  <a:lnTo>
                    <a:pt x="20973669" y="2240280"/>
                  </a:lnTo>
                  <a:lnTo>
                    <a:pt x="20973669" y="2252980"/>
                  </a:lnTo>
                  <a:lnTo>
                    <a:pt x="387731" y="2252980"/>
                  </a:lnTo>
                  <a:lnTo>
                    <a:pt x="387731" y="2240280"/>
                  </a:lnTo>
                  <a:lnTo>
                    <a:pt x="387731" y="2252980"/>
                  </a:lnTo>
                  <a:cubicBezTo>
                    <a:pt x="173736" y="2252980"/>
                    <a:pt x="0" y="2081149"/>
                    <a:pt x="0" y="1869059"/>
                  </a:cubicBezTo>
                  <a:lnTo>
                    <a:pt x="0" y="383921"/>
                  </a:lnTo>
                  <a:lnTo>
                    <a:pt x="12700" y="383921"/>
                  </a:lnTo>
                  <a:lnTo>
                    <a:pt x="0" y="383921"/>
                  </a:lnTo>
                  <a:moveTo>
                    <a:pt x="25400" y="383921"/>
                  </a:moveTo>
                  <a:lnTo>
                    <a:pt x="25400" y="1869059"/>
                  </a:lnTo>
                  <a:lnTo>
                    <a:pt x="12700" y="1869059"/>
                  </a:lnTo>
                  <a:lnTo>
                    <a:pt x="25400" y="1869059"/>
                  </a:lnTo>
                  <a:cubicBezTo>
                    <a:pt x="25400" y="2066925"/>
                    <a:pt x="187452" y="2227580"/>
                    <a:pt x="387731" y="2227580"/>
                  </a:cubicBezTo>
                  <a:lnTo>
                    <a:pt x="20973669" y="2227580"/>
                  </a:lnTo>
                  <a:cubicBezTo>
                    <a:pt x="21173948" y="2227580"/>
                    <a:pt x="21336000" y="2066925"/>
                    <a:pt x="21336000" y="1869059"/>
                  </a:cubicBezTo>
                  <a:lnTo>
                    <a:pt x="21336000" y="383921"/>
                  </a:lnTo>
                  <a:cubicBezTo>
                    <a:pt x="21336000" y="186055"/>
                    <a:pt x="21173948" y="25400"/>
                    <a:pt x="20973669" y="25400"/>
                  </a:cubicBezTo>
                  <a:lnTo>
                    <a:pt x="387731" y="25400"/>
                  </a:lnTo>
                  <a:lnTo>
                    <a:pt x="387731" y="12700"/>
                  </a:lnTo>
                  <a:lnTo>
                    <a:pt x="387731" y="25400"/>
                  </a:lnTo>
                  <a:cubicBezTo>
                    <a:pt x="187452" y="25400"/>
                    <a:pt x="25400" y="186055"/>
                    <a:pt x="25400" y="383921"/>
                  </a:cubicBezTo>
                  <a:close/>
                </a:path>
              </a:pathLst>
            </a:custGeom>
            <a:solidFill>
              <a:srgbClr val="93C5FD"/>
            </a:solidFill>
          </p:spPr>
          <p:txBody>
            <a:bodyPr/>
            <a:lstStyle/>
            <a:p>
              <a:endParaRPr lang="zh-CN" altLang="en-US">
                <a:latin typeface="Calibri" panose="020F0502020204030204" pitchFamily="34" charset="0"/>
                <a:cs typeface="Calibri" panose="020F0502020204030204" pitchFamily="34" charset="0"/>
              </a:endParaRPr>
            </a:p>
          </p:txBody>
        </p:sp>
      </p:grpSp>
      <p:sp>
        <p:nvSpPr>
          <p:cNvPr id="19" name="TextBox 19"/>
          <p:cNvSpPr txBox="1"/>
          <p:nvPr/>
        </p:nvSpPr>
        <p:spPr>
          <a:xfrm>
            <a:off x="2371972" y="6831806"/>
            <a:ext cx="14859000" cy="1820704"/>
          </a:xfrm>
          <a:prstGeom prst="rect">
            <a:avLst/>
          </a:prstGeom>
        </p:spPr>
        <p:txBody>
          <a:bodyPr lIns="0" tIns="0" rIns="0" bIns="0" rtlCol="0" anchor="ctr"/>
          <a:lstStyle/>
          <a:p>
            <a:pPr algn="l">
              <a:lnSpc>
                <a:spcPts val="4050"/>
              </a:lnSpc>
            </a:pPr>
            <a:r>
              <a:rPr lang="en-US" sz="2400" b="1" dirty="0">
                <a:solidFill>
                  <a:srgbClr val="6B7280"/>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α &gt; 0.7 is considered acceptable reliability, and α &gt; 0.8 is considered good reliability. The data show that the PC and Intent scales have good reliability, while the PCQ scale is close to the acceptable range.</a:t>
            </a:r>
            <a:endParaRPr lang="zh-CN" altLang="en-US" sz="2400" b="1" dirty="0">
              <a:solidFill>
                <a:srgbClr val="6B7280"/>
              </a:solidFill>
              <a:latin typeface="Calibri" panose="020F0502020204030204" pitchFamily="34" charset="0"/>
              <a:ea typeface="Noto Sans" panose="020B0502040504020204"/>
              <a:cs typeface="Calibri" panose="020F0502020204030204" pitchFamily="34" charset="0"/>
              <a:sym typeface="Noto Sans" panose="020B0502040504020204"/>
            </a:endParaRPr>
          </a:p>
        </p:txBody>
      </p:sp>
      <p:graphicFrame>
        <p:nvGraphicFramePr>
          <p:cNvPr id="12" name="Table 12"/>
          <p:cNvGraphicFramePr>
            <a:graphicFrameLocks noGrp="1"/>
          </p:cNvGraphicFramePr>
          <p:nvPr>
            <p:extLst>
              <p:ext uri="{D42A27DB-BD31-4B8C-83A1-F6EECF244321}">
                <p14:modId xmlns:p14="http://schemas.microsoft.com/office/powerpoint/2010/main" val="234364158"/>
              </p:ext>
            </p:extLst>
          </p:nvPr>
        </p:nvGraphicFramePr>
        <p:xfrm>
          <a:off x="1821702" y="3179212"/>
          <a:ext cx="14949395" cy="3134667"/>
        </p:xfrm>
        <a:graphic>
          <a:graphicData uri="http://schemas.openxmlformats.org/drawingml/2006/table">
            <a:tbl>
              <a:tblPr>
                <a:tableStyleId>{5C22544A-7EE6-4342-B048-85BDC9FD1C3A}</a:tableStyleId>
              </a:tblPr>
              <a:tblGrid>
                <a:gridCol w="2491566">
                  <a:extLst>
                    <a:ext uri="{9D8B030D-6E8A-4147-A177-3AD203B41FA5}">
                      <a16:colId xmlns:a16="http://schemas.microsoft.com/office/drawing/2014/main" val="20000"/>
                    </a:ext>
                  </a:extLst>
                </a:gridCol>
                <a:gridCol w="3621669">
                  <a:extLst>
                    <a:ext uri="{9D8B030D-6E8A-4147-A177-3AD203B41FA5}">
                      <a16:colId xmlns:a16="http://schemas.microsoft.com/office/drawing/2014/main" val="20001"/>
                    </a:ext>
                  </a:extLst>
                </a:gridCol>
                <a:gridCol w="4187960">
                  <a:extLst>
                    <a:ext uri="{9D8B030D-6E8A-4147-A177-3AD203B41FA5}">
                      <a16:colId xmlns:a16="http://schemas.microsoft.com/office/drawing/2014/main" val="20002"/>
                    </a:ext>
                  </a:extLst>
                </a:gridCol>
                <a:gridCol w="4648200">
                  <a:extLst>
                    <a:ext uri="{9D8B030D-6E8A-4147-A177-3AD203B41FA5}">
                      <a16:colId xmlns:a16="http://schemas.microsoft.com/office/drawing/2014/main" val="20003"/>
                    </a:ext>
                  </a:extLst>
                </a:gridCol>
              </a:tblGrid>
              <a:tr h="1237241">
                <a:tc>
                  <a:txBody>
                    <a:bodyPr/>
                    <a:lstStyle/>
                    <a:p>
                      <a:pPr algn="ctr">
                        <a:lnSpc>
                          <a:spcPts val="3240"/>
                        </a:lnSpc>
                        <a:defRPr/>
                      </a:pPr>
                      <a:r>
                        <a:rPr lang="en-US" sz="2800" b="1" dirty="0">
                          <a:solidFill>
                            <a:srgbClr val="203864"/>
                          </a:solidFill>
                          <a:sym typeface="Noto Sans Bold" panose="020B0802040504020204"/>
                        </a:rPr>
                        <a:t>Group</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tc>
                  <a:txBody>
                    <a:bodyPr/>
                    <a:lstStyle/>
                    <a:p>
                      <a:pPr algn="ctr">
                        <a:lnSpc>
                          <a:spcPts val="2880"/>
                        </a:lnSpc>
                        <a:defRPr/>
                      </a:pPr>
                      <a:r>
                        <a:rPr lang="en-US" sz="2800" b="1" dirty="0">
                          <a:solidFill>
                            <a:srgbClr val="203864"/>
                          </a:solidFill>
                          <a:sym typeface="Noto Sans Bold" panose="020B0802040504020204"/>
                        </a:rPr>
                        <a:t>Perceptual Control</a:t>
                      </a:r>
                    </a:p>
                    <a:p>
                      <a:pPr algn="ctr">
                        <a:lnSpc>
                          <a:spcPts val="2880"/>
                        </a:lnSpc>
                        <a:defRPr/>
                      </a:pPr>
                      <a:r>
                        <a:rPr lang="en-US" sz="2800" b="1" dirty="0">
                          <a:solidFill>
                            <a:srgbClr val="203864"/>
                          </a:solidFill>
                          <a:sym typeface="Noto Sans Bold" panose="020B0802040504020204"/>
                        </a:rPr>
                        <a:t>（PC）α</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tc>
                  <a:txBody>
                    <a:bodyPr/>
                    <a:lstStyle/>
                    <a:p>
                      <a:pPr algn="ctr">
                        <a:lnSpc>
                          <a:spcPts val="2880"/>
                        </a:lnSpc>
                        <a:defRPr/>
                      </a:pPr>
                      <a:r>
                        <a:rPr lang="en-US" sz="2800" b="1" dirty="0">
                          <a:solidFill>
                            <a:srgbClr val="203864"/>
                          </a:solidFill>
                          <a:sym typeface="Noto Sans Bold" panose="020B0802040504020204"/>
                        </a:rPr>
                        <a:t>Willingness to participate （Intent）α</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tc>
                  <a:txBody>
                    <a:bodyPr/>
                    <a:lstStyle/>
                    <a:p>
                      <a:pPr algn="ctr">
                        <a:lnSpc>
                          <a:spcPts val="2880"/>
                        </a:lnSpc>
                        <a:defRPr/>
                      </a:pPr>
                      <a:r>
                        <a:rPr lang="en-US" sz="2800" b="1" dirty="0">
                          <a:solidFill>
                            <a:srgbClr val="203864"/>
                          </a:solidFill>
                          <a:sym typeface="Noto Sans Bold" panose="020B0802040504020204"/>
                        </a:rPr>
                        <a:t>Content Quality Perception （PCQ）α</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extLst>
                  <a:ext uri="{0D108BD9-81ED-4DB2-BD59-A6C34878D82A}">
                    <a16:rowId xmlns:a16="http://schemas.microsoft.com/office/drawing/2014/main" val="10000"/>
                  </a:ext>
                </a:extLst>
              </a:tr>
              <a:tr h="948713">
                <a:tc>
                  <a:txBody>
                    <a:bodyPr/>
                    <a:lstStyle/>
                    <a:p>
                      <a:pPr algn="ctr">
                        <a:lnSpc>
                          <a:spcPts val="3240"/>
                        </a:lnSpc>
                        <a:defRPr/>
                      </a:pPr>
                      <a:r>
                        <a:rPr lang="en-US" sz="2700" b="0">
                          <a:solidFill>
                            <a:srgbClr val="203864"/>
                          </a:solidFill>
                          <a:sym typeface="Noto Sans" panose="020B0502040504020204"/>
                        </a:rPr>
                        <a:t>A group</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a:solidFill>
                            <a:srgbClr val="203864"/>
                          </a:solidFill>
                          <a:sym typeface="Noto Sans" panose="020B0502040504020204"/>
                        </a:rPr>
                        <a:t>0.831</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a:solidFill>
                            <a:srgbClr val="203864"/>
                          </a:solidFill>
                          <a:sym typeface="Noto Sans" panose="020B0502040504020204"/>
                        </a:rPr>
                        <a:t>0.873</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dirty="0">
                          <a:solidFill>
                            <a:srgbClr val="203864"/>
                          </a:solidFill>
                          <a:sym typeface="Noto Sans" panose="020B0502040504020204"/>
                        </a:rPr>
                        <a:t>0.670</a:t>
                      </a:r>
                      <a:endParaRPr lang="en-US" sz="27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extLst>
                  <a:ext uri="{0D108BD9-81ED-4DB2-BD59-A6C34878D82A}">
                    <a16:rowId xmlns:a16="http://schemas.microsoft.com/office/drawing/2014/main" val="10001"/>
                  </a:ext>
                </a:extLst>
              </a:tr>
              <a:tr h="948713">
                <a:tc>
                  <a:txBody>
                    <a:bodyPr/>
                    <a:lstStyle/>
                    <a:p>
                      <a:pPr algn="ctr">
                        <a:lnSpc>
                          <a:spcPts val="3240"/>
                        </a:lnSpc>
                        <a:defRPr/>
                      </a:pPr>
                      <a:r>
                        <a:rPr lang="en-US" sz="2700" b="0">
                          <a:solidFill>
                            <a:srgbClr val="203864"/>
                          </a:solidFill>
                          <a:sym typeface="Noto Sans" panose="020B0502040504020204"/>
                        </a:rPr>
                        <a:t>B group</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a:solidFill>
                            <a:srgbClr val="203864"/>
                          </a:solidFill>
                          <a:sym typeface="Noto Sans" panose="020B0502040504020204"/>
                        </a:rPr>
                        <a:t>0.898</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a:solidFill>
                            <a:srgbClr val="203864"/>
                          </a:solidFill>
                          <a:sym typeface="Noto Sans" panose="020B0502040504020204"/>
                        </a:rPr>
                        <a:t>0.764</a:t>
                      </a:r>
                      <a:endParaRPr lang="en-US" sz="27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700" b="0" dirty="0">
                          <a:solidFill>
                            <a:srgbClr val="203864"/>
                          </a:solidFill>
                          <a:sym typeface="Noto Sans" panose="020B0502040504020204"/>
                        </a:rPr>
                        <a:t>0.671</a:t>
                      </a:r>
                      <a:endParaRPr lang="en-US" sz="27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48985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790700" y="723900"/>
            <a:ext cx="13639800" cy="972755"/>
          </a:xfrm>
          <a:prstGeom prst="rect">
            <a:avLst/>
          </a:prstGeom>
        </p:spPr>
        <p:txBody>
          <a:bodyPr lIns="0" tIns="0" rIns="0" bIns="0" rtlCol="0" anchor="ctr"/>
          <a:lstStyle/>
          <a:p>
            <a:pPr algn="l">
              <a:lnSpc>
                <a:spcPts val="6600"/>
              </a:lnSpc>
            </a:pPr>
            <a:r>
              <a:rPr lang="en-US" sz="44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Mean and standard deviation of core variables (M±SD)</a:t>
            </a:r>
          </a:p>
        </p:txBody>
      </p:sp>
      <p:sp>
        <p:nvSpPr>
          <p:cNvPr id="13" name="TextBox 13"/>
          <p:cNvSpPr txBox="1"/>
          <p:nvPr/>
        </p:nvSpPr>
        <p:spPr>
          <a:xfrm>
            <a:off x="1790700" y="9105900"/>
            <a:ext cx="14706600" cy="807720"/>
          </a:xfrm>
          <a:prstGeom prst="rect">
            <a:avLst/>
          </a:prstGeom>
        </p:spPr>
        <p:txBody>
          <a:bodyPr wrap="square" lIns="0" tIns="0" rIns="0" bIns="0" rtlCol="0" anchor="t">
            <a:spAutoFit/>
          </a:bodyPr>
          <a:lstStyle/>
          <a:p>
            <a:pPr algn="l">
              <a:lnSpc>
                <a:spcPts val="3150"/>
              </a:lnSpc>
              <a:spcBef>
                <a:spcPct val="0"/>
              </a:spcBef>
            </a:pP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Conclusion:</a:t>
            </a: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 Group A (text and image posts) scored significantly higher than Group B (short video posts) on all core variables, with the largest difference observed in perceived control.</a:t>
            </a:r>
          </a:p>
        </p:txBody>
      </p:sp>
      <p:graphicFrame>
        <p:nvGraphicFramePr>
          <p:cNvPr id="12" name="Table 12"/>
          <p:cNvGraphicFramePr>
            <a:graphicFrameLocks noGrp="1"/>
          </p:cNvGraphicFramePr>
          <p:nvPr>
            <p:extLst>
              <p:ext uri="{D42A27DB-BD31-4B8C-83A1-F6EECF244321}">
                <p14:modId xmlns:p14="http://schemas.microsoft.com/office/powerpoint/2010/main" val="2638129761"/>
              </p:ext>
            </p:extLst>
          </p:nvPr>
        </p:nvGraphicFramePr>
        <p:xfrm>
          <a:off x="1790700" y="5794227"/>
          <a:ext cx="14706600" cy="3081654"/>
        </p:xfrm>
        <a:graphic>
          <a:graphicData uri="http://schemas.openxmlformats.org/drawingml/2006/table">
            <a:tbl>
              <a:tblPr>
                <a:tableStyleId>{5C22544A-7EE6-4342-B048-85BDC9FD1C3A}</a:tableStyleId>
              </a:tblPr>
              <a:tblGrid>
                <a:gridCol w="4201886">
                  <a:extLst>
                    <a:ext uri="{9D8B030D-6E8A-4147-A177-3AD203B41FA5}">
                      <a16:colId xmlns:a16="http://schemas.microsoft.com/office/drawing/2014/main" val="20000"/>
                    </a:ext>
                  </a:extLst>
                </a:gridCol>
                <a:gridCol w="5252357">
                  <a:extLst>
                    <a:ext uri="{9D8B030D-6E8A-4147-A177-3AD203B41FA5}">
                      <a16:colId xmlns:a16="http://schemas.microsoft.com/office/drawing/2014/main" val="20001"/>
                    </a:ext>
                  </a:extLst>
                </a:gridCol>
                <a:gridCol w="5252357">
                  <a:extLst>
                    <a:ext uri="{9D8B030D-6E8A-4147-A177-3AD203B41FA5}">
                      <a16:colId xmlns:a16="http://schemas.microsoft.com/office/drawing/2014/main" val="20002"/>
                    </a:ext>
                  </a:extLst>
                </a:gridCol>
              </a:tblGrid>
              <a:tr h="1050366">
                <a:tc>
                  <a:txBody>
                    <a:bodyPr/>
                    <a:lstStyle/>
                    <a:p>
                      <a:pPr algn="ctr">
                        <a:lnSpc>
                          <a:spcPts val="3240"/>
                        </a:lnSpc>
                        <a:defRPr/>
                      </a:pPr>
                      <a:r>
                        <a:rPr lang="en-US" sz="2800" b="1" dirty="0">
                          <a:solidFill>
                            <a:srgbClr val="203864"/>
                          </a:solidFill>
                          <a:sym typeface="Noto Sans Bold" panose="020B0802040504020204"/>
                        </a:rPr>
                        <a:t>Core variable</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tc>
                  <a:txBody>
                    <a:bodyPr/>
                    <a:lstStyle/>
                    <a:p>
                      <a:pPr algn="ctr">
                        <a:lnSpc>
                          <a:spcPts val="3240"/>
                        </a:lnSpc>
                        <a:defRPr/>
                      </a:pPr>
                      <a:r>
                        <a:rPr lang="en-US" sz="2800" b="1" dirty="0">
                          <a:solidFill>
                            <a:srgbClr val="203864"/>
                          </a:solidFill>
                          <a:sym typeface="Noto Sans Bold" panose="020B0802040504020204"/>
                        </a:rPr>
                        <a:t>Group A (Image and Text Post) M±SD</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tc>
                  <a:txBody>
                    <a:bodyPr/>
                    <a:lstStyle/>
                    <a:p>
                      <a:pPr algn="ctr">
                        <a:lnSpc>
                          <a:spcPts val="3240"/>
                        </a:lnSpc>
                        <a:defRPr/>
                      </a:pPr>
                      <a:r>
                        <a:rPr lang="en-US" sz="2800" b="1" dirty="0">
                          <a:solidFill>
                            <a:srgbClr val="203864"/>
                          </a:solidFill>
                          <a:sym typeface="Noto Sans Bold" panose="020B0802040504020204"/>
                        </a:rPr>
                        <a:t>Group B (Short Video Post) M±SD</a:t>
                      </a:r>
                      <a:endParaRPr lang="en-US" sz="2800" b="1" dirty="0">
                        <a:solidFill>
                          <a:srgbClr val="203864"/>
                        </a:solidFill>
                        <a:latin typeface="Noto Sans Bold" panose="020B0802040504020204"/>
                        <a:ea typeface="Noto Sans Bold" panose="020B0802040504020204"/>
                        <a:cs typeface="Noto Sans Bold" panose="020B0802040504020204"/>
                        <a:sym typeface="Noto Sans Bold" panose="020B0802040504020204"/>
                      </a:endParaRPr>
                    </a:p>
                  </a:txBody>
                  <a:tcPr marL="101600" marR="101600" marT="101600" marB="101600" anchor="ctr"/>
                </a:tc>
                <a:extLst>
                  <a:ext uri="{0D108BD9-81ED-4DB2-BD59-A6C34878D82A}">
                    <a16:rowId xmlns:a16="http://schemas.microsoft.com/office/drawing/2014/main" val="10000"/>
                  </a:ext>
                </a:extLst>
              </a:tr>
              <a:tr h="677096">
                <a:tc>
                  <a:txBody>
                    <a:bodyPr/>
                    <a:lstStyle/>
                    <a:p>
                      <a:pPr algn="ctr">
                        <a:lnSpc>
                          <a:spcPts val="3240"/>
                        </a:lnSpc>
                        <a:defRPr/>
                      </a:pPr>
                      <a:r>
                        <a:rPr lang="en-US" sz="2400" b="0" dirty="0">
                          <a:solidFill>
                            <a:srgbClr val="203864"/>
                          </a:solidFill>
                          <a:sym typeface="Noto Sans" panose="020B0502040504020204"/>
                        </a:rPr>
                        <a:t>PC</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a:solidFill>
                            <a:srgbClr val="203864"/>
                          </a:solidFill>
                          <a:sym typeface="Noto Sans" panose="020B0502040504020204"/>
                        </a:rPr>
                        <a:t>5.82 ± 0.56</a:t>
                      </a:r>
                      <a:endParaRPr lang="en-US" sz="24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dirty="0">
                          <a:solidFill>
                            <a:srgbClr val="203864"/>
                          </a:solidFill>
                          <a:sym typeface="Noto Sans" panose="020B0502040504020204"/>
                        </a:rPr>
                        <a:t>4.37 ± 0.95</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extLst>
                  <a:ext uri="{0D108BD9-81ED-4DB2-BD59-A6C34878D82A}">
                    <a16:rowId xmlns:a16="http://schemas.microsoft.com/office/drawing/2014/main" val="10001"/>
                  </a:ext>
                </a:extLst>
              </a:tr>
              <a:tr h="677096">
                <a:tc>
                  <a:txBody>
                    <a:bodyPr/>
                    <a:lstStyle/>
                    <a:p>
                      <a:pPr algn="ctr">
                        <a:lnSpc>
                          <a:spcPts val="3240"/>
                        </a:lnSpc>
                        <a:defRPr/>
                      </a:pPr>
                      <a:r>
                        <a:rPr lang="en-US" sz="2400" b="0" dirty="0">
                          <a:solidFill>
                            <a:srgbClr val="203864"/>
                          </a:solidFill>
                          <a:sym typeface="Noto Sans" panose="020B0502040504020204"/>
                        </a:rPr>
                        <a:t>Intent</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a:solidFill>
                            <a:srgbClr val="203864"/>
                          </a:solidFill>
                          <a:sym typeface="Noto Sans" panose="020B0502040504020204"/>
                        </a:rPr>
                        <a:t>3.48 ± 0.64</a:t>
                      </a:r>
                      <a:endParaRPr lang="en-US" sz="24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dirty="0">
                          <a:solidFill>
                            <a:srgbClr val="203864"/>
                          </a:solidFill>
                          <a:sym typeface="Noto Sans" panose="020B0502040504020204"/>
                        </a:rPr>
                        <a:t>2.96 ± 0.48</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extLst>
                  <a:ext uri="{0D108BD9-81ED-4DB2-BD59-A6C34878D82A}">
                    <a16:rowId xmlns:a16="http://schemas.microsoft.com/office/drawing/2014/main" val="10002"/>
                  </a:ext>
                </a:extLst>
              </a:tr>
              <a:tr h="677096">
                <a:tc>
                  <a:txBody>
                    <a:bodyPr/>
                    <a:lstStyle/>
                    <a:p>
                      <a:pPr algn="ctr">
                        <a:lnSpc>
                          <a:spcPts val="3240"/>
                        </a:lnSpc>
                        <a:defRPr/>
                      </a:pPr>
                      <a:r>
                        <a:rPr lang="en-US" sz="2400" b="0" dirty="0">
                          <a:solidFill>
                            <a:srgbClr val="203864"/>
                          </a:solidFill>
                          <a:sym typeface="Noto Sans" panose="020B0502040504020204"/>
                        </a:rPr>
                        <a:t> PCQ</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a:solidFill>
                            <a:srgbClr val="203864"/>
                          </a:solidFill>
                          <a:sym typeface="Noto Sans" panose="020B0502040504020204"/>
                        </a:rPr>
                        <a:t>3.96 ± 0.46</a:t>
                      </a:r>
                      <a:endParaRPr lang="en-US" sz="2400" b="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tc>
                  <a:txBody>
                    <a:bodyPr/>
                    <a:lstStyle/>
                    <a:p>
                      <a:pPr algn="ctr">
                        <a:lnSpc>
                          <a:spcPts val="3240"/>
                        </a:lnSpc>
                        <a:defRPr/>
                      </a:pPr>
                      <a:r>
                        <a:rPr lang="en-US" sz="2400" b="0" dirty="0">
                          <a:solidFill>
                            <a:srgbClr val="203864"/>
                          </a:solidFill>
                          <a:sym typeface="Noto Sans" panose="020B0502040504020204"/>
                        </a:rPr>
                        <a:t>3.40 ± 0.49</a:t>
                      </a:r>
                      <a:endParaRPr lang="en-US" sz="2400" b="0" dirty="0">
                        <a:solidFill>
                          <a:srgbClr val="203864"/>
                        </a:solidFill>
                        <a:latin typeface="Noto Sans" panose="020B0502040504020204"/>
                        <a:ea typeface="Noto Sans" panose="020B0502040504020204"/>
                        <a:cs typeface="Noto Sans" panose="020B0502040504020204"/>
                        <a:sym typeface="Noto Sans" panose="020B0502040504020204"/>
                      </a:endParaRPr>
                    </a:p>
                  </a:txBody>
                  <a:tcPr marL="101600" marR="101600" marT="101600" marB="101600" anchor="ctr"/>
                </a:tc>
                <a:extLst>
                  <a:ext uri="{0D108BD9-81ED-4DB2-BD59-A6C34878D82A}">
                    <a16:rowId xmlns:a16="http://schemas.microsoft.com/office/drawing/2014/main" val="10003"/>
                  </a:ext>
                </a:extLst>
              </a:tr>
            </a:tbl>
          </a:graphicData>
        </a:graphic>
      </p:graphicFrame>
      <p:pic>
        <p:nvPicPr>
          <p:cNvPr id="14" name="图片 13"/>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4715034" y="2026457"/>
            <a:ext cx="8857932" cy="3767770"/>
          </a:xfrm>
          <a:prstGeom prst="rect">
            <a:avLst/>
          </a:prstGeom>
        </p:spPr>
      </p:pic>
    </p:spTree>
    <p:extLst>
      <p:ext uri="{BB962C8B-B14F-4D97-AF65-F5344CB8AC3E}">
        <p14:creationId xmlns:p14="http://schemas.microsoft.com/office/powerpoint/2010/main" val="2766845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940351" y="1926017"/>
            <a:ext cx="11314295" cy="1052096"/>
          </a:xfrm>
          <a:prstGeom prst="rect">
            <a:avLst/>
          </a:prstGeom>
        </p:spPr>
        <p:txBody>
          <a:bodyPr lIns="0" tIns="0" rIns="0" bIns="0" rtlCol="0" anchor="ctr"/>
          <a:lstStyle/>
          <a:p>
            <a:pPr algn="l">
              <a:lnSpc>
                <a:spcPts val="7200"/>
              </a:lnSpc>
            </a:pPr>
            <a:r>
              <a:rPr lang="en-US" sz="48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Pearson Correlation Analysis (1)</a:t>
            </a:r>
          </a:p>
        </p:txBody>
      </p:sp>
      <p:sp>
        <p:nvSpPr>
          <p:cNvPr id="18" name="TextBox 18"/>
          <p:cNvSpPr txBox="1"/>
          <p:nvPr/>
        </p:nvSpPr>
        <p:spPr>
          <a:xfrm>
            <a:off x="2130851" y="3663579"/>
            <a:ext cx="4598522" cy="1029277"/>
          </a:xfrm>
          <a:prstGeom prst="rect">
            <a:avLst/>
          </a:prstGeom>
        </p:spPr>
        <p:txBody>
          <a:bodyPr lIns="0" tIns="0" rIns="0" bIns="0" rtlCol="0" anchor="ctr"/>
          <a:lstStyle/>
          <a:p>
            <a:pPr algn="l">
              <a:lnSpc>
                <a:spcPts val="3750"/>
              </a:lnSpc>
            </a:pPr>
            <a:r>
              <a:rPr lang="en-US" sz="2500" b="1" dirty="0">
                <a:ln/>
                <a:solidFill>
                  <a:schemeClr val="tx1"/>
                </a:solidFill>
                <a:effectLst>
                  <a:outerShdw blurRad="38100" dist="19050" dir="2700000" algn="tl" rotWithShape="0">
                    <a:schemeClr val="dk1">
                      <a:alpha val="40000"/>
                      <a:alpha val="40000"/>
                    </a:schemeClr>
                  </a:outerShdw>
                </a:effectLst>
                <a:latin typeface="Calibri" panose="020F0502020204030204" pitchFamily="34" charset="0"/>
                <a:ea typeface="Calibri" panose="020F0502020204030204" pitchFamily="34" charset="0"/>
                <a:cs typeface="Calibri" panose="020F0502020204030204" pitchFamily="34" charset="0"/>
                <a:sym typeface="Noto Sans Bold" panose="020B0802040504020204"/>
              </a:rPr>
              <a:t>Range of correlation coefficient(r)</a:t>
            </a:r>
          </a:p>
        </p:txBody>
      </p:sp>
      <p:sp>
        <p:nvSpPr>
          <p:cNvPr id="21" name="TextBox 21"/>
          <p:cNvSpPr txBox="1"/>
          <p:nvPr/>
        </p:nvSpPr>
        <p:spPr>
          <a:xfrm>
            <a:off x="1940351" y="4835239"/>
            <a:ext cx="4991100" cy="1300480"/>
          </a:xfrm>
          <a:prstGeom prst="rect">
            <a:avLst/>
          </a:prstGeom>
        </p:spPr>
        <p:txBody>
          <a:bodyPr lIns="0" tIns="0" rIns="0" bIns="0" rtlCol="0" anchor="ctr"/>
          <a:lstStyle/>
          <a:p>
            <a:pPr algn="l">
              <a:lnSpc>
                <a:spcPts val="10800"/>
              </a:lnSpc>
            </a:pPr>
            <a:r>
              <a:rPr lang="en-US" sz="72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0.396 - 0.649</a:t>
            </a:r>
          </a:p>
        </p:txBody>
      </p:sp>
      <p:grpSp>
        <p:nvGrpSpPr>
          <p:cNvPr id="22" name="Group 22"/>
          <p:cNvGrpSpPr/>
          <p:nvPr/>
        </p:nvGrpSpPr>
        <p:grpSpPr>
          <a:xfrm>
            <a:off x="2175752" y="6971654"/>
            <a:ext cx="4520296" cy="766835"/>
            <a:chOff x="-64029" y="813859"/>
            <a:chExt cx="3766913" cy="639029"/>
          </a:xfrm>
        </p:grpSpPr>
        <p:sp>
          <p:nvSpPr>
            <p:cNvPr id="23" name="Freeform 23"/>
            <p:cNvSpPr/>
            <p:nvPr/>
          </p:nvSpPr>
          <p:spPr>
            <a:xfrm>
              <a:off x="-64029" y="813859"/>
              <a:ext cx="3766913" cy="639029"/>
            </a:xfrm>
            <a:custGeom>
              <a:avLst/>
              <a:gdLst/>
              <a:ahLst/>
              <a:cxnLst/>
              <a:rect l="l" t="t" r="r" b="b"/>
              <a:pathLst>
                <a:path w="3766913" h="639029">
                  <a:moveTo>
                    <a:pt x="0" y="319514"/>
                  </a:moveTo>
                  <a:cubicBezTo>
                    <a:pt x="0" y="143097"/>
                    <a:pt x="236185" y="0"/>
                    <a:pt x="527368" y="0"/>
                  </a:cubicBezTo>
                  <a:lnTo>
                    <a:pt x="3239545" y="0"/>
                  </a:lnTo>
                  <a:cubicBezTo>
                    <a:pt x="3530728" y="0"/>
                    <a:pt x="3766913" y="143097"/>
                    <a:pt x="3766913" y="319514"/>
                  </a:cubicBezTo>
                  <a:cubicBezTo>
                    <a:pt x="3766913" y="495932"/>
                    <a:pt x="3530728" y="639029"/>
                    <a:pt x="3239545" y="639029"/>
                  </a:cubicBezTo>
                  <a:lnTo>
                    <a:pt x="527368" y="639029"/>
                  </a:lnTo>
                  <a:cubicBezTo>
                    <a:pt x="236185" y="639029"/>
                    <a:pt x="0" y="495932"/>
                    <a:pt x="0" y="319514"/>
                  </a:cubicBezTo>
                  <a:close/>
                </a:path>
              </a:pathLst>
            </a:custGeom>
            <a:solidFill>
              <a:srgbClr val="93C5FD">
                <a:alpha val="8627"/>
              </a:srgbClr>
            </a:solidFill>
          </p:spPr>
        </p:sp>
      </p:grpSp>
      <p:sp>
        <p:nvSpPr>
          <p:cNvPr id="26" name="TextBox 26"/>
          <p:cNvSpPr txBox="1"/>
          <p:nvPr/>
        </p:nvSpPr>
        <p:spPr>
          <a:xfrm>
            <a:off x="2442561" y="6950710"/>
            <a:ext cx="3986679" cy="787779"/>
          </a:xfrm>
          <a:prstGeom prst="rect">
            <a:avLst/>
          </a:prstGeom>
        </p:spPr>
        <p:txBody>
          <a:bodyPr lIns="0" tIns="0" rIns="0" bIns="0" rtlCol="0" anchor="ctr"/>
          <a:lstStyle/>
          <a:p>
            <a:pPr algn="ctr">
              <a:lnSpc>
                <a:spcPts val="3150"/>
              </a:lnSpc>
            </a:pPr>
            <a:r>
              <a:rPr lang="en-US" sz="21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Moderate positive correlation</a:t>
            </a:r>
          </a:p>
        </p:txBody>
      </p:sp>
      <p:sp>
        <p:nvSpPr>
          <p:cNvPr id="31" name="TextBox 31"/>
          <p:cNvSpPr txBox="1"/>
          <p:nvPr/>
        </p:nvSpPr>
        <p:spPr>
          <a:xfrm>
            <a:off x="8001000" y="3621121"/>
            <a:ext cx="8572500" cy="1114191"/>
          </a:xfrm>
          <a:prstGeom prst="rect">
            <a:avLst/>
          </a:prstGeom>
        </p:spPr>
        <p:txBody>
          <a:bodyPr lIns="0" tIns="0" rIns="0" bIns="0" rtlCol="0" anchor="ctr"/>
          <a:lstStyle/>
          <a:p>
            <a:pPr algn="l">
              <a:lnSpc>
                <a:spcPts val="4050"/>
              </a:lnSpc>
            </a:pPr>
            <a:r>
              <a:rPr lang="en-US" sz="27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Analysis of Five Major Participatory Behavior Associations</a:t>
            </a:r>
          </a:p>
        </p:txBody>
      </p:sp>
      <p:sp>
        <p:nvSpPr>
          <p:cNvPr id="34" name="TextBox 34"/>
          <p:cNvSpPr txBox="1"/>
          <p:nvPr/>
        </p:nvSpPr>
        <p:spPr>
          <a:xfrm>
            <a:off x="8001000" y="4969233"/>
            <a:ext cx="8572500" cy="3420078"/>
          </a:xfrm>
          <a:prstGeom prst="rect">
            <a:avLst/>
          </a:prstGeom>
        </p:spPr>
        <p:txBody>
          <a:bodyPr lIns="0" tIns="0" rIns="0" bIns="0" rtlCol="0" anchor="ctr"/>
          <a:lstStyle/>
          <a:p>
            <a:pPr algn="l">
              <a:lnSpc>
                <a:spcPts val="3300"/>
              </a:lnSpc>
            </a:pPr>
            <a:r>
              <a:rPr lang="en-US" sz="22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Research shows that there is a moderate positive correlation between users' five behaviors:</a:t>
            </a:r>
            <a:r>
              <a:rPr lang="en-US" sz="22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 liking, sharing, commenting, reading/watching, and saving</a:t>
            </a:r>
            <a:r>
              <a:rPr lang="en-US" sz="22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a:t>
            </a:r>
          </a:p>
          <a:p>
            <a:pPr algn="l">
              <a:lnSpc>
                <a:spcPts val="3300"/>
              </a:lnSpc>
            </a:pPr>
            <a:r>
              <a:rPr lang="en-US" sz="22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This result indicates that although there are inherent connections between the behaviors, they are relatively independent of each other; therefore, in subsequent model building, they can be analyzed as </a:t>
            </a:r>
            <a:r>
              <a:rPr lang="en-US" sz="22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independent dependent variables </a:t>
            </a:r>
            <a:r>
              <a:rPr lang="en-US" sz="22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to more accurately capture user behavior motivations.</a:t>
            </a:r>
          </a:p>
        </p:txBody>
      </p:sp>
    </p:spTree>
    <p:extLst>
      <p:ext uri="{BB962C8B-B14F-4D97-AF65-F5344CB8AC3E}">
        <p14:creationId xmlns:p14="http://schemas.microsoft.com/office/powerpoint/2010/main" val="297936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1940351" y="3866849"/>
            <a:ext cx="9642049" cy="659346"/>
          </a:xfrm>
          <a:prstGeom prst="rect">
            <a:avLst/>
          </a:prstGeom>
        </p:spPr>
        <p:txBody>
          <a:bodyPr lIns="0" tIns="0" rIns="0" bIns="0" rtlCol="0" anchor="ctr"/>
          <a:lstStyle/>
          <a:p>
            <a:pPr algn="l">
              <a:lnSpc>
                <a:spcPts val="4500"/>
              </a:lnSpc>
            </a:pPr>
            <a:r>
              <a:rPr lang="en-US" sz="30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The Relationship Between Post Types and Perceived Control</a:t>
            </a:r>
          </a:p>
        </p:txBody>
      </p:sp>
      <p:sp>
        <p:nvSpPr>
          <p:cNvPr id="18" name="TextBox 18"/>
          <p:cNvSpPr txBox="1"/>
          <p:nvPr/>
        </p:nvSpPr>
        <p:spPr>
          <a:xfrm>
            <a:off x="1940351" y="4680144"/>
            <a:ext cx="13985449" cy="1427029"/>
          </a:xfrm>
          <a:prstGeom prst="rect">
            <a:avLst/>
          </a:prstGeom>
        </p:spPr>
        <p:txBody>
          <a:bodyPr lIns="0" tIns="0" rIns="0" bIns="0" rtlCol="0" anchor="ctr"/>
          <a:lstStyle/>
          <a:p>
            <a:pPr algn="l">
              <a:lnSpc>
                <a:spcPts val="3500"/>
              </a:lnSpc>
            </a:pP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Data show that post type is</a:t>
            </a:r>
            <a:r>
              <a:rPr lang="en-US" sz="2700"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 </a:t>
            </a:r>
            <a:r>
              <a:rPr lang="en-US" sz="27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strongly positively correlated</a:t>
            </a:r>
            <a:r>
              <a:rPr lang="en-US" sz="2700" b="1"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 </a:t>
            </a: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with perceived control (r=0.682, p&lt;0.01). This means that image and text posts can significantly enhance users' sense of perceived control.</a:t>
            </a:r>
          </a:p>
        </p:txBody>
      </p:sp>
      <p:sp>
        <p:nvSpPr>
          <p:cNvPr id="25" name="TextBox 25"/>
          <p:cNvSpPr txBox="1"/>
          <p:nvPr/>
        </p:nvSpPr>
        <p:spPr>
          <a:xfrm>
            <a:off x="1940351" y="6584878"/>
            <a:ext cx="10785049" cy="659346"/>
          </a:xfrm>
          <a:prstGeom prst="rect">
            <a:avLst/>
          </a:prstGeom>
        </p:spPr>
        <p:txBody>
          <a:bodyPr lIns="0" tIns="0" rIns="0" bIns="0" rtlCol="0" anchor="ctr"/>
          <a:lstStyle/>
          <a:p>
            <a:pPr algn="l">
              <a:lnSpc>
                <a:spcPts val="4500"/>
              </a:lnSpc>
            </a:pPr>
            <a:r>
              <a:rPr lang="en-US" sz="30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The Correlation Between Post Types and Willingness to Participate</a:t>
            </a:r>
          </a:p>
        </p:txBody>
      </p:sp>
      <p:sp>
        <p:nvSpPr>
          <p:cNvPr id="28" name="TextBox 28"/>
          <p:cNvSpPr txBox="1"/>
          <p:nvPr/>
        </p:nvSpPr>
        <p:spPr>
          <a:xfrm>
            <a:off x="1940351" y="7200900"/>
            <a:ext cx="13985449" cy="1865179"/>
          </a:xfrm>
          <a:prstGeom prst="rect">
            <a:avLst/>
          </a:prstGeom>
        </p:spPr>
        <p:txBody>
          <a:bodyPr lIns="0" tIns="0" rIns="0" bIns="0" rtlCol="0" anchor="ctr"/>
          <a:lstStyle/>
          <a:p>
            <a:pPr algn="l">
              <a:lnSpc>
                <a:spcPts val="3500"/>
              </a:lnSpc>
            </a:pP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type of post is significantly positively correlated with all five participation intentions, with correlation coefficients r ranging from 0.296 to 0.437 (p&lt;0.01). Among them, the highest correlation is with the </a:t>
            </a:r>
            <a:r>
              <a:rPr lang="en-US" sz="27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bookmarking behavior</a:t>
            </a:r>
            <a:r>
              <a:rPr lang="en-US" sz="2700" b="1"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 </a:t>
            </a: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(r=0.437).</a:t>
            </a:r>
          </a:p>
        </p:txBody>
      </p:sp>
      <p:sp>
        <p:nvSpPr>
          <p:cNvPr id="32" name="TextBox 9">
            <a:extLst>
              <a:ext uri="{FF2B5EF4-FFF2-40B4-BE49-F238E27FC236}">
                <a16:creationId xmlns:a16="http://schemas.microsoft.com/office/drawing/2014/main" id="{C2B7FD87-0D14-611E-0F21-9C8D8485BF56}"/>
              </a:ext>
            </a:extLst>
          </p:cNvPr>
          <p:cNvSpPr txBox="1"/>
          <p:nvPr/>
        </p:nvSpPr>
        <p:spPr>
          <a:xfrm>
            <a:off x="1940351" y="1926017"/>
            <a:ext cx="11314295" cy="1052096"/>
          </a:xfrm>
          <a:prstGeom prst="rect">
            <a:avLst/>
          </a:prstGeom>
        </p:spPr>
        <p:txBody>
          <a:bodyPr lIns="0" tIns="0" rIns="0" bIns="0" rtlCol="0" anchor="ctr"/>
          <a:lstStyle/>
          <a:p>
            <a:pPr algn="l">
              <a:lnSpc>
                <a:spcPts val="7200"/>
              </a:lnSpc>
            </a:pPr>
            <a:r>
              <a:rPr lang="en-US" sz="48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Pearson Correlation Analysis (2)</a:t>
            </a:r>
          </a:p>
        </p:txBody>
      </p:sp>
    </p:spTree>
    <p:extLst>
      <p:ext uri="{BB962C8B-B14F-4D97-AF65-F5344CB8AC3E}">
        <p14:creationId xmlns:p14="http://schemas.microsoft.com/office/powerpoint/2010/main" val="1348613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reeform 39">
            <a:extLst>
              <a:ext uri="{FF2B5EF4-FFF2-40B4-BE49-F238E27FC236}">
                <a16:creationId xmlns:a16="http://schemas.microsoft.com/office/drawing/2014/main" id="{5C2AF2B9-AD3E-48AC-08D7-4EC6A3707D45}"/>
              </a:ext>
            </a:extLst>
          </p:cNvPr>
          <p:cNvSpPr/>
          <p:nvPr/>
        </p:nvSpPr>
        <p:spPr>
          <a:xfrm>
            <a:off x="1940350" y="7669252"/>
            <a:ext cx="14630399" cy="1783715"/>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p>
        </p:txBody>
      </p:sp>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940351" y="2992930"/>
            <a:ext cx="14859000" cy="706160"/>
          </a:xfrm>
          <a:prstGeom prst="rect">
            <a:avLst/>
          </a:prstGeom>
        </p:spPr>
        <p:txBody>
          <a:bodyPr lIns="0" tIns="0" rIns="0" bIns="0" rtlCol="0" anchor="ctr"/>
          <a:lstStyle/>
          <a:p>
            <a:pPr algn="l">
              <a:lnSpc>
                <a:spcPts val="4800"/>
              </a:lnSpc>
            </a:pPr>
            <a:r>
              <a:rPr lang="en-US" sz="32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The Correlation Between Perceptual Control and Participatory Behavior</a:t>
            </a:r>
          </a:p>
        </p:txBody>
      </p:sp>
      <p:sp>
        <p:nvSpPr>
          <p:cNvPr id="15" name="TextBox 15"/>
          <p:cNvSpPr txBox="1"/>
          <p:nvPr/>
        </p:nvSpPr>
        <p:spPr>
          <a:xfrm>
            <a:off x="1940351" y="3949808"/>
            <a:ext cx="14859000" cy="1783715"/>
          </a:xfrm>
          <a:prstGeom prst="rect">
            <a:avLst/>
          </a:prstGeom>
        </p:spPr>
        <p:txBody>
          <a:bodyPr lIns="0" tIns="0" rIns="0" bIns="0" rtlCol="0" anchor="ctr"/>
          <a:lstStyle/>
          <a:p>
            <a:pPr algn="l">
              <a:lnSpc>
                <a:spcPts val="3790"/>
              </a:lnSpc>
            </a:pP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Perceived control is significantly positively correlated with the willingness to engage in the five major participatory behaviors (p&lt;0.01), with correlation coefficients r ranging from 0.287 to 0.549.</a:t>
            </a:r>
          </a:p>
        </p:txBody>
      </p:sp>
      <p:sp>
        <p:nvSpPr>
          <p:cNvPr id="20" name="TextBox 20"/>
          <p:cNvSpPr txBox="1"/>
          <p:nvPr/>
        </p:nvSpPr>
        <p:spPr>
          <a:xfrm>
            <a:off x="1940350" y="5634819"/>
            <a:ext cx="14747449" cy="876156"/>
          </a:xfrm>
          <a:prstGeom prst="rect">
            <a:avLst/>
          </a:prstGeom>
        </p:spPr>
        <p:txBody>
          <a:bodyPr lIns="0" tIns="0" rIns="0" bIns="0" rtlCol="0" anchor="ctr"/>
          <a:lstStyle/>
          <a:p>
            <a:pPr algn="l">
              <a:lnSpc>
                <a:spcPts val="4050"/>
              </a:lnSpc>
            </a:pP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Among them, it has the highest correlation with </a:t>
            </a: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collecting behavior</a:t>
            </a:r>
            <a:r>
              <a:rPr lang="en-US" sz="27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 with a correlation coefficient of:</a:t>
            </a:r>
          </a:p>
        </p:txBody>
      </p:sp>
      <p:grpSp>
        <p:nvGrpSpPr>
          <p:cNvPr id="21" name="Group 21"/>
          <p:cNvGrpSpPr/>
          <p:nvPr/>
        </p:nvGrpSpPr>
        <p:grpSpPr>
          <a:xfrm>
            <a:off x="2381245" y="6412270"/>
            <a:ext cx="3048000" cy="952500"/>
            <a:chOff x="0" y="0"/>
            <a:chExt cx="4064000" cy="1270000"/>
          </a:xfrm>
        </p:grpSpPr>
        <p:sp>
          <p:nvSpPr>
            <p:cNvPr id="22" name="Freeform 22"/>
            <p:cNvSpPr/>
            <p:nvPr/>
          </p:nvSpPr>
          <p:spPr>
            <a:xfrm>
              <a:off x="0" y="0"/>
              <a:ext cx="4064000" cy="1270000"/>
            </a:xfrm>
            <a:custGeom>
              <a:avLst/>
              <a:gdLst/>
              <a:ahLst/>
              <a:cxnLst/>
              <a:rect l="l" t="t" r="r" b="b"/>
              <a:pathLst>
                <a:path w="4064000" h="1270000">
                  <a:moveTo>
                    <a:pt x="0" y="127000"/>
                  </a:moveTo>
                  <a:cubicBezTo>
                    <a:pt x="0" y="56896"/>
                    <a:pt x="56896" y="0"/>
                    <a:pt x="127000" y="0"/>
                  </a:cubicBezTo>
                  <a:lnTo>
                    <a:pt x="3937000" y="0"/>
                  </a:lnTo>
                  <a:cubicBezTo>
                    <a:pt x="4007104" y="0"/>
                    <a:pt x="4064000" y="56896"/>
                    <a:pt x="4064000" y="127000"/>
                  </a:cubicBezTo>
                  <a:lnTo>
                    <a:pt x="4064000" y="1143000"/>
                  </a:lnTo>
                  <a:cubicBezTo>
                    <a:pt x="4064000" y="1213104"/>
                    <a:pt x="4007104" y="1270000"/>
                    <a:pt x="3937000" y="1270000"/>
                  </a:cubicBezTo>
                  <a:lnTo>
                    <a:pt x="127000" y="1270000"/>
                  </a:lnTo>
                  <a:cubicBezTo>
                    <a:pt x="56896" y="1270000"/>
                    <a:pt x="0" y="1213104"/>
                    <a:pt x="0" y="1143000"/>
                  </a:cubicBezTo>
                  <a:close/>
                </a:path>
              </a:pathLst>
            </a:custGeom>
            <a:solidFill>
              <a:srgbClr val="93C5FD">
                <a:alpha val="3922"/>
              </a:srgbClr>
            </a:solidFill>
          </p:spPr>
        </p:sp>
      </p:grpSp>
      <p:sp>
        <p:nvSpPr>
          <p:cNvPr id="25" name="TextBox 25"/>
          <p:cNvSpPr txBox="1"/>
          <p:nvPr/>
        </p:nvSpPr>
        <p:spPr>
          <a:xfrm>
            <a:off x="7790074" y="6329828"/>
            <a:ext cx="3048000" cy="1045369"/>
          </a:xfrm>
          <a:prstGeom prst="rect">
            <a:avLst/>
          </a:prstGeom>
        </p:spPr>
        <p:txBody>
          <a:bodyPr lIns="0" tIns="0" rIns="0" bIns="0" rtlCol="0" anchor="ctr"/>
          <a:lstStyle/>
          <a:p>
            <a:pPr algn="ctr">
              <a:lnSpc>
                <a:spcPts val="6300"/>
              </a:lnSpc>
            </a:pPr>
            <a:r>
              <a:rPr lang="en-US" sz="42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r = 0.549</a:t>
            </a:r>
          </a:p>
        </p:txBody>
      </p:sp>
      <p:sp>
        <p:nvSpPr>
          <p:cNvPr id="32" name="TextBox 32"/>
          <p:cNvSpPr txBox="1"/>
          <p:nvPr/>
        </p:nvSpPr>
        <p:spPr>
          <a:xfrm>
            <a:off x="2828237" y="7889217"/>
            <a:ext cx="12631525" cy="1193006"/>
          </a:xfrm>
          <a:prstGeom prst="rect">
            <a:avLst/>
          </a:prstGeom>
        </p:spPr>
        <p:txBody>
          <a:bodyPr lIns="0" tIns="0" rIns="0" bIns="0" rtlCol="0" anchor="ctr"/>
          <a:lstStyle/>
          <a:p>
            <a:pPr algn="l">
              <a:lnSpc>
                <a:spcPts val="3600"/>
              </a:lnSpc>
            </a:pP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Conclusion:</a:t>
            </a:r>
          </a:p>
          <a:p>
            <a:pPr algn="l">
              <a:lnSpc>
                <a:spcPts val="3600"/>
              </a:lnSpc>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H2 hypothesis was preliminarily verified: the stronger the user's perceived control, the higher the willingness to participate, with the willingness to favorite being the most obvious.</a:t>
            </a:r>
          </a:p>
        </p:txBody>
      </p:sp>
      <p:sp>
        <p:nvSpPr>
          <p:cNvPr id="36" name="TextBox 9">
            <a:extLst>
              <a:ext uri="{FF2B5EF4-FFF2-40B4-BE49-F238E27FC236}">
                <a16:creationId xmlns:a16="http://schemas.microsoft.com/office/drawing/2014/main" id="{6CEBCB03-EB4F-8E84-74D2-8C9BFACB53CB}"/>
              </a:ext>
            </a:extLst>
          </p:cNvPr>
          <p:cNvSpPr txBox="1"/>
          <p:nvPr/>
        </p:nvSpPr>
        <p:spPr>
          <a:xfrm>
            <a:off x="1940351" y="1926017"/>
            <a:ext cx="11314295" cy="1052096"/>
          </a:xfrm>
          <a:prstGeom prst="rect">
            <a:avLst/>
          </a:prstGeom>
        </p:spPr>
        <p:txBody>
          <a:bodyPr lIns="0" tIns="0" rIns="0" bIns="0" rtlCol="0" anchor="ctr"/>
          <a:lstStyle/>
          <a:p>
            <a:pPr algn="l">
              <a:lnSpc>
                <a:spcPts val="7200"/>
              </a:lnSpc>
            </a:pPr>
            <a:r>
              <a:rPr lang="en-US" sz="4800" b="1" dirty="0">
                <a:solidFill>
                  <a:srgbClr val="1E3A8A"/>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Pearson Correlation Analysis (3)</a:t>
            </a:r>
          </a:p>
        </p:txBody>
      </p:sp>
    </p:spTree>
    <p:extLst>
      <p:ext uri="{BB962C8B-B14F-4D97-AF65-F5344CB8AC3E}">
        <p14:creationId xmlns:p14="http://schemas.microsoft.com/office/powerpoint/2010/main" val="1297937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8"/>
          <p:cNvPicPr>
            <a:picLocks noChangeAspect="1"/>
          </p:cNvPicPr>
          <p:nvPr/>
        </p:nvPicPr>
        <p:blipFill>
          <a:blip r:embed="rId2"/>
          <a:stretch>
            <a:fillRect/>
          </a:stretch>
        </p:blipFill>
        <p:spPr>
          <a:xfrm rot="21600000">
            <a:off x="14173939" y="0"/>
            <a:ext cx="4114060" cy="10286997"/>
          </a:xfrm>
          <a:prstGeom prst="rect">
            <a:avLst/>
          </a:prstGeom>
        </p:spPr>
      </p:pic>
      <p:sp>
        <p:nvSpPr>
          <p:cNvPr id="290" name="textbox 290"/>
          <p:cNvSpPr/>
          <p:nvPr/>
        </p:nvSpPr>
        <p:spPr>
          <a:xfrm>
            <a:off x="2201417" y="4069207"/>
            <a:ext cx="10782934" cy="2484120"/>
          </a:xfrm>
          <a:prstGeom prst="rect">
            <a:avLst/>
          </a:prstGeom>
          <a:noFill/>
          <a:ln w="0" cap="flat">
            <a:noFill/>
            <a:prstDash val="solid"/>
            <a:miter lim="0"/>
          </a:ln>
        </p:spPr>
        <p:txBody>
          <a:bodyPr vert="horz" wrap="square" lIns="0" tIns="0" rIns="0" bIns="0"/>
          <a:lstStyle/>
          <a:p>
            <a:pPr algn="l" rtl="0" eaLnBrk="0">
              <a:lnSpc>
                <a:spcPct val="108000"/>
              </a:lnSpc>
            </a:pPr>
            <a:endParaRPr sz="100" dirty="0">
              <a:latin typeface="Arial" panose="020B0604020202020204"/>
              <a:ea typeface="Arial" panose="020B0604020202020204"/>
              <a:cs typeface="Arial" panose="020B0604020202020204"/>
            </a:endParaRPr>
          </a:p>
          <a:p>
            <a:pPr marL="2244725" indent="-2232025" algn="l" rtl="0" eaLnBrk="0">
              <a:lnSpc>
                <a:spcPct val="91000"/>
              </a:lnSpc>
            </a:pPr>
            <a:r>
              <a:rPr lang="en-US" sz="9000" b="1" kern="0" dirty="0">
                <a:solidFill>
                  <a:srgbClr val="000000">
                    <a:alpha val="100000"/>
                  </a:srgbClr>
                </a:solidFill>
                <a:latin typeface="Calibri" panose="020F0502020204030204"/>
                <a:ea typeface="Calibri" panose="020F0502020204030204"/>
                <a:cs typeface="Calibri" panose="020F0502020204030204"/>
              </a:rPr>
              <a:t>4</a:t>
            </a:r>
            <a:r>
              <a:rPr sz="9000" b="1" kern="0" spc="0" dirty="0">
                <a:solidFill>
                  <a:srgbClr val="000000">
                    <a:alpha val="100000"/>
                  </a:srgbClr>
                </a:solidFill>
                <a:latin typeface="Calibri" panose="020F0502020204030204"/>
                <a:ea typeface="Calibri" panose="020F0502020204030204"/>
                <a:cs typeface="Calibri" panose="020F0502020204030204"/>
              </a:rPr>
              <a:t>.2   </a:t>
            </a:r>
            <a:r>
              <a:rPr sz="8700" b="1" kern="0" spc="0" dirty="0">
                <a:solidFill>
                  <a:srgbClr val="000000">
                    <a:alpha val="100000"/>
                  </a:srgbClr>
                </a:solidFill>
                <a:latin typeface="Calibri" panose="020F0502020204030204"/>
                <a:ea typeface="Calibri" panose="020F0502020204030204"/>
                <a:cs typeface="Calibri" panose="020F0502020204030204"/>
              </a:rPr>
              <a:t>Hypothesis</a:t>
            </a:r>
            <a:r>
              <a:rPr sz="8700" b="1" kern="0" spc="140" dirty="0">
                <a:solidFill>
                  <a:srgbClr val="000000">
                    <a:alpha val="100000"/>
                  </a:srgbClr>
                </a:solidFill>
                <a:latin typeface="Calibri" panose="020F0502020204030204"/>
                <a:ea typeface="Calibri" panose="020F0502020204030204"/>
                <a:cs typeface="Calibri" panose="020F0502020204030204"/>
              </a:rPr>
              <a:t> </a:t>
            </a:r>
            <a:r>
              <a:rPr sz="8700" b="1" kern="0" spc="0" dirty="0">
                <a:solidFill>
                  <a:srgbClr val="000000">
                    <a:alpha val="100000"/>
                  </a:srgbClr>
                </a:solidFill>
                <a:latin typeface="Calibri" panose="020F0502020204030204"/>
                <a:ea typeface="Calibri" panose="020F0502020204030204"/>
                <a:cs typeface="Calibri" panose="020F0502020204030204"/>
              </a:rPr>
              <a:t>testing and</a:t>
            </a:r>
            <a:r>
              <a:rPr sz="8700" b="1" kern="0" spc="300" dirty="0">
                <a:solidFill>
                  <a:srgbClr val="000000">
                    <a:alpha val="100000"/>
                  </a:srgbClr>
                </a:solidFill>
                <a:latin typeface="Calibri" panose="020F0502020204030204"/>
                <a:ea typeface="Calibri" panose="020F0502020204030204"/>
                <a:cs typeface="Calibri" panose="020F0502020204030204"/>
              </a:rPr>
              <a:t> </a:t>
            </a:r>
            <a:r>
              <a:rPr sz="8700" b="1" kern="0" spc="0" dirty="0">
                <a:solidFill>
                  <a:srgbClr val="000000">
                    <a:alpha val="100000"/>
                  </a:srgbClr>
                </a:solidFill>
                <a:latin typeface="Calibri" panose="020F0502020204030204"/>
                <a:ea typeface="Calibri" panose="020F0502020204030204"/>
                <a:cs typeface="Calibri" panose="020F0502020204030204"/>
              </a:rPr>
              <a:t>comparison</a:t>
            </a:r>
            <a:endParaRPr sz="8700" dirty="0">
              <a:latin typeface="Calibri" panose="020F0502020204030204"/>
              <a:ea typeface="Calibri" panose="020F0502020204030204"/>
              <a:cs typeface="Calibri" panose="020F0502020204030204"/>
            </a:endParaRPr>
          </a:p>
        </p:txBody>
      </p:sp>
      <p:sp>
        <p:nvSpPr>
          <p:cNvPr id="292" name="rect 292"/>
          <p:cNvSpPr/>
          <p:nvPr/>
        </p:nvSpPr>
        <p:spPr>
          <a:xfrm>
            <a:off x="0" y="0"/>
            <a:ext cx="714375" cy="10286997"/>
          </a:xfrm>
          <a:prstGeom prst="rect">
            <a:avLst/>
          </a:prstGeom>
          <a:solidFill>
            <a:srgbClr val="203864">
              <a:alpha val="100000"/>
            </a:srgbClr>
          </a:solidFill>
          <a:ln w="0" cap="flat">
            <a:noFill/>
            <a:prstDash val="solid"/>
            <a:miter lim="0"/>
          </a:ln>
        </p:spPr>
        <p:txBody>
          <a:bodyPr rtlCol="0"/>
          <a:lstStyle/>
          <a:p>
            <a:pPr algn="ctr"/>
            <a:endParaRPr lang="zh-CN" altLang="en-US"/>
          </a:p>
        </p:txBody>
      </p:sp>
      <p:sp>
        <p:nvSpPr>
          <p:cNvPr id="294" name="textbox 294"/>
          <p:cNvSpPr/>
          <p:nvPr/>
        </p:nvSpPr>
        <p:spPr>
          <a:xfrm rot="5400000">
            <a:off x="-738314" y="8304631"/>
            <a:ext cx="2149475" cy="2927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2100" kern="0" spc="-90" dirty="0">
                <a:solidFill>
                  <a:srgbClr val="FFFFFF">
                    <a:alpha val="100000"/>
                  </a:srgbClr>
                </a:solidFill>
                <a:latin typeface="Calibri" panose="020F0502020204030204"/>
                <a:ea typeface="Calibri" panose="020F0502020204030204"/>
                <a:cs typeface="Calibri" panose="020F0502020204030204"/>
              </a:rPr>
              <a:t>A</a:t>
            </a:r>
            <a:r>
              <a:rPr sz="2100" kern="0" spc="10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I</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D</a:t>
            </a:r>
            <a:r>
              <a:rPr sz="2100" kern="0" spc="6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M</a:t>
            </a:r>
            <a:r>
              <a:rPr sz="2100" kern="0" spc="1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7  4</a:t>
            </a:r>
            <a:r>
              <a:rPr sz="2100" kern="0" spc="1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8</a:t>
            </a:r>
            <a:r>
              <a:rPr sz="2100" kern="0" spc="20" dirty="0">
                <a:solidFill>
                  <a:srgbClr val="FFFFFF">
                    <a:alpha val="100000"/>
                  </a:srgbClr>
                </a:solidFill>
                <a:latin typeface="Calibri" panose="020F0502020204030204"/>
                <a:ea typeface="Calibri" panose="020F0502020204030204"/>
                <a:cs typeface="Calibri" panose="020F0502020204030204"/>
              </a:rPr>
              <a:t>  </a:t>
            </a:r>
            <a:r>
              <a:rPr sz="2100" kern="0" spc="-90" dirty="0">
                <a:solidFill>
                  <a:srgbClr val="FFFFFF">
                    <a:alpha val="100000"/>
                  </a:srgbClr>
                </a:solidFill>
                <a:latin typeface="Calibri" panose="020F0502020204030204"/>
                <a:ea typeface="Calibri" panose="020F0502020204030204"/>
                <a:cs typeface="Calibri" panose="020F0502020204030204"/>
              </a:rPr>
              <a:t>0</a:t>
            </a:r>
            <a:endParaRPr sz="2100" dirty="0">
              <a:latin typeface="Calibri" panose="020F0502020204030204"/>
              <a:ea typeface="Calibri" panose="020F0502020204030204"/>
              <a:cs typeface="Calibri" panose="020F0502020204030204"/>
            </a:endParaRPr>
          </a:p>
        </p:txBody>
      </p:sp>
      <p:sp>
        <p:nvSpPr>
          <p:cNvPr id="296" name="path 296"/>
          <p:cNvSpPr/>
          <p:nvPr/>
        </p:nvSpPr>
        <p:spPr>
          <a:xfrm>
            <a:off x="321462" y="4464685"/>
            <a:ext cx="71437" cy="2214625"/>
          </a:xfrm>
          <a:custGeom>
            <a:avLst/>
            <a:gdLst/>
            <a:ahLst/>
            <a:cxnLst/>
            <a:rect l="0" t="0" r="0" b="0"/>
            <a:pathLst>
              <a:path w="112" h="3487">
                <a:moveTo>
                  <a:pt x="0" y="56"/>
                </a:moveTo>
                <a:cubicBezTo>
                  <a:pt x="0" y="25"/>
                  <a:pt x="25" y="0"/>
                  <a:pt x="56" y="0"/>
                </a:cubicBezTo>
                <a:cubicBezTo>
                  <a:pt x="87" y="0"/>
                  <a:pt x="112" y="25"/>
                  <a:pt x="112" y="56"/>
                </a:cubicBezTo>
                <a:cubicBezTo>
                  <a:pt x="112" y="87"/>
                  <a:pt x="87" y="112"/>
                  <a:pt x="56" y="112"/>
                </a:cubicBezTo>
                <a:cubicBezTo>
                  <a:pt x="25" y="112"/>
                  <a:pt x="0" y="87"/>
                  <a:pt x="0" y="56"/>
                </a:cubicBezTo>
              </a:path>
              <a:path w="112" h="3487">
                <a:moveTo>
                  <a:pt x="0" y="731"/>
                </a:moveTo>
                <a:cubicBezTo>
                  <a:pt x="0" y="700"/>
                  <a:pt x="25" y="674"/>
                  <a:pt x="56" y="674"/>
                </a:cubicBezTo>
                <a:cubicBezTo>
                  <a:pt x="87" y="674"/>
                  <a:pt x="112" y="700"/>
                  <a:pt x="112" y="731"/>
                </a:cubicBezTo>
                <a:cubicBezTo>
                  <a:pt x="112" y="762"/>
                  <a:pt x="87" y="787"/>
                  <a:pt x="56" y="787"/>
                </a:cubicBezTo>
                <a:cubicBezTo>
                  <a:pt x="25" y="787"/>
                  <a:pt x="0" y="762"/>
                  <a:pt x="0" y="731"/>
                </a:cubicBezTo>
              </a:path>
              <a:path w="112" h="3487">
                <a:moveTo>
                  <a:pt x="0" y="1406"/>
                </a:moveTo>
                <a:cubicBezTo>
                  <a:pt x="0" y="1375"/>
                  <a:pt x="25" y="1350"/>
                  <a:pt x="56" y="1350"/>
                </a:cubicBezTo>
                <a:cubicBezTo>
                  <a:pt x="87" y="1350"/>
                  <a:pt x="112" y="1375"/>
                  <a:pt x="112" y="1406"/>
                </a:cubicBezTo>
                <a:cubicBezTo>
                  <a:pt x="112" y="1437"/>
                  <a:pt x="87" y="1462"/>
                  <a:pt x="56" y="1462"/>
                </a:cubicBezTo>
                <a:cubicBezTo>
                  <a:pt x="25" y="1462"/>
                  <a:pt x="0" y="1437"/>
                  <a:pt x="0" y="1406"/>
                </a:cubicBezTo>
              </a:path>
              <a:path w="112" h="3487">
                <a:moveTo>
                  <a:pt x="0" y="2081"/>
                </a:moveTo>
                <a:cubicBezTo>
                  <a:pt x="0" y="2050"/>
                  <a:pt x="25" y="2024"/>
                  <a:pt x="56" y="2024"/>
                </a:cubicBezTo>
                <a:cubicBezTo>
                  <a:pt x="87" y="2024"/>
                  <a:pt x="112" y="2050"/>
                  <a:pt x="112" y="2081"/>
                </a:cubicBezTo>
                <a:cubicBezTo>
                  <a:pt x="112" y="2112"/>
                  <a:pt x="87" y="2137"/>
                  <a:pt x="56" y="2137"/>
                </a:cubicBezTo>
                <a:cubicBezTo>
                  <a:pt x="25" y="2137"/>
                  <a:pt x="0" y="2112"/>
                  <a:pt x="0" y="2081"/>
                </a:cubicBezTo>
              </a:path>
              <a:path w="112" h="3487">
                <a:moveTo>
                  <a:pt x="0" y="2756"/>
                </a:moveTo>
                <a:cubicBezTo>
                  <a:pt x="0" y="2725"/>
                  <a:pt x="25" y="2700"/>
                  <a:pt x="56" y="2700"/>
                </a:cubicBezTo>
                <a:cubicBezTo>
                  <a:pt x="87" y="2700"/>
                  <a:pt x="112" y="2725"/>
                  <a:pt x="112" y="2756"/>
                </a:cubicBezTo>
                <a:cubicBezTo>
                  <a:pt x="112" y="2787"/>
                  <a:pt x="87" y="2812"/>
                  <a:pt x="56" y="2812"/>
                </a:cubicBezTo>
                <a:cubicBezTo>
                  <a:pt x="25" y="2812"/>
                  <a:pt x="0" y="2787"/>
                  <a:pt x="0" y="2756"/>
                </a:cubicBezTo>
              </a:path>
              <a:path w="112" h="3487">
                <a:moveTo>
                  <a:pt x="0" y="3431"/>
                </a:moveTo>
                <a:cubicBezTo>
                  <a:pt x="0" y="3400"/>
                  <a:pt x="25" y="3374"/>
                  <a:pt x="56" y="3374"/>
                </a:cubicBezTo>
                <a:cubicBezTo>
                  <a:pt x="87" y="3374"/>
                  <a:pt x="112" y="3400"/>
                  <a:pt x="112" y="3431"/>
                </a:cubicBezTo>
                <a:cubicBezTo>
                  <a:pt x="112" y="3462"/>
                  <a:pt x="87" y="3487"/>
                  <a:pt x="56" y="3487"/>
                </a:cubicBezTo>
                <a:cubicBezTo>
                  <a:pt x="25" y="3487"/>
                  <a:pt x="0" y="3462"/>
                  <a:pt x="0" y="3431"/>
                </a:cubicBezTo>
              </a:path>
            </a:pathLst>
          </a:custGeom>
          <a:solidFill>
            <a:srgbClr val="FFFFFF">
              <a:alpha val="100000"/>
            </a:srgbClr>
          </a:solidFill>
          <a:ln w="0" cap="flat">
            <a:noFill/>
            <a:prstDash val="solid"/>
            <a:miter lim="0"/>
          </a:ln>
        </p:spPr>
        <p:txBody>
          <a:bodyPr rtlCol="0"/>
          <a:lstStyle/>
          <a:p>
            <a:pPr algn="ctr"/>
            <a:endParaRPr lang="zh-CN" altLang="en-US"/>
          </a:p>
        </p:txBody>
      </p:sp>
    </p:spTree>
    <p:extLst>
      <p:ext uri="{BB962C8B-B14F-4D97-AF65-F5344CB8AC3E}">
        <p14:creationId xmlns:p14="http://schemas.microsoft.com/office/powerpoint/2010/main" val="1288878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34"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08444"/>
            <a:ext cx="2361571" cy="417852"/>
          </a:xfrm>
          <a:prstGeom prst="rect">
            <a:avLst/>
          </a:prstGeom>
        </p:spPr>
        <p:txBody>
          <a:bodyPr lIns="0" tIns="0" rIns="0" bIns="0" rtlCol="0" anchor="t">
            <a:spAutoFit/>
          </a:bodyPr>
          <a:lstStyle/>
          <a:p>
            <a:pPr algn="l">
              <a:lnSpc>
                <a:spcPts val="2520"/>
              </a:lnSpc>
            </a:pPr>
            <a:r>
              <a:rPr lang="en-US" sz="2100" spc="900">
                <a:solidFill>
                  <a:srgbClr val="FFFFFF"/>
                </a:solidFill>
                <a:latin typeface="Calibri (MS)" panose="020F0502020204030204"/>
                <a:ea typeface="Calibri (MS)" panose="020F0502020204030204"/>
                <a:cs typeface="Calibri (MS)" panose="020F0502020204030204"/>
                <a:sym typeface="Calibri (MS)" panose="020F0502020204030204"/>
              </a:rPr>
              <a:t>AIDM 7480</a:t>
            </a:r>
          </a:p>
        </p:txBody>
      </p:sp>
      <p:sp>
        <p:nvSpPr>
          <p:cNvPr id="5" name="Freeform 5"/>
          <p:cNvSpPr/>
          <p:nvPr/>
        </p:nvSpPr>
        <p:spPr>
          <a:xfrm>
            <a:off x="321469" y="446624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371600" y="647700"/>
            <a:ext cx="7429500" cy="1052096"/>
          </a:xfrm>
          <a:prstGeom prst="rect">
            <a:avLst/>
          </a:prstGeom>
        </p:spPr>
        <p:txBody>
          <a:bodyPr lIns="0" tIns="0" rIns="0" bIns="0" rtlCol="0" anchor="ctr"/>
          <a:lstStyle/>
          <a:p>
            <a:pPr algn="l">
              <a:lnSpc>
                <a:spcPts val="7200"/>
              </a:lnSpc>
            </a:pPr>
            <a:r>
              <a:rPr lang="en-US" sz="48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Hypothesis testing H1</a:t>
            </a:r>
          </a:p>
        </p:txBody>
      </p:sp>
      <p:sp>
        <p:nvSpPr>
          <p:cNvPr id="19" name="TextBox 19"/>
          <p:cNvSpPr txBox="1"/>
          <p:nvPr/>
        </p:nvSpPr>
        <p:spPr>
          <a:xfrm>
            <a:off x="1371600" y="1558294"/>
            <a:ext cx="14478000" cy="621506"/>
          </a:xfrm>
          <a:prstGeom prst="rect">
            <a:avLst/>
          </a:prstGeom>
        </p:spPr>
        <p:txBody>
          <a:bodyPr lIns="0" tIns="0" rIns="0" bIns="0" rtlCol="0" anchor="ctr"/>
          <a:lstStyle/>
          <a:p>
            <a:pPr algn="l">
              <a:lnSpc>
                <a:spcPts val="3000"/>
              </a:lnSpc>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Compared to short video posts, image and text posts can enhance users' perceived control over information processing.</a:t>
            </a:r>
          </a:p>
        </p:txBody>
      </p:sp>
      <p:sp>
        <p:nvSpPr>
          <p:cNvPr id="25" name="TextBox 25"/>
          <p:cNvSpPr txBox="1"/>
          <p:nvPr/>
        </p:nvSpPr>
        <p:spPr>
          <a:xfrm>
            <a:off x="1371600" y="2179800"/>
            <a:ext cx="3283866"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Testing methods</a:t>
            </a:r>
          </a:p>
        </p:txBody>
      </p:sp>
      <p:grpSp>
        <p:nvGrpSpPr>
          <p:cNvPr id="52" name="组合 51">
            <a:extLst>
              <a:ext uri="{FF2B5EF4-FFF2-40B4-BE49-F238E27FC236}">
                <a16:creationId xmlns:a16="http://schemas.microsoft.com/office/drawing/2014/main" id="{D27AD39B-A434-9BF7-BEF5-836EC47B5384}"/>
              </a:ext>
            </a:extLst>
          </p:cNvPr>
          <p:cNvGrpSpPr/>
          <p:nvPr/>
        </p:nvGrpSpPr>
        <p:grpSpPr>
          <a:xfrm>
            <a:off x="1374528" y="8688536"/>
            <a:ext cx="6561875" cy="1162049"/>
            <a:chOff x="10439400" y="8505187"/>
            <a:chExt cx="6561875" cy="1162049"/>
          </a:xfrm>
        </p:grpSpPr>
        <p:grpSp>
          <p:nvGrpSpPr>
            <p:cNvPr id="29" name="Group 29"/>
            <p:cNvGrpSpPr/>
            <p:nvPr/>
          </p:nvGrpSpPr>
          <p:grpSpPr>
            <a:xfrm>
              <a:off x="10439400" y="8505187"/>
              <a:ext cx="6561875" cy="1162049"/>
              <a:chOff x="0" y="0"/>
              <a:chExt cx="10414000" cy="2794000"/>
            </a:xfrm>
          </p:grpSpPr>
          <p:sp>
            <p:nvSpPr>
              <p:cNvPr id="30" name="Freeform 30"/>
              <p:cNvSpPr/>
              <p:nvPr/>
            </p:nvSpPr>
            <p:spPr>
              <a:xfrm>
                <a:off x="0" y="0"/>
                <a:ext cx="10414000" cy="2794000"/>
              </a:xfrm>
              <a:custGeom>
                <a:avLst/>
                <a:gdLst/>
                <a:ahLst/>
                <a:cxnLst/>
                <a:rect l="l" t="t" r="r" b="b"/>
                <a:pathLst>
                  <a:path w="10414000" h="2794000">
                    <a:moveTo>
                      <a:pt x="0" y="254000"/>
                    </a:moveTo>
                    <a:cubicBezTo>
                      <a:pt x="0" y="113665"/>
                      <a:pt x="113665" y="0"/>
                      <a:pt x="254000" y="0"/>
                    </a:cubicBezTo>
                    <a:lnTo>
                      <a:pt x="10160000" y="0"/>
                    </a:lnTo>
                    <a:cubicBezTo>
                      <a:pt x="10300208" y="0"/>
                      <a:pt x="10414000" y="113665"/>
                      <a:pt x="10414000" y="254000"/>
                    </a:cubicBezTo>
                    <a:lnTo>
                      <a:pt x="10414000" y="2540000"/>
                    </a:lnTo>
                    <a:cubicBezTo>
                      <a:pt x="10414000" y="2680208"/>
                      <a:pt x="10300335" y="2794000"/>
                      <a:pt x="10160000" y="2794000"/>
                    </a:cubicBezTo>
                    <a:lnTo>
                      <a:pt x="254000" y="2794000"/>
                    </a:lnTo>
                    <a:cubicBezTo>
                      <a:pt x="113792" y="2794000"/>
                      <a:pt x="0" y="2680335"/>
                      <a:pt x="0" y="2540000"/>
                    </a:cubicBezTo>
                    <a:close/>
                  </a:path>
                </a:pathLst>
              </a:custGeom>
              <a:solidFill>
                <a:srgbClr val="F3F4F6"/>
              </a:solidFill>
            </p:spPr>
          </p:sp>
        </p:grpSp>
        <p:sp>
          <p:nvSpPr>
            <p:cNvPr id="34" name="TextBox 34"/>
            <p:cNvSpPr txBox="1"/>
            <p:nvPr/>
          </p:nvSpPr>
          <p:spPr>
            <a:xfrm>
              <a:off x="11245170" y="8505187"/>
              <a:ext cx="3727417"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Statistical results</a:t>
              </a:r>
            </a:p>
          </p:txBody>
        </p:sp>
        <p:sp>
          <p:nvSpPr>
            <p:cNvPr id="37" name="TextBox 37"/>
            <p:cNvSpPr txBox="1"/>
            <p:nvPr/>
          </p:nvSpPr>
          <p:spPr>
            <a:xfrm>
              <a:off x="11247029" y="8985191"/>
              <a:ext cx="4946617" cy="635794"/>
            </a:xfrm>
            <a:prstGeom prst="rect">
              <a:avLst/>
            </a:prstGeom>
          </p:spPr>
          <p:txBody>
            <a:bodyPr lIns="0" tIns="0" rIns="0" bIns="0" rtlCol="0" anchor="ctr"/>
            <a:lstStyle/>
            <a:p>
              <a:pPr algn="l">
                <a:lnSpc>
                  <a:spcPts val="4050"/>
                </a:lnSpc>
              </a:pPr>
              <a:r>
                <a:rPr lang="en-US" sz="2700" dirty="0">
                  <a:solidFill>
                    <a:srgbClr val="374151"/>
                  </a:solidFill>
                  <a:latin typeface="Noto Sans" panose="020B0502040504020204"/>
                  <a:ea typeface="Noto Sans" panose="020B0502040504020204"/>
                  <a:cs typeface="Noto Sans" panose="020B0502040504020204"/>
                  <a:sym typeface="Noto Sans" panose="020B0502040504020204"/>
                </a:rPr>
                <a:t>t = 12.29, p = 0.000 (p &lt; 0.001)</a:t>
              </a:r>
            </a:p>
          </p:txBody>
        </p:sp>
      </p:grpSp>
      <p:grpSp>
        <p:nvGrpSpPr>
          <p:cNvPr id="51" name="组合 50">
            <a:extLst>
              <a:ext uri="{FF2B5EF4-FFF2-40B4-BE49-F238E27FC236}">
                <a16:creationId xmlns:a16="http://schemas.microsoft.com/office/drawing/2014/main" id="{A7D1F9C3-E07F-1BDD-AB28-6C54AC790995}"/>
              </a:ext>
            </a:extLst>
          </p:cNvPr>
          <p:cNvGrpSpPr/>
          <p:nvPr/>
        </p:nvGrpSpPr>
        <p:grpSpPr>
          <a:xfrm>
            <a:off x="8382000" y="8688536"/>
            <a:ext cx="9067800" cy="1158503"/>
            <a:chOff x="2017367" y="8483606"/>
            <a:chExt cx="9067800" cy="1158503"/>
          </a:xfrm>
        </p:grpSpPr>
        <p:grpSp>
          <p:nvGrpSpPr>
            <p:cNvPr id="38" name="Group 38"/>
            <p:cNvGrpSpPr/>
            <p:nvPr/>
          </p:nvGrpSpPr>
          <p:grpSpPr>
            <a:xfrm>
              <a:off x="2017367" y="8505187"/>
              <a:ext cx="9067800" cy="1136922"/>
              <a:chOff x="0" y="0"/>
              <a:chExt cx="26718865" cy="2236568"/>
            </a:xfrm>
          </p:grpSpPr>
          <p:sp>
            <p:nvSpPr>
              <p:cNvPr id="39" name="Freeform 39"/>
              <p:cNvSpPr/>
              <p:nvPr/>
            </p:nvSpPr>
            <p:spPr>
              <a:xfrm>
                <a:off x="0" y="0"/>
                <a:ext cx="26718865" cy="2236568"/>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p>
            </p:txBody>
          </p:sp>
        </p:grpSp>
        <p:sp>
          <p:nvSpPr>
            <p:cNvPr id="43" name="TextBox 43"/>
            <p:cNvSpPr txBox="1"/>
            <p:nvPr/>
          </p:nvSpPr>
          <p:spPr>
            <a:xfrm>
              <a:off x="3046027" y="8483606"/>
              <a:ext cx="5251417" cy="659346"/>
            </a:xfrm>
            <a:prstGeom prst="rect">
              <a:avLst/>
            </a:prstGeom>
          </p:spPr>
          <p:txBody>
            <a:bodyPr lIns="0" tIns="0" rIns="0" bIns="0" rtlCol="0" anchor="ctr"/>
            <a:lstStyle/>
            <a:p>
              <a:pPr algn="l">
                <a:lnSpc>
                  <a:spcPts val="4500"/>
                </a:lnSpc>
              </a:pPr>
              <a:r>
                <a:rPr lang="en-US" sz="3000" b="1" dirty="0">
                  <a:solidFill>
                    <a:srgbClr val="FFFFFF"/>
                  </a:solidFill>
                  <a:latin typeface="Noto Sans Bold" panose="020B0802040504020204"/>
                  <a:ea typeface="Noto Sans Bold" panose="020B0802040504020204"/>
                  <a:cs typeface="Noto Sans Bold" panose="020B0802040504020204"/>
                  <a:sym typeface="Noto Sans Bold" panose="020B0802040504020204"/>
                </a:rPr>
                <a:t>Conclusion Determination</a:t>
              </a:r>
            </a:p>
          </p:txBody>
        </p:sp>
        <p:sp>
          <p:nvSpPr>
            <p:cNvPr id="46" name="TextBox 46"/>
            <p:cNvSpPr txBox="1"/>
            <p:nvPr/>
          </p:nvSpPr>
          <p:spPr>
            <a:xfrm>
              <a:off x="3080935" y="9006315"/>
              <a:ext cx="5181600" cy="635794"/>
            </a:xfrm>
            <a:prstGeom prst="rect">
              <a:avLst/>
            </a:prstGeom>
          </p:spPr>
          <p:txBody>
            <a:bodyPr lIns="0" tIns="0" rIns="0" bIns="0" rtlCol="0" anchor="ctr"/>
            <a:lstStyle/>
            <a:p>
              <a:pPr algn="l">
                <a:lnSpc>
                  <a:spcPts val="4050"/>
                </a:lnSpc>
              </a:pPr>
              <a:r>
                <a:rPr lang="en-US" sz="2700" dirty="0">
                  <a:solidFill>
                    <a:srgbClr val="FFFFFF"/>
                  </a:solidFill>
                  <a:latin typeface="Noto Sans" panose="020B0502040504020204"/>
                  <a:ea typeface="Noto Sans" panose="020B0502040504020204"/>
                  <a:cs typeface="Noto Sans" panose="020B0502040504020204"/>
                  <a:sym typeface="Noto Sans" panose="020B0502040504020204"/>
                </a:rPr>
                <a:t>The hypothesis is supported.</a:t>
              </a:r>
            </a:p>
          </p:txBody>
        </p:sp>
      </p:grpSp>
      <p:pic>
        <p:nvPicPr>
          <p:cNvPr id="50" name="图片 49">
            <a:extLst>
              <a:ext uri="{FF2B5EF4-FFF2-40B4-BE49-F238E27FC236}">
                <a16:creationId xmlns:a16="http://schemas.microsoft.com/office/drawing/2014/main" id="{8786E9CA-10BA-02E7-1942-0D34601748E1}"/>
              </a:ext>
            </a:extLst>
          </p:cNvPr>
          <p:cNvPicPr>
            <a:picLocks noChangeAspect="1"/>
          </p:cNvPicPr>
          <p:nvPr/>
        </p:nvPicPr>
        <p:blipFill>
          <a:blip r:embed="rId4"/>
          <a:stretch>
            <a:fillRect/>
          </a:stretch>
        </p:blipFill>
        <p:spPr>
          <a:xfrm>
            <a:off x="1371600" y="2839146"/>
            <a:ext cx="6096000" cy="5557607"/>
          </a:xfrm>
          <a:prstGeom prst="rect">
            <a:avLst/>
          </a:prstGeom>
        </p:spPr>
      </p:pic>
      <p:sp>
        <p:nvSpPr>
          <p:cNvPr id="53" name="TextBox 19">
            <a:extLst>
              <a:ext uri="{FF2B5EF4-FFF2-40B4-BE49-F238E27FC236}">
                <a16:creationId xmlns:a16="http://schemas.microsoft.com/office/drawing/2014/main" id="{FF7B93D3-5F85-839E-5BA4-3CE2CFECE919}"/>
              </a:ext>
            </a:extLst>
          </p:cNvPr>
          <p:cNvSpPr txBox="1"/>
          <p:nvPr/>
        </p:nvSpPr>
        <p:spPr>
          <a:xfrm>
            <a:off x="8382000" y="2324099"/>
            <a:ext cx="8985315" cy="6078367"/>
          </a:xfrm>
          <a:prstGeom prst="rect">
            <a:avLst/>
          </a:prstGeom>
        </p:spPr>
        <p:txBody>
          <a:bodyPr lIns="0" tIns="0" rIns="0" bIns="0" rtlCol="0" anchor="ctr"/>
          <a:lstStyle/>
          <a:p>
            <a:pPr>
              <a:lnSpc>
                <a:spcPts val="3000"/>
              </a:lnSpc>
            </a:pPr>
            <a:r>
              <a:rPr lang="en-US" sz="2000" b="1" dirty="0">
                <a:solidFill>
                  <a:srgbClr val="203864"/>
                </a:solidFill>
                <a:latin typeface="Noto Sans" panose="020B0502040504020204"/>
                <a:ea typeface="Noto Sans" panose="020B0502040504020204"/>
                <a:cs typeface="Noto Sans" panose="020B0502040504020204"/>
                <a:sym typeface="Noto Sans" panose="020B0502040504020204"/>
              </a:rPr>
              <a:t>Conclusion:</a:t>
            </a:r>
            <a:endParaRPr lang="en-US" sz="2000" b="1" dirty="0">
              <a:solidFill>
                <a:srgbClr val="374151"/>
              </a:solidFill>
              <a:latin typeface="Noto Sans" panose="020B0502040504020204"/>
              <a:ea typeface="Noto Sans" panose="020B0502040504020204"/>
              <a:cs typeface="Noto Sans" panose="020B0502040504020204"/>
              <a:sym typeface="Noto Sans" panose="020B0502040504020204"/>
            </a:endParaRPr>
          </a:p>
          <a:p>
            <a:pPr>
              <a:lnSpc>
                <a:spcPts val="3000"/>
              </a:lnSpc>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The perceptual control of the graphic group (A) is significantly higher than that of the video group (B) </a:t>
            </a:r>
            <a:r>
              <a:rPr lang="zh-CN" altLang="en-US" sz="3000" b="1" dirty="0">
                <a:solidFill>
                  <a:srgbClr val="1E3A8A"/>
                </a:solidFill>
                <a:latin typeface="Noto Sans Bold" panose="020B0802040504020204"/>
                <a:sym typeface="Noto Sans" panose="020B0502040504020204"/>
              </a:rPr>
              <a:t>→</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Graphics and text make users more "controllable" rather than videos.</a:t>
            </a:r>
          </a:p>
          <a:p>
            <a:pPr>
              <a:lnSpc>
                <a:spcPts val="3000"/>
              </a:lnSpc>
            </a:pPr>
            <a:endParaRPr lang="en-US" sz="2000" dirty="0">
              <a:solidFill>
                <a:srgbClr val="374151"/>
              </a:solidFill>
              <a:latin typeface="Noto Sans" panose="020B0502040504020204"/>
              <a:ea typeface="Noto Sans" panose="020B0502040504020204"/>
              <a:cs typeface="Noto Sans" panose="020B0502040504020204"/>
              <a:sym typeface="Noto Sans" panose="020B0502040504020204"/>
            </a:endParaRPr>
          </a:p>
          <a:p>
            <a:pPr>
              <a:lnSpc>
                <a:spcPts val="3000"/>
              </a:lnSpc>
            </a:pPr>
            <a:r>
              <a:rPr lang="en-US" sz="2000" b="1" dirty="0">
                <a:solidFill>
                  <a:srgbClr val="203864"/>
                </a:solidFill>
                <a:latin typeface="Noto Sans" panose="020B0502040504020204"/>
                <a:ea typeface="Noto Sans" panose="020B0502040504020204"/>
                <a:cs typeface="Noto Sans" panose="020B0502040504020204"/>
                <a:sym typeface="Noto Sans" panose="020B0502040504020204"/>
              </a:rPr>
              <a:t>Why interpret it this way</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Use </a:t>
            </a:r>
            <a:r>
              <a:rPr lang="en-US" sz="2000" dirty="0" err="1">
                <a:solidFill>
                  <a:srgbClr val="374151"/>
                </a:solidFill>
                <a:latin typeface="Noto Sans" panose="020B0502040504020204"/>
                <a:ea typeface="Noto Sans" panose="020B0502040504020204"/>
                <a:cs typeface="Noto Sans" panose="020B0502040504020204"/>
                <a:sym typeface="Noto Sans" panose="020B0502040504020204"/>
              </a:rPr>
              <a:t>pc_a</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=the average PC value of group A, pc-b=the average PC value of group B, and then do </a:t>
            </a:r>
            <a:r>
              <a:rPr lang="en-US" sz="2000" dirty="0" err="1">
                <a:solidFill>
                  <a:srgbClr val="374151"/>
                </a:solidFill>
                <a:latin typeface="Noto Sans" panose="020B0502040504020204"/>
                <a:ea typeface="Noto Sans" panose="020B0502040504020204"/>
                <a:cs typeface="Noto Sans" panose="020B0502040504020204"/>
                <a:sym typeface="Noto Sans" panose="020B0502040504020204"/>
              </a:rPr>
              <a:t>ttest_ind</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a:t>
            </a:r>
            <a:r>
              <a:rPr lang="en-US" sz="2000" dirty="0" err="1">
                <a:solidFill>
                  <a:srgbClr val="374151"/>
                </a:solidFill>
                <a:latin typeface="Noto Sans" panose="020B0502040504020204"/>
                <a:ea typeface="Noto Sans" panose="020B0502040504020204"/>
                <a:cs typeface="Noto Sans" panose="020B0502040504020204"/>
                <a:sym typeface="Noto Sans" panose="020B0502040504020204"/>
              </a:rPr>
              <a:t>pc_a</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pc-b, </a:t>
            </a:r>
            <a:r>
              <a:rPr lang="en-US" sz="2000" dirty="0" err="1">
                <a:solidFill>
                  <a:srgbClr val="374151"/>
                </a:solidFill>
                <a:latin typeface="Noto Sans" panose="020B0502040504020204"/>
                <a:ea typeface="Noto Sans" panose="020B0502040504020204"/>
                <a:cs typeface="Noto Sans" panose="020B0502040504020204"/>
                <a:sym typeface="Noto Sans" panose="020B0502040504020204"/>
              </a:rPr>
              <a:t>equalinvar</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=False).</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 is positive and large, indicating that mean (A)&gt;mean (B).</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P ≈ 0 indicates a highly significant difference.</a:t>
            </a:r>
          </a:p>
          <a:p>
            <a:pPr marL="342900" indent="-342900">
              <a:lnSpc>
                <a:spcPts val="3000"/>
              </a:lnSpc>
              <a:buFont typeface="Arial" panose="020B0604020202020204" pitchFamily="34" charset="0"/>
              <a:buChar char="•"/>
            </a:pPr>
            <a:endParaRPr lang="en-US" sz="2000" dirty="0">
              <a:solidFill>
                <a:srgbClr val="374151"/>
              </a:solidFill>
              <a:latin typeface="Noto Sans" panose="020B0502040504020204"/>
              <a:ea typeface="Noto Sans" panose="020B0502040504020204"/>
              <a:cs typeface="Noto Sans" panose="020B0502040504020204"/>
              <a:sym typeface="Noto Sans" panose="020B0502040504020204"/>
            </a:endParaRPr>
          </a:p>
          <a:p>
            <a:pPr>
              <a:lnSpc>
                <a:spcPts val="3000"/>
              </a:lnSpc>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Perceived control (PC) is not a literal understanding of "easier to read", but rather a sense of control over the pace and manner of information processing. Therefore, it can be expressed as' graphics and text bring stronger perceptual control than short videos'. This is consistent with the direction of H1 (H1 expects higher graphics and 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F33E9-6FF4-8FB3-6818-7F50B87153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91D5E4-9F8A-515A-CB51-297A75420DCC}"/>
              </a:ext>
            </a:extLst>
          </p:cNvPr>
          <p:cNvGrpSpPr/>
          <p:nvPr/>
        </p:nvGrpSpPr>
        <p:grpSpPr>
          <a:xfrm>
            <a:off x="-8334" y="0"/>
            <a:ext cx="714375" cy="10287000"/>
            <a:chOff x="0" y="0"/>
            <a:chExt cx="952500" cy="13716000"/>
          </a:xfrm>
        </p:grpSpPr>
        <p:sp>
          <p:nvSpPr>
            <p:cNvPr id="3" name="Freeform 3">
              <a:extLst>
                <a:ext uri="{FF2B5EF4-FFF2-40B4-BE49-F238E27FC236}">
                  <a16:creationId xmlns:a16="http://schemas.microsoft.com/office/drawing/2014/main" id="{119A5BBE-2817-6663-F779-8997D9C66B7D}"/>
                </a:ext>
              </a:extLst>
            </p:cNvPr>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a:extLst>
              <a:ext uri="{FF2B5EF4-FFF2-40B4-BE49-F238E27FC236}">
                <a16:creationId xmlns:a16="http://schemas.microsoft.com/office/drawing/2014/main" id="{2D32FE30-6C73-14BE-6B7C-BCD6B5986553}"/>
              </a:ext>
            </a:extLst>
          </p:cNvPr>
          <p:cNvSpPr txBox="1"/>
          <p:nvPr/>
        </p:nvSpPr>
        <p:spPr>
          <a:xfrm rot="5400000">
            <a:off x="-799786" y="8308444"/>
            <a:ext cx="2361571" cy="417852"/>
          </a:xfrm>
          <a:prstGeom prst="rect">
            <a:avLst/>
          </a:prstGeom>
        </p:spPr>
        <p:txBody>
          <a:bodyPr lIns="0" tIns="0" rIns="0" bIns="0" rtlCol="0" anchor="t">
            <a:spAutoFit/>
          </a:bodyPr>
          <a:lstStyle/>
          <a:p>
            <a:pPr algn="l">
              <a:lnSpc>
                <a:spcPts val="2520"/>
              </a:lnSpc>
            </a:pPr>
            <a:r>
              <a:rPr lang="en-US" sz="2100" spc="900">
                <a:solidFill>
                  <a:srgbClr val="FFFFFF"/>
                </a:solidFill>
                <a:latin typeface="Calibri (MS)" panose="020F0502020204030204"/>
                <a:ea typeface="Calibri (MS)" panose="020F0502020204030204"/>
                <a:cs typeface="Calibri (MS)" panose="020F0502020204030204"/>
                <a:sym typeface="Calibri (MS)" panose="020F0502020204030204"/>
              </a:rPr>
              <a:t>AIDM 7480</a:t>
            </a:r>
          </a:p>
        </p:txBody>
      </p:sp>
      <p:sp>
        <p:nvSpPr>
          <p:cNvPr id="5" name="Freeform 5">
            <a:extLst>
              <a:ext uri="{FF2B5EF4-FFF2-40B4-BE49-F238E27FC236}">
                <a16:creationId xmlns:a16="http://schemas.microsoft.com/office/drawing/2014/main" id="{2538476F-B12E-4EC0-71AE-A9B9755696DE}"/>
              </a:ext>
            </a:extLst>
          </p:cNvPr>
          <p:cNvSpPr/>
          <p:nvPr/>
        </p:nvSpPr>
        <p:spPr>
          <a:xfrm>
            <a:off x="321469" y="446624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a:extLst>
              <a:ext uri="{FF2B5EF4-FFF2-40B4-BE49-F238E27FC236}">
                <a16:creationId xmlns:a16="http://schemas.microsoft.com/office/drawing/2014/main" id="{6C8C1C58-8D83-BA6A-0C71-B8376D19BB9E}"/>
              </a:ext>
            </a:extLst>
          </p:cNvPr>
          <p:cNvSpPr txBox="1"/>
          <p:nvPr/>
        </p:nvSpPr>
        <p:spPr>
          <a:xfrm>
            <a:off x="1371600" y="647700"/>
            <a:ext cx="7429500" cy="1052096"/>
          </a:xfrm>
          <a:prstGeom prst="rect">
            <a:avLst/>
          </a:prstGeom>
        </p:spPr>
        <p:txBody>
          <a:bodyPr lIns="0" tIns="0" rIns="0" bIns="0" rtlCol="0" anchor="ctr"/>
          <a:lstStyle/>
          <a:p>
            <a:pPr algn="l">
              <a:lnSpc>
                <a:spcPts val="7200"/>
              </a:lnSpc>
            </a:pPr>
            <a:r>
              <a:rPr lang="en-US" sz="48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Hypothesis testing H2</a:t>
            </a:r>
          </a:p>
        </p:txBody>
      </p:sp>
      <p:sp>
        <p:nvSpPr>
          <p:cNvPr id="19" name="TextBox 19">
            <a:extLst>
              <a:ext uri="{FF2B5EF4-FFF2-40B4-BE49-F238E27FC236}">
                <a16:creationId xmlns:a16="http://schemas.microsoft.com/office/drawing/2014/main" id="{B9B8A577-B143-689D-8E51-2613FB563F1C}"/>
              </a:ext>
            </a:extLst>
          </p:cNvPr>
          <p:cNvSpPr txBox="1"/>
          <p:nvPr/>
        </p:nvSpPr>
        <p:spPr>
          <a:xfrm>
            <a:off x="1371600" y="1558294"/>
            <a:ext cx="16459200" cy="621506"/>
          </a:xfrm>
          <a:prstGeom prst="rect">
            <a:avLst/>
          </a:prstGeom>
        </p:spPr>
        <p:txBody>
          <a:bodyPr lIns="0" tIns="0" rIns="0" bIns="0" rtlCol="0" anchor="ctr"/>
          <a:lstStyle/>
          <a:p>
            <a:pPr>
              <a:lnSpc>
                <a:spcPts val="3300"/>
              </a:lnSpc>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Perceived control is positively associated with intentions to (H2a) like, (H2b) share, (H2c) comment, (H2d) watch/read, and (H2e) save.</a:t>
            </a:r>
          </a:p>
        </p:txBody>
      </p:sp>
      <p:sp>
        <p:nvSpPr>
          <p:cNvPr id="25" name="TextBox 25">
            <a:extLst>
              <a:ext uri="{FF2B5EF4-FFF2-40B4-BE49-F238E27FC236}">
                <a16:creationId xmlns:a16="http://schemas.microsoft.com/office/drawing/2014/main" id="{7C02EBC7-F5B9-AD86-FC35-AEC794469BC0}"/>
              </a:ext>
            </a:extLst>
          </p:cNvPr>
          <p:cNvSpPr txBox="1"/>
          <p:nvPr/>
        </p:nvSpPr>
        <p:spPr>
          <a:xfrm>
            <a:off x="1375330" y="2247900"/>
            <a:ext cx="3283866"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Testing methods</a:t>
            </a:r>
          </a:p>
        </p:txBody>
      </p:sp>
      <p:pic>
        <p:nvPicPr>
          <p:cNvPr id="8" name="图片 7">
            <a:extLst>
              <a:ext uri="{FF2B5EF4-FFF2-40B4-BE49-F238E27FC236}">
                <a16:creationId xmlns:a16="http://schemas.microsoft.com/office/drawing/2014/main" id="{2A3EB171-B68D-818D-3EA3-FBB4D5903637}"/>
              </a:ext>
            </a:extLst>
          </p:cNvPr>
          <p:cNvPicPr>
            <a:picLocks noChangeAspect="1"/>
          </p:cNvPicPr>
          <p:nvPr/>
        </p:nvPicPr>
        <p:blipFill>
          <a:blip r:embed="rId4"/>
          <a:stretch>
            <a:fillRect/>
          </a:stretch>
        </p:blipFill>
        <p:spPr>
          <a:xfrm>
            <a:off x="1365618" y="3057658"/>
            <a:ext cx="5659489" cy="4997905"/>
          </a:xfrm>
          <a:prstGeom prst="rect">
            <a:avLst/>
          </a:prstGeom>
        </p:spPr>
      </p:pic>
      <p:pic>
        <p:nvPicPr>
          <p:cNvPr id="11" name="图片 10">
            <a:extLst>
              <a:ext uri="{FF2B5EF4-FFF2-40B4-BE49-F238E27FC236}">
                <a16:creationId xmlns:a16="http://schemas.microsoft.com/office/drawing/2014/main" id="{ACF7ECAB-4633-920A-EFE0-8DDC51C8A615}"/>
              </a:ext>
            </a:extLst>
          </p:cNvPr>
          <p:cNvPicPr>
            <a:picLocks noChangeAspect="1"/>
          </p:cNvPicPr>
          <p:nvPr/>
        </p:nvPicPr>
        <p:blipFill>
          <a:blip r:embed="rId5"/>
          <a:stretch>
            <a:fillRect/>
          </a:stretch>
        </p:blipFill>
        <p:spPr>
          <a:xfrm>
            <a:off x="7039632" y="3057257"/>
            <a:ext cx="4848004" cy="4910336"/>
          </a:xfrm>
          <a:prstGeom prst="rect">
            <a:avLst/>
          </a:prstGeom>
        </p:spPr>
      </p:pic>
      <p:pic>
        <p:nvPicPr>
          <p:cNvPr id="1026" name="Picture 2">
            <a:extLst>
              <a:ext uri="{FF2B5EF4-FFF2-40B4-BE49-F238E27FC236}">
                <a16:creationId xmlns:a16="http://schemas.microsoft.com/office/drawing/2014/main" id="{35C7AADB-3130-4D04-A572-8D0B00D616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17401" y="2791036"/>
            <a:ext cx="5659489" cy="527194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29">
            <a:extLst>
              <a:ext uri="{FF2B5EF4-FFF2-40B4-BE49-F238E27FC236}">
                <a16:creationId xmlns:a16="http://schemas.microsoft.com/office/drawing/2014/main" id="{44C79C51-D124-7525-B7D9-C930D364C9DF}"/>
              </a:ext>
            </a:extLst>
          </p:cNvPr>
          <p:cNvGrpSpPr/>
          <p:nvPr/>
        </p:nvGrpSpPr>
        <p:grpSpPr>
          <a:xfrm>
            <a:off x="1365618" y="8391658"/>
            <a:ext cx="16181507" cy="1628642"/>
            <a:chOff x="0" y="0"/>
            <a:chExt cx="10414000" cy="3408399"/>
          </a:xfrm>
        </p:grpSpPr>
        <p:sp>
          <p:nvSpPr>
            <p:cNvPr id="22" name="Freeform 30">
              <a:extLst>
                <a:ext uri="{FF2B5EF4-FFF2-40B4-BE49-F238E27FC236}">
                  <a16:creationId xmlns:a16="http://schemas.microsoft.com/office/drawing/2014/main" id="{9C541DD6-66E2-D199-A776-37A24A9D392E}"/>
                </a:ext>
              </a:extLst>
            </p:cNvPr>
            <p:cNvSpPr/>
            <p:nvPr/>
          </p:nvSpPr>
          <p:spPr>
            <a:xfrm>
              <a:off x="0" y="0"/>
              <a:ext cx="10414000" cy="3408399"/>
            </a:xfrm>
            <a:custGeom>
              <a:avLst/>
              <a:gdLst/>
              <a:ahLst/>
              <a:cxnLst/>
              <a:rect l="l" t="t" r="r" b="b"/>
              <a:pathLst>
                <a:path w="10414000" h="2794000">
                  <a:moveTo>
                    <a:pt x="0" y="254000"/>
                  </a:moveTo>
                  <a:cubicBezTo>
                    <a:pt x="0" y="113665"/>
                    <a:pt x="113665" y="0"/>
                    <a:pt x="254000" y="0"/>
                  </a:cubicBezTo>
                  <a:lnTo>
                    <a:pt x="10160000" y="0"/>
                  </a:lnTo>
                  <a:cubicBezTo>
                    <a:pt x="10300208" y="0"/>
                    <a:pt x="10414000" y="113665"/>
                    <a:pt x="10414000" y="254000"/>
                  </a:cubicBezTo>
                  <a:lnTo>
                    <a:pt x="10414000" y="2540000"/>
                  </a:lnTo>
                  <a:cubicBezTo>
                    <a:pt x="10414000" y="2680208"/>
                    <a:pt x="10300335" y="2794000"/>
                    <a:pt x="10160000" y="2794000"/>
                  </a:cubicBezTo>
                  <a:lnTo>
                    <a:pt x="254000" y="2794000"/>
                  </a:lnTo>
                  <a:cubicBezTo>
                    <a:pt x="113792" y="2794000"/>
                    <a:pt x="0" y="2680335"/>
                    <a:pt x="0" y="2540000"/>
                  </a:cubicBezTo>
                  <a:close/>
                </a:path>
              </a:pathLst>
            </a:custGeom>
            <a:solidFill>
              <a:srgbClr val="F3F4F6"/>
            </a:solidFill>
          </p:spPr>
          <p:txBody>
            <a:bodyPr/>
            <a:lstStyle/>
            <a:p>
              <a:endParaRPr lang="zh-CN" altLang="en-US" dirty="0"/>
            </a:p>
          </p:txBody>
        </p:sp>
      </p:grpSp>
      <p:sp>
        <p:nvSpPr>
          <p:cNvPr id="20" name="TextBox 34">
            <a:extLst>
              <a:ext uri="{FF2B5EF4-FFF2-40B4-BE49-F238E27FC236}">
                <a16:creationId xmlns:a16="http://schemas.microsoft.com/office/drawing/2014/main" id="{161F29E9-9B1F-0F99-B65D-F0E1FCB1DF5F}"/>
              </a:ext>
            </a:extLst>
          </p:cNvPr>
          <p:cNvSpPr txBox="1"/>
          <p:nvPr/>
        </p:nvSpPr>
        <p:spPr>
          <a:xfrm>
            <a:off x="13266884" y="8107806"/>
            <a:ext cx="4038600" cy="567703"/>
          </a:xfrm>
          <a:prstGeom prst="rect">
            <a:avLst/>
          </a:prstGeom>
        </p:spPr>
        <p:txBody>
          <a:bodyPr lIns="0" tIns="0" rIns="0" bIns="0" rtlCol="0" anchor="ctr"/>
          <a:lstStyle/>
          <a:p>
            <a:pPr>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The heatmap shows</a:t>
            </a:r>
          </a:p>
        </p:txBody>
      </p:sp>
      <p:sp>
        <p:nvSpPr>
          <p:cNvPr id="21" name="TextBox 37">
            <a:extLst>
              <a:ext uri="{FF2B5EF4-FFF2-40B4-BE49-F238E27FC236}">
                <a16:creationId xmlns:a16="http://schemas.microsoft.com/office/drawing/2014/main" id="{0BAD13C1-4EFC-C370-80F9-994E9728FDAC}"/>
              </a:ext>
            </a:extLst>
          </p:cNvPr>
          <p:cNvSpPr txBox="1"/>
          <p:nvPr/>
        </p:nvSpPr>
        <p:spPr>
          <a:xfrm>
            <a:off x="1828800" y="8514520"/>
            <a:ext cx="12198300" cy="1316169"/>
          </a:xfrm>
          <a:prstGeom prst="rect">
            <a:avLst/>
          </a:prstGeom>
        </p:spPr>
        <p:txBody>
          <a:bodyPr lIns="0" tIns="0" rIns="0" bIns="0" rtlCol="0" anchor="ctr"/>
          <a:lstStyle/>
          <a:p>
            <a:pPr marL="342900" indent="-342900">
              <a:lnSpc>
                <a:spcPct val="150000"/>
              </a:lnSpc>
              <a:buFont typeface="Arial" panose="020B0604020202020204" pitchFamily="34" charset="0"/>
              <a:buChar char="•"/>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Independent variable → mediating variable: Grouping changed users' sense of control</a:t>
            </a:r>
          </a:p>
          <a:p>
            <a:pPr marL="342900" indent="-342900">
              <a:lnSpc>
                <a:spcPct val="150000"/>
              </a:lnSpc>
              <a:buFont typeface="Arial" panose="020B0604020202020204" pitchFamily="34" charset="0"/>
              <a:buChar char="•"/>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(0.68).Mediating variable → dependent variable: Sense of control enhances user behavior</a:t>
            </a:r>
          </a:p>
          <a:p>
            <a:pPr marL="342900" indent="-342900">
              <a:lnSpc>
                <a:spcPct val="150000"/>
              </a:lnSpc>
              <a:buFont typeface="Arial" panose="020B0604020202020204" pitchFamily="34" charset="0"/>
              <a:buChar char="•"/>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(0.40+).Independent variable → dependent variable: Grouping improved user behavior (0.30+).</a:t>
            </a:r>
            <a:endParaRPr lang="en-US" sz="2000" dirty="0">
              <a:solidFill>
                <a:srgbClr val="374151"/>
              </a:solidFill>
              <a:latin typeface="Noto Sans" panose="020B0502040504020204"/>
              <a:ea typeface="Noto Sans" panose="020B0502040504020204"/>
              <a:cs typeface="Noto Sans" panose="020B0502040504020204"/>
              <a:sym typeface="Noto Sans" panose="020B0502040504020204"/>
            </a:endParaRPr>
          </a:p>
        </p:txBody>
      </p:sp>
    </p:spTree>
    <p:extLst>
      <p:ext uri="{BB962C8B-B14F-4D97-AF65-F5344CB8AC3E}">
        <p14:creationId xmlns:p14="http://schemas.microsoft.com/office/powerpoint/2010/main" val="404256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690D-9982-6C42-D8B2-8317833608C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CBDD73-E4D5-216B-2B8C-D6580CF02763}"/>
              </a:ext>
            </a:extLst>
          </p:cNvPr>
          <p:cNvGrpSpPr/>
          <p:nvPr/>
        </p:nvGrpSpPr>
        <p:grpSpPr>
          <a:xfrm>
            <a:off x="-8334" y="0"/>
            <a:ext cx="714375" cy="10287000"/>
            <a:chOff x="0" y="0"/>
            <a:chExt cx="952500" cy="13716000"/>
          </a:xfrm>
        </p:grpSpPr>
        <p:sp>
          <p:nvSpPr>
            <p:cNvPr id="3" name="Freeform 3">
              <a:extLst>
                <a:ext uri="{FF2B5EF4-FFF2-40B4-BE49-F238E27FC236}">
                  <a16:creationId xmlns:a16="http://schemas.microsoft.com/office/drawing/2014/main" id="{1ECA7E97-6790-7A49-778E-9D60BCFE7A87}"/>
                </a:ext>
              </a:extLst>
            </p:cNvPr>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a:extLst>
              <a:ext uri="{FF2B5EF4-FFF2-40B4-BE49-F238E27FC236}">
                <a16:creationId xmlns:a16="http://schemas.microsoft.com/office/drawing/2014/main" id="{4B029558-14E6-D8E0-294D-C0F9F6D226DE}"/>
              </a:ext>
            </a:extLst>
          </p:cNvPr>
          <p:cNvSpPr txBox="1"/>
          <p:nvPr/>
        </p:nvSpPr>
        <p:spPr>
          <a:xfrm rot="5400000">
            <a:off x="-799786" y="8308444"/>
            <a:ext cx="2361571" cy="417852"/>
          </a:xfrm>
          <a:prstGeom prst="rect">
            <a:avLst/>
          </a:prstGeom>
        </p:spPr>
        <p:txBody>
          <a:bodyPr lIns="0" tIns="0" rIns="0" bIns="0" rtlCol="0" anchor="t">
            <a:spAutoFit/>
          </a:bodyPr>
          <a:lstStyle/>
          <a:p>
            <a:pPr algn="l">
              <a:lnSpc>
                <a:spcPts val="2520"/>
              </a:lnSpc>
            </a:pPr>
            <a:r>
              <a:rPr lang="en-US" sz="2100" spc="900">
                <a:solidFill>
                  <a:srgbClr val="FFFFFF"/>
                </a:solidFill>
                <a:latin typeface="Calibri (MS)" panose="020F0502020204030204"/>
                <a:ea typeface="Calibri (MS)" panose="020F0502020204030204"/>
                <a:cs typeface="Calibri (MS)" panose="020F0502020204030204"/>
                <a:sym typeface="Calibri (MS)" panose="020F0502020204030204"/>
              </a:rPr>
              <a:t>AIDM 7480</a:t>
            </a:r>
          </a:p>
        </p:txBody>
      </p:sp>
      <p:sp>
        <p:nvSpPr>
          <p:cNvPr id="5" name="Freeform 5">
            <a:extLst>
              <a:ext uri="{FF2B5EF4-FFF2-40B4-BE49-F238E27FC236}">
                <a16:creationId xmlns:a16="http://schemas.microsoft.com/office/drawing/2014/main" id="{BF9943DF-5CCE-AD3A-DA53-B9E59486B3A3}"/>
              </a:ext>
            </a:extLst>
          </p:cNvPr>
          <p:cNvSpPr/>
          <p:nvPr/>
        </p:nvSpPr>
        <p:spPr>
          <a:xfrm>
            <a:off x="321469" y="446624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a:extLst>
              <a:ext uri="{FF2B5EF4-FFF2-40B4-BE49-F238E27FC236}">
                <a16:creationId xmlns:a16="http://schemas.microsoft.com/office/drawing/2014/main" id="{037FC612-22BB-6810-662F-344B1C02B42E}"/>
              </a:ext>
            </a:extLst>
          </p:cNvPr>
          <p:cNvSpPr txBox="1"/>
          <p:nvPr/>
        </p:nvSpPr>
        <p:spPr>
          <a:xfrm>
            <a:off x="1371600" y="647700"/>
            <a:ext cx="7429500" cy="1052096"/>
          </a:xfrm>
          <a:prstGeom prst="rect">
            <a:avLst/>
          </a:prstGeom>
        </p:spPr>
        <p:txBody>
          <a:bodyPr lIns="0" tIns="0" rIns="0" bIns="0" rtlCol="0" anchor="ctr"/>
          <a:lstStyle/>
          <a:p>
            <a:pPr algn="l">
              <a:lnSpc>
                <a:spcPts val="7200"/>
              </a:lnSpc>
            </a:pPr>
            <a:r>
              <a:rPr lang="en-US" sz="48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Hypothesis testing H2</a:t>
            </a:r>
          </a:p>
        </p:txBody>
      </p:sp>
      <p:sp>
        <p:nvSpPr>
          <p:cNvPr id="19" name="TextBox 19">
            <a:extLst>
              <a:ext uri="{FF2B5EF4-FFF2-40B4-BE49-F238E27FC236}">
                <a16:creationId xmlns:a16="http://schemas.microsoft.com/office/drawing/2014/main" id="{B08539E2-5C35-9619-5ECF-B6DCA646DB24}"/>
              </a:ext>
            </a:extLst>
          </p:cNvPr>
          <p:cNvSpPr txBox="1"/>
          <p:nvPr/>
        </p:nvSpPr>
        <p:spPr>
          <a:xfrm>
            <a:off x="1371600" y="1558294"/>
            <a:ext cx="16459200" cy="621506"/>
          </a:xfrm>
          <a:prstGeom prst="rect">
            <a:avLst/>
          </a:prstGeom>
        </p:spPr>
        <p:txBody>
          <a:bodyPr lIns="0" tIns="0" rIns="0" bIns="0" rtlCol="0" anchor="ctr"/>
          <a:lstStyle/>
          <a:p>
            <a:pPr>
              <a:lnSpc>
                <a:spcPts val="3300"/>
              </a:lnSpc>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Perceived control is positively associated with intentions to (H2a) like, (H2b) share, (H2c) comment, (H2d) watch/read, and (H2e) save.</a:t>
            </a:r>
          </a:p>
        </p:txBody>
      </p:sp>
      <p:sp>
        <p:nvSpPr>
          <p:cNvPr id="25" name="TextBox 25">
            <a:extLst>
              <a:ext uri="{FF2B5EF4-FFF2-40B4-BE49-F238E27FC236}">
                <a16:creationId xmlns:a16="http://schemas.microsoft.com/office/drawing/2014/main" id="{FDAA3A49-733D-62A7-DDC0-AC34AA021F40}"/>
              </a:ext>
            </a:extLst>
          </p:cNvPr>
          <p:cNvSpPr txBox="1"/>
          <p:nvPr/>
        </p:nvSpPr>
        <p:spPr>
          <a:xfrm>
            <a:off x="1365619" y="2426754"/>
            <a:ext cx="3283866"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Testing methods</a:t>
            </a:r>
          </a:p>
        </p:txBody>
      </p:sp>
      <p:grpSp>
        <p:nvGrpSpPr>
          <p:cNvPr id="52" name="组合 51">
            <a:extLst>
              <a:ext uri="{FF2B5EF4-FFF2-40B4-BE49-F238E27FC236}">
                <a16:creationId xmlns:a16="http://schemas.microsoft.com/office/drawing/2014/main" id="{D0307BAC-0F0A-C0D1-BF1E-3565520757B2}"/>
              </a:ext>
            </a:extLst>
          </p:cNvPr>
          <p:cNvGrpSpPr/>
          <p:nvPr/>
        </p:nvGrpSpPr>
        <p:grpSpPr>
          <a:xfrm>
            <a:off x="1365619" y="8343900"/>
            <a:ext cx="6561875" cy="1162049"/>
            <a:chOff x="10439400" y="8505187"/>
            <a:chExt cx="6561875" cy="1162049"/>
          </a:xfrm>
        </p:grpSpPr>
        <p:grpSp>
          <p:nvGrpSpPr>
            <p:cNvPr id="29" name="Group 29">
              <a:extLst>
                <a:ext uri="{FF2B5EF4-FFF2-40B4-BE49-F238E27FC236}">
                  <a16:creationId xmlns:a16="http://schemas.microsoft.com/office/drawing/2014/main" id="{FF6FB947-7467-AA43-15CE-963310CD0ED8}"/>
                </a:ext>
              </a:extLst>
            </p:cNvPr>
            <p:cNvGrpSpPr/>
            <p:nvPr/>
          </p:nvGrpSpPr>
          <p:grpSpPr>
            <a:xfrm>
              <a:off x="10439400" y="8505187"/>
              <a:ext cx="6561875" cy="1162049"/>
              <a:chOff x="0" y="0"/>
              <a:chExt cx="10414000" cy="2794000"/>
            </a:xfrm>
          </p:grpSpPr>
          <p:sp>
            <p:nvSpPr>
              <p:cNvPr id="30" name="Freeform 30">
                <a:extLst>
                  <a:ext uri="{FF2B5EF4-FFF2-40B4-BE49-F238E27FC236}">
                    <a16:creationId xmlns:a16="http://schemas.microsoft.com/office/drawing/2014/main" id="{2A0ECEFD-1243-6EE3-99C3-09D584FBD115}"/>
                  </a:ext>
                </a:extLst>
              </p:cNvPr>
              <p:cNvSpPr/>
              <p:nvPr/>
            </p:nvSpPr>
            <p:spPr>
              <a:xfrm>
                <a:off x="0" y="0"/>
                <a:ext cx="10414000" cy="2794000"/>
              </a:xfrm>
              <a:custGeom>
                <a:avLst/>
                <a:gdLst/>
                <a:ahLst/>
                <a:cxnLst/>
                <a:rect l="l" t="t" r="r" b="b"/>
                <a:pathLst>
                  <a:path w="10414000" h="2794000">
                    <a:moveTo>
                      <a:pt x="0" y="254000"/>
                    </a:moveTo>
                    <a:cubicBezTo>
                      <a:pt x="0" y="113665"/>
                      <a:pt x="113665" y="0"/>
                      <a:pt x="254000" y="0"/>
                    </a:cubicBezTo>
                    <a:lnTo>
                      <a:pt x="10160000" y="0"/>
                    </a:lnTo>
                    <a:cubicBezTo>
                      <a:pt x="10300208" y="0"/>
                      <a:pt x="10414000" y="113665"/>
                      <a:pt x="10414000" y="254000"/>
                    </a:cubicBezTo>
                    <a:lnTo>
                      <a:pt x="10414000" y="2540000"/>
                    </a:lnTo>
                    <a:cubicBezTo>
                      <a:pt x="10414000" y="2680208"/>
                      <a:pt x="10300335" y="2794000"/>
                      <a:pt x="10160000" y="2794000"/>
                    </a:cubicBezTo>
                    <a:lnTo>
                      <a:pt x="254000" y="2794000"/>
                    </a:lnTo>
                    <a:cubicBezTo>
                      <a:pt x="113792" y="2794000"/>
                      <a:pt x="0" y="2680335"/>
                      <a:pt x="0" y="2540000"/>
                    </a:cubicBezTo>
                    <a:close/>
                  </a:path>
                </a:pathLst>
              </a:custGeom>
              <a:solidFill>
                <a:srgbClr val="F3F4F6"/>
              </a:solidFill>
            </p:spPr>
          </p:sp>
        </p:grpSp>
        <p:sp>
          <p:nvSpPr>
            <p:cNvPr id="34" name="TextBox 34">
              <a:extLst>
                <a:ext uri="{FF2B5EF4-FFF2-40B4-BE49-F238E27FC236}">
                  <a16:creationId xmlns:a16="http://schemas.microsoft.com/office/drawing/2014/main" id="{583BC23E-22CB-60F9-873C-B6AA6890B604}"/>
                </a:ext>
              </a:extLst>
            </p:cNvPr>
            <p:cNvSpPr txBox="1"/>
            <p:nvPr/>
          </p:nvSpPr>
          <p:spPr>
            <a:xfrm>
              <a:off x="11245170" y="8505187"/>
              <a:ext cx="3727417"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Statistical results</a:t>
              </a:r>
            </a:p>
          </p:txBody>
        </p:sp>
        <p:sp>
          <p:nvSpPr>
            <p:cNvPr id="37" name="TextBox 37">
              <a:extLst>
                <a:ext uri="{FF2B5EF4-FFF2-40B4-BE49-F238E27FC236}">
                  <a16:creationId xmlns:a16="http://schemas.microsoft.com/office/drawing/2014/main" id="{C5A9191C-D641-BC91-E77A-BBE165598023}"/>
                </a:ext>
              </a:extLst>
            </p:cNvPr>
            <p:cNvSpPr txBox="1"/>
            <p:nvPr/>
          </p:nvSpPr>
          <p:spPr>
            <a:xfrm>
              <a:off x="11247029" y="8985191"/>
              <a:ext cx="4946617" cy="635794"/>
            </a:xfrm>
            <a:prstGeom prst="rect">
              <a:avLst/>
            </a:prstGeom>
          </p:spPr>
          <p:txBody>
            <a:bodyPr lIns="0" tIns="0" rIns="0" bIns="0" rtlCol="0" anchor="ctr"/>
            <a:lstStyle/>
            <a:p>
              <a:pPr>
                <a:lnSpc>
                  <a:spcPts val="4050"/>
                </a:lnSpc>
              </a:pPr>
              <a:r>
                <a:rPr lang="en-US" altLang="zh-CN" sz="2700" dirty="0">
                  <a:solidFill>
                    <a:srgbClr val="374151"/>
                  </a:solidFill>
                  <a:latin typeface="Noto Sans" panose="020B0502040504020204"/>
                  <a:ea typeface="Noto Sans" panose="020B0502040504020204"/>
                  <a:cs typeface="Noto Sans" panose="020B0502040504020204"/>
                  <a:sym typeface="Noto Sans" panose="020B0502040504020204"/>
                </a:rPr>
                <a:t>r &gt; 0</a:t>
              </a:r>
              <a:r>
                <a:rPr lang="zh-CN" altLang="en-US" sz="2700" dirty="0">
                  <a:solidFill>
                    <a:srgbClr val="374151"/>
                  </a:solidFill>
                  <a:latin typeface="Noto Sans" panose="020B0502040504020204"/>
                  <a:ea typeface="Noto Sans" panose="020B0502040504020204"/>
                  <a:cs typeface="Noto Sans" panose="020B0502040504020204"/>
                  <a:sym typeface="Noto Sans" panose="020B0502040504020204"/>
                </a:rPr>
                <a:t>，</a:t>
              </a:r>
              <a:r>
                <a:rPr lang="en-US" altLang="zh-CN" sz="2700" dirty="0">
                  <a:solidFill>
                    <a:srgbClr val="374151"/>
                  </a:solidFill>
                  <a:latin typeface="Noto Sans" panose="020B0502040504020204"/>
                  <a:ea typeface="Noto Sans" panose="020B0502040504020204"/>
                  <a:cs typeface="Noto Sans" panose="020B0502040504020204"/>
                  <a:sym typeface="Noto Sans" panose="020B0502040504020204"/>
                </a:rPr>
                <a:t> p = 0.000 (p &lt; 0.001)</a:t>
              </a:r>
              <a:endParaRPr lang="en-US" sz="2700" dirty="0">
                <a:solidFill>
                  <a:srgbClr val="374151"/>
                </a:solidFill>
                <a:latin typeface="Noto Sans" panose="020B0502040504020204"/>
                <a:ea typeface="Noto Sans" panose="020B0502040504020204"/>
                <a:cs typeface="Noto Sans" panose="020B0502040504020204"/>
                <a:sym typeface="Noto Sans" panose="020B0502040504020204"/>
              </a:endParaRPr>
            </a:p>
          </p:txBody>
        </p:sp>
      </p:grpSp>
      <p:grpSp>
        <p:nvGrpSpPr>
          <p:cNvPr id="51" name="组合 50">
            <a:extLst>
              <a:ext uri="{FF2B5EF4-FFF2-40B4-BE49-F238E27FC236}">
                <a16:creationId xmlns:a16="http://schemas.microsoft.com/office/drawing/2014/main" id="{BF462FBA-B47F-7BC9-A4F3-9D98162D96E2}"/>
              </a:ext>
            </a:extLst>
          </p:cNvPr>
          <p:cNvGrpSpPr/>
          <p:nvPr/>
        </p:nvGrpSpPr>
        <p:grpSpPr>
          <a:xfrm>
            <a:off x="8373091" y="8343900"/>
            <a:ext cx="9067800" cy="1158503"/>
            <a:chOff x="2017367" y="8483606"/>
            <a:chExt cx="9067800" cy="1158503"/>
          </a:xfrm>
        </p:grpSpPr>
        <p:grpSp>
          <p:nvGrpSpPr>
            <p:cNvPr id="38" name="Group 38">
              <a:extLst>
                <a:ext uri="{FF2B5EF4-FFF2-40B4-BE49-F238E27FC236}">
                  <a16:creationId xmlns:a16="http://schemas.microsoft.com/office/drawing/2014/main" id="{B4577DD9-E7EA-5C71-AFB1-6B4CD5215A58}"/>
                </a:ext>
              </a:extLst>
            </p:cNvPr>
            <p:cNvGrpSpPr/>
            <p:nvPr/>
          </p:nvGrpSpPr>
          <p:grpSpPr>
            <a:xfrm>
              <a:off x="2017367" y="8505187"/>
              <a:ext cx="9067800" cy="1136922"/>
              <a:chOff x="0" y="0"/>
              <a:chExt cx="26718865" cy="2236568"/>
            </a:xfrm>
          </p:grpSpPr>
          <p:sp>
            <p:nvSpPr>
              <p:cNvPr id="39" name="Freeform 39">
                <a:extLst>
                  <a:ext uri="{FF2B5EF4-FFF2-40B4-BE49-F238E27FC236}">
                    <a16:creationId xmlns:a16="http://schemas.microsoft.com/office/drawing/2014/main" id="{EDC5E328-506A-790B-9F1F-2D892DC3E4E3}"/>
                  </a:ext>
                </a:extLst>
              </p:cNvPr>
              <p:cNvSpPr/>
              <p:nvPr/>
            </p:nvSpPr>
            <p:spPr>
              <a:xfrm>
                <a:off x="0" y="0"/>
                <a:ext cx="26718865" cy="2236568"/>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p>
            </p:txBody>
          </p:sp>
        </p:grpSp>
        <p:sp>
          <p:nvSpPr>
            <p:cNvPr id="43" name="TextBox 43">
              <a:extLst>
                <a:ext uri="{FF2B5EF4-FFF2-40B4-BE49-F238E27FC236}">
                  <a16:creationId xmlns:a16="http://schemas.microsoft.com/office/drawing/2014/main" id="{72FEE65E-1BC1-DF99-403C-876AB15C529B}"/>
                </a:ext>
              </a:extLst>
            </p:cNvPr>
            <p:cNvSpPr txBox="1"/>
            <p:nvPr/>
          </p:nvSpPr>
          <p:spPr>
            <a:xfrm>
              <a:off x="3046027" y="8483606"/>
              <a:ext cx="5251417" cy="659346"/>
            </a:xfrm>
            <a:prstGeom prst="rect">
              <a:avLst/>
            </a:prstGeom>
          </p:spPr>
          <p:txBody>
            <a:bodyPr lIns="0" tIns="0" rIns="0" bIns="0" rtlCol="0" anchor="ctr"/>
            <a:lstStyle/>
            <a:p>
              <a:pPr algn="l">
                <a:lnSpc>
                  <a:spcPts val="4500"/>
                </a:lnSpc>
              </a:pPr>
              <a:r>
                <a:rPr lang="en-US" sz="3000" b="1" dirty="0">
                  <a:solidFill>
                    <a:srgbClr val="FFFFFF"/>
                  </a:solidFill>
                  <a:latin typeface="Noto Sans Bold" panose="020B0802040504020204"/>
                  <a:ea typeface="Noto Sans Bold" panose="020B0802040504020204"/>
                  <a:cs typeface="Noto Sans Bold" panose="020B0802040504020204"/>
                  <a:sym typeface="Noto Sans Bold" panose="020B0802040504020204"/>
                </a:rPr>
                <a:t>Conclusion Determination</a:t>
              </a:r>
            </a:p>
          </p:txBody>
        </p:sp>
        <p:sp>
          <p:nvSpPr>
            <p:cNvPr id="46" name="TextBox 46">
              <a:extLst>
                <a:ext uri="{FF2B5EF4-FFF2-40B4-BE49-F238E27FC236}">
                  <a16:creationId xmlns:a16="http://schemas.microsoft.com/office/drawing/2014/main" id="{3703859D-0244-595D-EB6B-71456C2E6643}"/>
                </a:ext>
              </a:extLst>
            </p:cNvPr>
            <p:cNvSpPr txBox="1"/>
            <p:nvPr/>
          </p:nvSpPr>
          <p:spPr>
            <a:xfrm>
              <a:off x="3080935" y="9006315"/>
              <a:ext cx="5181600" cy="635794"/>
            </a:xfrm>
            <a:prstGeom prst="rect">
              <a:avLst/>
            </a:prstGeom>
          </p:spPr>
          <p:txBody>
            <a:bodyPr lIns="0" tIns="0" rIns="0" bIns="0" rtlCol="0" anchor="ctr"/>
            <a:lstStyle/>
            <a:p>
              <a:pPr algn="l">
                <a:lnSpc>
                  <a:spcPts val="4050"/>
                </a:lnSpc>
              </a:pPr>
              <a:r>
                <a:rPr lang="en-US" sz="2700" dirty="0">
                  <a:solidFill>
                    <a:srgbClr val="FFFFFF"/>
                  </a:solidFill>
                  <a:latin typeface="Noto Sans" panose="020B0502040504020204"/>
                  <a:ea typeface="Noto Sans" panose="020B0502040504020204"/>
                  <a:cs typeface="Noto Sans" panose="020B0502040504020204"/>
                  <a:sym typeface="Noto Sans" panose="020B0502040504020204"/>
                </a:rPr>
                <a:t>The hypothesis is supported.</a:t>
              </a:r>
            </a:p>
          </p:txBody>
        </p:sp>
      </p:grpSp>
      <p:sp>
        <p:nvSpPr>
          <p:cNvPr id="53" name="TextBox 19">
            <a:extLst>
              <a:ext uri="{FF2B5EF4-FFF2-40B4-BE49-F238E27FC236}">
                <a16:creationId xmlns:a16="http://schemas.microsoft.com/office/drawing/2014/main" id="{2CF37BE5-42D6-B24A-2E4B-91C192289AF5}"/>
              </a:ext>
            </a:extLst>
          </p:cNvPr>
          <p:cNvSpPr txBox="1"/>
          <p:nvPr/>
        </p:nvSpPr>
        <p:spPr>
          <a:xfrm>
            <a:off x="8387981" y="3688422"/>
            <a:ext cx="8534400" cy="2910155"/>
          </a:xfrm>
          <a:prstGeom prst="rect">
            <a:avLst/>
          </a:prstGeom>
        </p:spPr>
        <p:txBody>
          <a:bodyPr lIns="0" tIns="0" rIns="0" bIns="0" rtlCol="0" anchor="ctr"/>
          <a:lstStyle/>
          <a:p>
            <a:pPr>
              <a:lnSpc>
                <a:spcPts val="3000"/>
              </a:lnSpc>
            </a:pPr>
            <a:r>
              <a:rPr lang="en-US" sz="2000" b="1" dirty="0">
                <a:solidFill>
                  <a:srgbClr val="203864"/>
                </a:solidFill>
                <a:latin typeface="Noto Sans" panose="020B0502040504020204"/>
                <a:ea typeface="Noto Sans" panose="020B0502040504020204"/>
                <a:cs typeface="Noto Sans" panose="020B0502040504020204"/>
                <a:sym typeface="Noto Sans" panose="020B0502040504020204"/>
              </a:rPr>
              <a:t>Conclusion:</a:t>
            </a:r>
            <a:endParaRPr lang="en-US" sz="2000" b="1" dirty="0">
              <a:solidFill>
                <a:srgbClr val="374151"/>
              </a:solidFill>
              <a:latin typeface="Noto Sans" panose="020B0502040504020204"/>
              <a:ea typeface="Noto Sans" panose="020B0502040504020204"/>
              <a:cs typeface="Noto Sans" panose="020B0502040504020204"/>
              <a:sym typeface="Noto Sans" panose="020B0502040504020204"/>
            </a:endParaRP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All correlation coefficients (r) are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positive</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p-value less than 0.05 indicates that the higher the perceived control (PC), the higher the user's willingness to participate (DV) (like, share, comment, watch/read, save),</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Perceived control (PC) and behavioral intention (DV) are significantly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positively correlated</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which supports the H3 hypothesis.</a:t>
            </a:r>
            <a:endParaRPr lang="en-US" sz="2000" u="sng" dirty="0">
              <a:solidFill>
                <a:srgbClr val="374151"/>
              </a:solidFill>
              <a:latin typeface="Noto Sans" panose="020B0502040504020204"/>
              <a:ea typeface="Noto Sans" panose="020B0502040504020204"/>
              <a:cs typeface="Noto Sans" panose="020B0502040504020204"/>
              <a:sym typeface="Noto Sans" panose="020B0502040504020204"/>
            </a:endParaRPr>
          </a:p>
        </p:txBody>
      </p:sp>
      <p:pic>
        <p:nvPicPr>
          <p:cNvPr id="7" name="图片 6">
            <a:extLst>
              <a:ext uri="{FF2B5EF4-FFF2-40B4-BE49-F238E27FC236}">
                <a16:creationId xmlns:a16="http://schemas.microsoft.com/office/drawing/2014/main" id="{465FBBE2-8F56-8409-E923-CB576D25034A}"/>
              </a:ext>
            </a:extLst>
          </p:cNvPr>
          <p:cNvPicPr>
            <a:picLocks noChangeAspect="1"/>
          </p:cNvPicPr>
          <p:nvPr/>
        </p:nvPicPr>
        <p:blipFill>
          <a:blip r:embed="rId4"/>
          <a:stretch>
            <a:fillRect/>
          </a:stretch>
        </p:blipFill>
        <p:spPr>
          <a:xfrm>
            <a:off x="1365619" y="3199297"/>
            <a:ext cx="5769585" cy="4916003"/>
          </a:xfrm>
          <a:prstGeom prst="rect">
            <a:avLst/>
          </a:prstGeom>
        </p:spPr>
      </p:pic>
    </p:spTree>
    <p:extLst>
      <p:ext uri="{BB962C8B-B14F-4D97-AF65-F5344CB8AC3E}">
        <p14:creationId xmlns:p14="http://schemas.microsoft.com/office/powerpoint/2010/main" val="194286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E49BF-E94E-ABDD-177E-D1459D56B8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30D0DF8-2F60-C86B-DFFC-A780C79ECD59}"/>
              </a:ext>
            </a:extLst>
          </p:cNvPr>
          <p:cNvGrpSpPr/>
          <p:nvPr/>
        </p:nvGrpSpPr>
        <p:grpSpPr>
          <a:xfrm>
            <a:off x="-8334" y="0"/>
            <a:ext cx="714375" cy="10287000"/>
            <a:chOff x="0" y="0"/>
            <a:chExt cx="952500" cy="13716000"/>
          </a:xfrm>
        </p:grpSpPr>
        <p:sp>
          <p:nvSpPr>
            <p:cNvPr id="3" name="Freeform 3">
              <a:extLst>
                <a:ext uri="{FF2B5EF4-FFF2-40B4-BE49-F238E27FC236}">
                  <a16:creationId xmlns:a16="http://schemas.microsoft.com/office/drawing/2014/main" id="{2B61F4A1-CE3E-515F-0486-DD4F09DE1B5B}"/>
                </a:ext>
              </a:extLst>
            </p:cNvPr>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a:extLst>
              <a:ext uri="{FF2B5EF4-FFF2-40B4-BE49-F238E27FC236}">
                <a16:creationId xmlns:a16="http://schemas.microsoft.com/office/drawing/2014/main" id="{880907C4-3957-5203-05DA-891A8DC8A0B4}"/>
              </a:ext>
            </a:extLst>
          </p:cNvPr>
          <p:cNvSpPr txBox="1"/>
          <p:nvPr/>
        </p:nvSpPr>
        <p:spPr>
          <a:xfrm rot="5400000">
            <a:off x="-799786" y="8308444"/>
            <a:ext cx="2361571" cy="417852"/>
          </a:xfrm>
          <a:prstGeom prst="rect">
            <a:avLst/>
          </a:prstGeom>
        </p:spPr>
        <p:txBody>
          <a:bodyPr lIns="0" tIns="0" rIns="0" bIns="0" rtlCol="0" anchor="t">
            <a:spAutoFit/>
          </a:bodyPr>
          <a:lstStyle/>
          <a:p>
            <a:pPr algn="l">
              <a:lnSpc>
                <a:spcPts val="2520"/>
              </a:lnSpc>
            </a:pPr>
            <a:r>
              <a:rPr lang="en-US" sz="2100" spc="900">
                <a:solidFill>
                  <a:srgbClr val="FFFFFF"/>
                </a:solidFill>
                <a:latin typeface="Calibri (MS)" panose="020F0502020204030204"/>
                <a:ea typeface="Calibri (MS)" panose="020F0502020204030204"/>
                <a:cs typeface="Calibri (MS)" panose="020F0502020204030204"/>
                <a:sym typeface="Calibri (MS)" panose="020F0502020204030204"/>
              </a:rPr>
              <a:t>AIDM 7480</a:t>
            </a:r>
          </a:p>
        </p:txBody>
      </p:sp>
      <p:sp>
        <p:nvSpPr>
          <p:cNvPr id="5" name="Freeform 5">
            <a:extLst>
              <a:ext uri="{FF2B5EF4-FFF2-40B4-BE49-F238E27FC236}">
                <a16:creationId xmlns:a16="http://schemas.microsoft.com/office/drawing/2014/main" id="{98764847-713B-A203-FA40-6FA8F36C4447}"/>
              </a:ext>
            </a:extLst>
          </p:cNvPr>
          <p:cNvSpPr/>
          <p:nvPr/>
        </p:nvSpPr>
        <p:spPr>
          <a:xfrm>
            <a:off x="321469" y="446624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a:extLst>
              <a:ext uri="{FF2B5EF4-FFF2-40B4-BE49-F238E27FC236}">
                <a16:creationId xmlns:a16="http://schemas.microsoft.com/office/drawing/2014/main" id="{D1F23574-38CC-38F5-0F43-7ED96F8F9BB5}"/>
              </a:ext>
            </a:extLst>
          </p:cNvPr>
          <p:cNvSpPr txBox="1"/>
          <p:nvPr/>
        </p:nvSpPr>
        <p:spPr>
          <a:xfrm>
            <a:off x="1371600" y="647700"/>
            <a:ext cx="7429500" cy="1052096"/>
          </a:xfrm>
          <a:prstGeom prst="rect">
            <a:avLst/>
          </a:prstGeom>
        </p:spPr>
        <p:txBody>
          <a:bodyPr lIns="0" tIns="0" rIns="0" bIns="0" rtlCol="0" anchor="ctr"/>
          <a:lstStyle/>
          <a:p>
            <a:pPr algn="l">
              <a:lnSpc>
                <a:spcPts val="7200"/>
              </a:lnSpc>
            </a:pPr>
            <a:r>
              <a:rPr lang="en-US" sz="48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Hypothesis testing H3</a:t>
            </a:r>
          </a:p>
        </p:txBody>
      </p:sp>
      <p:sp>
        <p:nvSpPr>
          <p:cNvPr id="19" name="TextBox 19">
            <a:extLst>
              <a:ext uri="{FF2B5EF4-FFF2-40B4-BE49-F238E27FC236}">
                <a16:creationId xmlns:a16="http://schemas.microsoft.com/office/drawing/2014/main" id="{843E2F8E-89BF-784F-1BA6-5E697E0883D1}"/>
              </a:ext>
            </a:extLst>
          </p:cNvPr>
          <p:cNvSpPr txBox="1"/>
          <p:nvPr/>
        </p:nvSpPr>
        <p:spPr>
          <a:xfrm>
            <a:off x="1371600" y="1558294"/>
            <a:ext cx="16459200" cy="621506"/>
          </a:xfrm>
          <a:prstGeom prst="rect">
            <a:avLst/>
          </a:prstGeom>
        </p:spPr>
        <p:txBody>
          <a:bodyPr lIns="0" tIns="0" rIns="0" bIns="0" rtlCol="0" anchor="ctr"/>
          <a:lstStyle/>
          <a:p>
            <a:pPr>
              <a:lnSpc>
                <a:spcPts val="3300"/>
              </a:lnSpc>
            </a:pPr>
            <a:r>
              <a:rPr lang="en-US" altLang="zh-CN" sz="2000" dirty="0">
                <a:solidFill>
                  <a:srgbClr val="374151"/>
                </a:solidFill>
                <a:latin typeface="Noto Sans" panose="020B0502040504020204"/>
                <a:ea typeface="Noto Sans" panose="020B0502040504020204"/>
                <a:cs typeface="Noto Sans" panose="020B0502040504020204"/>
                <a:sym typeface="Noto Sans" panose="020B0502040504020204"/>
              </a:rPr>
              <a:t>Compared to short video posts, users have higher willingness to engage in all five major interaction behaviors with image and text posts.</a:t>
            </a:r>
          </a:p>
        </p:txBody>
      </p:sp>
      <p:sp>
        <p:nvSpPr>
          <p:cNvPr id="25" name="TextBox 25">
            <a:extLst>
              <a:ext uri="{FF2B5EF4-FFF2-40B4-BE49-F238E27FC236}">
                <a16:creationId xmlns:a16="http://schemas.microsoft.com/office/drawing/2014/main" id="{347686B6-9894-55B1-5054-65EFF3E3DE4F}"/>
              </a:ext>
            </a:extLst>
          </p:cNvPr>
          <p:cNvSpPr txBox="1"/>
          <p:nvPr/>
        </p:nvSpPr>
        <p:spPr>
          <a:xfrm>
            <a:off x="1362691" y="2780403"/>
            <a:ext cx="3283866"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Testing methods</a:t>
            </a:r>
          </a:p>
        </p:txBody>
      </p:sp>
      <p:grpSp>
        <p:nvGrpSpPr>
          <p:cNvPr id="52" name="组合 51">
            <a:extLst>
              <a:ext uri="{FF2B5EF4-FFF2-40B4-BE49-F238E27FC236}">
                <a16:creationId xmlns:a16="http://schemas.microsoft.com/office/drawing/2014/main" id="{35FEE812-554B-98F5-B3D9-8B947A8BD34D}"/>
              </a:ext>
            </a:extLst>
          </p:cNvPr>
          <p:cNvGrpSpPr/>
          <p:nvPr/>
        </p:nvGrpSpPr>
        <p:grpSpPr>
          <a:xfrm>
            <a:off x="1365619" y="8343900"/>
            <a:ext cx="6561875" cy="1162049"/>
            <a:chOff x="10439400" y="8505187"/>
            <a:chExt cx="6561875" cy="1162049"/>
          </a:xfrm>
        </p:grpSpPr>
        <p:grpSp>
          <p:nvGrpSpPr>
            <p:cNvPr id="29" name="Group 29">
              <a:extLst>
                <a:ext uri="{FF2B5EF4-FFF2-40B4-BE49-F238E27FC236}">
                  <a16:creationId xmlns:a16="http://schemas.microsoft.com/office/drawing/2014/main" id="{563B10BA-9F59-2A9E-2B92-3109A6289A9B}"/>
                </a:ext>
              </a:extLst>
            </p:cNvPr>
            <p:cNvGrpSpPr/>
            <p:nvPr/>
          </p:nvGrpSpPr>
          <p:grpSpPr>
            <a:xfrm>
              <a:off x="10439400" y="8505187"/>
              <a:ext cx="6561875" cy="1162049"/>
              <a:chOff x="0" y="0"/>
              <a:chExt cx="10414000" cy="2794000"/>
            </a:xfrm>
          </p:grpSpPr>
          <p:sp>
            <p:nvSpPr>
              <p:cNvPr id="30" name="Freeform 30">
                <a:extLst>
                  <a:ext uri="{FF2B5EF4-FFF2-40B4-BE49-F238E27FC236}">
                    <a16:creationId xmlns:a16="http://schemas.microsoft.com/office/drawing/2014/main" id="{E52BD2A2-D69B-F1B0-3A29-EB793BD208EA}"/>
                  </a:ext>
                </a:extLst>
              </p:cNvPr>
              <p:cNvSpPr/>
              <p:nvPr/>
            </p:nvSpPr>
            <p:spPr>
              <a:xfrm>
                <a:off x="0" y="0"/>
                <a:ext cx="10414000" cy="2794000"/>
              </a:xfrm>
              <a:custGeom>
                <a:avLst/>
                <a:gdLst/>
                <a:ahLst/>
                <a:cxnLst/>
                <a:rect l="l" t="t" r="r" b="b"/>
                <a:pathLst>
                  <a:path w="10414000" h="2794000">
                    <a:moveTo>
                      <a:pt x="0" y="254000"/>
                    </a:moveTo>
                    <a:cubicBezTo>
                      <a:pt x="0" y="113665"/>
                      <a:pt x="113665" y="0"/>
                      <a:pt x="254000" y="0"/>
                    </a:cubicBezTo>
                    <a:lnTo>
                      <a:pt x="10160000" y="0"/>
                    </a:lnTo>
                    <a:cubicBezTo>
                      <a:pt x="10300208" y="0"/>
                      <a:pt x="10414000" y="113665"/>
                      <a:pt x="10414000" y="254000"/>
                    </a:cubicBezTo>
                    <a:lnTo>
                      <a:pt x="10414000" y="2540000"/>
                    </a:lnTo>
                    <a:cubicBezTo>
                      <a:pt x="10414000" y="2680208"/>
                      <a:pt x="10300335" y="2794000"/>
                      <a:pt x="10160000" y="2794000"/>
                    </a:cubicBezTo>
                    <a:lnTo>
                      <a:pt x="254000" y="2794000"/>
                    </a:lnTo>
                    <a:cubicBezTo>
                      <a:pt x="113792" y="2794000"/>
                      <a:pt x="0" y="2680335"/>
                      <a:pt x="0" y="2540000"/>
                    </a:cubicBezTo>
                    <a:close/>
                  </a:path>
                </a:pathLst>
              </a:custGeom>
              <a:solidFill>
                <a:srgbClr val="F3F4F6"/>
              </a:solidFill>
            </p:spPr>
          </p:sp>
        </p:grpSp>
        <p:sp>
          <p:nvSpPr>
            <p:cNvPr id="34" name="TextBox 34">
              <a:extLst>
                <a:ext uri="{FF2B5EF4-FFF2-40B4-BE49-F238E27FC236}">
                  <a16:creationId xmlns:a16="http://schemas.microsoft.com/office/drawing/2014/main" id="{EAC7298A-8310-2576-8D73-082744B7BA89}"/>
                </a:ext>
              </a:extLst>
            </p:cNvPr>
            <p:cNvSpPr txBox="1"/>
            <p:nvPr/>
          </p:nvSpPr>
          <p:spPr>
            <a:xfrm>
              <a:off x="11245170" y="8505187"/>
              <a:ext cx="3727417"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Statistical results</a:t>
              </a:r>
            </a:p>
          </p:txBody>
        </p:sp>
        <p:sp>
          <p:nvSpPr>
            <p:cNvPr id="37" name="TextBox 37">
              <a:extLst>
                <a:ext uri="{FF2B5EF4-FFF2-40B4-BE49-F238E27FC236}">
                  <a16:creationId xmlns:a16="http://schemas.microsoft.com/office/drawing/2014/main" id="{42328115-6C73-34C6-83FC-A48F51314EA7}"/>
                </a:ext>
              </a:extLst>
            </p:cNvPr>
            <p:cNvSpPr txBox="1"/>
            <p:nvPr/>
          </p:nvSpPr>
          <p:spPr>
            <a:xfrm>
              <a:off x="11247029" y="8985191"/>
              <a:ext cx="4946617" cy="635794"/>
            </a:xfrm>
            <a:prstGeom prst="rect">
              <a:avLst/>
            </a:prstGeom>
          </p:spPr>
          <p:txBody>
            <a:bodyPr lIns="0" tIns="0" rIns="0" bIns="0" rtlCol="0" anchor="ctr"/>
            <a:lstStyle/>
            <a:p>
              <a:pPr>
                <a:lnSpc>
                  <a:spcPts val="4050"/>
                </a:lnSpc>
              </a:pPr>
              <a:r>
                <a:rPr lang="en-US" altLang="zh-CN" sz="2700" dirty="0">
                  <a:solidFill>
                    <a:srgbClr val="374151"/>
                  </a:solidFill>
                  <a:latin typeface="Noto Sans" panose="020B0502040504020204"/>
                  <a:ea typeface="Noto Sans" panose="020B0502040504020204"/>
                  <a:cs typeface="Noto Sans" panose="020B0502040504020204"/>
                  <a:sym typeface="Noto Sans" panose="020B0502040504020204"/>
                </a:rPr>
                <a:t>t = 5.97, p = 0.000 (p &lt; 0.001)</a:t>
              </a:r>
              <a:endParaRPr lang="en-US" sz="2700" dirty="0">
                <a:solidFill>
                  <a:srgbClr val="374151"/>
                </a:solidFill>
                <a:latin typeface="Noto Sans" panose="020B0502040504020204"/>
                <a:ea typeface="Noto Sans" panose="020B0502040504020204"/>
                <a:cs typeface="Noto Sans" panose="020B0502040504020204"/>
                <a:sym typeface="Noto Sans" panose="020B0502040504020204"/>
              </a:endParaRPr>
            </a:p>
          </p:txBody>
        </p:sp>
      </p:grpSp>
      <p:grpSp>
        <p:nvGrpSpPr>
          <p:cNvPr id="51" name="组合 50">
            <a:extLst>
              <a:ext uri="{FF2B5EF4-FFF2-40B4-BE49-F238E27FC236}">
                <a16:creationId xmlns:a16="http://schemas.microsoft.com/office/drawing/2014/main" id="{5BBFC914-08ED-F96D-F2D1-4C85C4D67FBF}"/>
              </a:ext>
            </a:extLst>
          </p:cNvPr>
          <p:cNvGrpSpPr/>
          <p:nvPr/>
        </p:nvGrpSpPr>
        <p:grpSpPr>
          <a:xfrm>
            <a:off x="8373091" y="8343900"/>
            <a:ext cx="9067800" cy="1158503"/>
            <a:chOff x="2017367" y="8483606"/>
            <a:chExt cx="9067800" cy="1158503"/>
          </a:xfrm>
        </p:grpSpPr>
        <p:grpSp>
          <p:nvGrpSpPr>
            <p:cNvPr id="38" name="Group 38">
              <a:extLst>
                <a:ext uri="{FF2B5EF4-FFF2-40B4-BE49-F238E27FC236}">
                  <a16:creationId xmlns:a16="http://schemas.microsoft.com/office/drawing/2014/main" id="{7CC2AF8F-CBA5-29C8-5E79-D3A8643D9236}"/>
                </a:ext>
              </a:extLst>
            </p:cNvPr>
            <p:cNvGrpSpPr/>
            <p:nvPr/>
          </p:nvGrpSpPr>
          <p:grpSpPr>
            <a:xfrm>
              <a:off x="2017367" y="8505187"/>
              <a:ext cx="9067800" cy="1136922"/>
              <a:chOff x="0" y="0"/>
              <a:chExt cx="26718865" cy="2236568"/>
            </a:xfrm>
          </p:grpSpPr>
          <p:sp>
            <p:nvSpPr>
              <p:cNvPr id="39" name="Freeform 39">
                <a:extLst>
                  <a:ext uri="{FF2B5EF4-FFF2-40B4-BE49-F238E27FC236}">
                    <a16:creationId xmlns:a16="http://schemas.microsoft.com/office/drawing/2014/main" id="{E3F506B2-CDA7-E421-919C-FB35DE618014}"/>
                  </a:ext>
                </a:extLst>
              </p:cNvPr>
              <p:cNvSpPr/>
              <p:nvPr/>
            </p:nvSpPr>
            <p:spPr>
              <a:xfrm>
                <a:off x="0" y="0"/>
                <a:ext cx="26718865" cy="2236568"/>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p>
            </p:txBody>
          </p:sp>
        </p:grpSp>
        <p:sp>
          <p:nvSpPr>
            <p:cNvPr id="43" name="TextBox 43">
              <a:extLst>
                <a:ext uri="{FF2B5EF4-FFF2-40B4-BE49-F238E27FC236}">
                  <a16:creationId xmlns:a16="http://schemas.microsoft.com/office/drawing/2014/main" id="{F1846690-10EC-DDB5-943D-BBBC2117CCF9}"/>
                </a:ext>
              </a:extLst>
            </p:cNvPr>
            <p:cNvSpPr txBox="1"/>
            <p:nvPr/>
          </p:nvSpPr>
          <p:spPr>
            <a:xfrm>
              <a:off x="3046027" y="8483606"/>
              <a:ext cx="5251417" cy="659346"/>
            </a:xfrm>
            <a:prstGeom prst="rect">
              <a:avLst/>
            </a:prstGeom>
          </p:spPr>
          <p:txBody>
            <a:bodyPr lIns="0" tIns="0" rIns="0" bIns="0" rtlCol="0" anchor="ctr"/>
            <a:lstStyle/>
            <a:p>
              <a:pPr algn="l">
                <a:lnSpc>
                  <a:spcPts val="4500"/>
                </a:lnSpc>
              </a:pPr>
              <a:r>
                <a:rPr lang="en-US" sz="3000" b="1" dirty="0">
                  <a:solidFill>
                    <a:srgbClr val="FFFFFF"/>
                  </a:solidFill>
                  <a:latin typeface="Noto Sans Bold" panose="020B0802040504020204"/>
                  <a:ea typeface="Noto Sans Bold" panose="020B0802040504020204"/>
                  <a:cs typeface="Noto Sans Bold" panose="020B0802040504020204"/>
                  <a:sym typeface="Noto Sans Bold" panose="020B0802040504020204"/>
                </a:rPr>
                <a:t>Conclusion Determination</a:t>
              </a:r>
            </a:p>
          </p:txBody>
        </p:sp>
        <p:sp>
          <p:nvSpPr>
            <p:cNvPr id="46" name="TextBox 46">
              <a:extLst>
                <a:ext uri="{FF2B5EF4-FFF2-40B4-BE49-F238E27FC236}">
                  <a16:creationId xmlns:a16="http://schemas.microsoft.com/office/drawing/2014/main" id="{0277EBC9-605D-D638-0A66-D9416C45C773}"/>
                </a:ext>
              </a:extLst>
            </p:cNvPr>
            <p:cNvSpPr txBox="1"/>
            <p:nvPr/>
          </p:nvSpPr>
          <p:spPr>
            <a:xfrm>
              <a:off x="3080935" y="9006315"/>
              <a:ext cx="5181600" cy="635794"/>
            </a:xfrm>
            <a:prstGeom prst="rect">
              <a:avLst/>
            </a:prstGeom>
          </p:spPr>
          <p:txBody>
            <a:bodyPr lIns="0" tIns="0" rIns="0" bIns="0" rtlCol="0" anchor="ctr"/>
            <a:lstStyle/>
            <a:p>
              <a:pPr algn="l">
                <a:lnSpc>
                  <a:spcPts val="4050"/>
                </a:lnSpc>
              </a:pPr>
              <a:r>
                <a:rPr lang="en-US" sz="2700" dirty="0">
                  <a:solidFill>
                    <a:srgbClr val="FFFFFF"/>
                  </a:solidFill>
                  <a:latin typeface="Noto Sans" panose="020B0502040504020204"/>
                  <a:ea typeface="Noto Sans" panose="020B0502040504020204"/>
                  <a:cs typeface="Noto Sans" panose="020B0502040504020204"/>
                  <a:sym typeface="Noto Sans" panose="020B0502040504020204"/>
                </a:rPr>
                <a:t>The hypothesis is supported.</a:t>
              </a:r>
            </a:p>
          </p:txBody>
        </p:sp>
      </p:grpSp>
      <p:sp>
        <p:nvSpPr>
          <p:cNvPr id="53" name="TextBox 19">
            <a:extLst>
              <a:ext uri="{FF2B5EF4-FFF2-40B4-BE49-F238E27FC236}">
                <a16:creationId xmlns:a16="http://schemas.microsoft.com/office/drawing/2014/main" id="{8E15ABC7-71EC-5E2E-A8AC-94A932228663}"/>
              </a:ext>
            </a:extLst>
          </p:cNvPr>
          <p:cNvSpPr txBox="1"/>
          <p:nvPr/>
        </p:nvSpPr>
        <p:spPr>
          <a:xfrm>
            <a:off x="8373091" y="3635128"/>
            <a:ext cx="8534400" cy="2553864"/>
          </a:xfrm>
          <a:prstGeom prst="rect">
            <a:avLst/>
          </a:prstGeom>
        </p:spPr>
        <p:txBody>
          <a:bodyPr lIns="0" tIns="0" rIns="0" bIns="0" rtlCol="0" anchor="ctr"/>
          <a:lstStyle/>
          <a:p>
            <a:pPr>
              <a:lnSpc>
                <a:spcPts val="3000"/>
              </a:lnSpc>
            </a:pPr>
            <a:r>
              <a:rPr lang="en-US" sz="2000" b="1" dirty="0">
                <a:solidFill>
                  <a:srgbClr val="203864"/>
                </a:solidFill>
                <a:latin typeface="Noto Sans" panose="020B0502040504020204"/>
                <a:ea typeface="Noto Sans" panose="020B0502040504020204"/>
                <a:cs typeface="Noto Sans" panose="020B0502040504020204"/>
                <a:sym typeface="Noto Sans" panose="020B0502040504020204"/>
              </a:rPr>
              <a:t>Conclusion:</a:t>
            </a:r>
            <a:endParaRPr lang="en-US" sz="2000" b="1" dirty="0">
              <a:solidFill>
                <a:srgbClr val="374151"/>
              </a:solidFill>
              <a:latin typeface="Noto Sans" panose="020B0502040504020204"/>
              <a:ea typeface="Noto Sans" panose="020B0502040504020204"/>
              <a:cs typeface="Noto Sans" panose="020B0502040504020204"/>
              <a:sym typeface="Noto Sans" panose="020B0502040504020204"/>
            </a:endParaRPr>
          </a:p>
          <a:p>
            <a:pPr>
              <a:lnSpc>
                <a:spcPts val="3000"/>
              </a:lnSpc>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Users' intentions to like, share, comment, read, and save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graphic and textual posts </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are significantly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higher than </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those of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short video posts</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with strong statistical significance (t=5.97, p=0.000), verifying that </a:t>
            </a:r>
            <a:r>
              <a:rPr lang="en-US" sz="2000" u="sng" dirty="0">
                <a:solidFill>
                  <a:srgbClr val="374151"/>
                </a:solidFill>
                <a:latin typeface="Noto Sans" panose="020B0502040504020204"/>
                <a:ea typeface="Noto Sans" panose="020B0502040504020204"/>
                <a:cs typeface="Noto Sans" panose="020B0502040504020204"/>
                <a:sym typeface="Noto Sans" panose="020B0502040504020204"/>
              </a:rPr>
              <a:t>graphic and textual content can better stimulate users' willingness to participate in various aspects.</a:t>
            </a:r>
          </a:p>
        </p:txBody>
      </p:sp>
      <p:pic>
        <p:nvPicPr>
          <p:cNvPr id="7" name="图片 6">
            <a:extLst>
              <a:ext uri="{FF2B5EF4-FFF2-40B4-BE49-F238E27FC236}">
                <a16:creationId xmlns:a16="http://schemas.microsoft.com/office/drawing/2014/main" id="{C2C7B8A8-83D6-9E52-405F-A5D94AF1B86B}"/>
              </a:ext>
            </a:extLst>
          </p:cNvPr>
          <p:cNvPicPr>
            <a:picLocks noChangeAspect="1"/>
          </p:cNvPicPr>
          <p:nvPr/>
        </p:nvPicPr>
        <p:blipFill>
          <a:blip r:embed="rId4"/>
          <a:stretch>
            <a:fillRect/>
          </a:stretch>
        </p:blipFill>
        <p:spPr>
          <a:xfrm>
            <a:off x="1380509" y="3744392"/>
            <a:ext cx="6557374" cy="3673549"/>
          </a:xfrm>
          <a:prstGeom prst="rect">
            <a:avLst/>
          </a:prstGeom>
        </p:spPr>
      </p:pic>
    </p:spTree>
    <p:extLst>
      <p:ext uri="{BB962C8B-B14F-4D97-AF65-F5344CB8AC3E}">
        <p14:creationId xmlns:p14="http://schemas.microsoft.com/office/powerpoint/2010/main" val="857937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E9EE-7EE9-8BB9-1DF4-CFF9A32D01B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208D53-A0EC-5457-F1CF-C3E91B3525EA}"/>
              </a:ext>
            </a:extLst>
          </p:cNvPr>
          <p:cNvGrpSpPr/>
          <p:nvPr/>
        </p:nvGrpSpPr>
        <p:grpSpPr>
          <a:xfrm>
            <a:off x="-8334" y="0"/>
            <a:ext cx="714375" cy="10287000"/>
            <a:chOff x="0" y="0"/>
            <a:chExt cx="952500" cy="13716000"/>
          </a:xfrm>
        </p:grpSpPr>
        <p:sp>
          <p:nvSpPr>
            <p:cNvPr id="3" name="Freeform 3">
              <a:extLst>
                <a:ext uri="{FF2B5EF4-FFF2-40B4-BE49-F238E27FC236}">
                  <a16:creationId xmlns:a16="http://schemas.microsoft.com/office/drawing/2014/main" id="{2ABB8E17-74C6-7487-0321-D7FC7673F674}"/>
                </a:ext>
              </a:extLst>
            </p:cNvPr>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a:extLst>
              <a:ext uri="{FF2B5EF4-FFF2-40B4-BE49-F238E27FC236}">
                <a16:creationId xmlns:a16="http://schemas.microsoft.com/office/drawing/2014/main" id="{631E9D67-D687-D775-9B51-7C697F3D07C9}"/>
              </a:ext>
            </a:extLst>
          </p:cNvPr>
          <p:cNvSpPr txBox="1"/>
          <p:nvPr/>
        </p:nvSpPr>
        <p:spPr>
          <a:xfrm rot="5400000">
            <a:off x="-799786" y="8308444"/>
            <a:ext cx="2361571" cy="417852"/>
          </a:xfrm>
          <a:prstGeom prst="rect">
            <a:avLst/>
          </a:prstGeom>
        </p:spPr>
        <p:txBody>
          <a:bodyPr lIns="0" tIns="0" rIns="0" bIns="0" rtlCol="0" anchor="t">
            <a:spAutoFit/>
          </a:bodyPr>
          <a:lstStyle/>
          <a:p>
            <a:pPr algn="l">
              <a:lnSpc>
                <a:spcPts val="2520"/>
              </a:lnSpc>
            </a:pPr>
            <a:r>
              <a:rPr lang="en-US" sz="2100" spc="900">
                <a:solidFill>
                  <a:srgbClr val="FFFFFF"/>
                </a:solidFill>
                <a:latin typeface="Calibri (MS)" panose="020F0502020204030204"/>
                <a:ea typeface="Calibri (MS)" panose="020F0502020204030204"/>
                <a:cs typeface="Calibri (MS)" panose="020F0502020204030204"/>
                <a:sym typeface="Calibri (MS)" panose="020F0502020204030204"/>
              </a:rPr>
              <a:t>AIDM 7480</a:t>
            </a:r>
          </a:p>
        </p:txBody>
      </p:sp>
      <p:sp>
        <p:nvSpPr>
          <p:cNvPr id="5" name="Freeform 5">
            <a:extLst>
              <a:ext uri="{FF2B5EF4-FFF2-40B4-BE49-F238E27FC236}">
                <a16:creationId xmlns:a16="http://schemas.microsoft.com/office/drawing/2014/main" id="{A9E0BBDB-8EFB-EF3A-5860-631E3F3100AF}"/>
              </a:ext>
            </a:extLst>
          </p:cNvPr>
          <p:cNvSpPr/>
          <p:nvPr/>
        </p:nvSpPr>
        <p:spPr>
          <a:xfrm>
            <a:off x="321469" y="446624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a:extLst>
              <a:ext uri="{FF2B5EF4-FFF2-40B4-BE49-F238E27FC236}">
                <a16:creationId xmlns:a16="http://schemas.microsoft.com/office/drawing/2014/main" id="{AB6C742B-22DB-F4DD-6144-81EEE95B6A40}"/>
              </a:ext>
            </a:extLst>
          </p:cNvPr>
          <p:cNvSpPr txBox="1"/>
          <p:nvPr/>
        </p:nvSpPr>
        <p:spPr>
          <a:xfrm>
            <a:off x="1371600" y="647700"/>
            <a:ext cx="7429500" cy="1052096"/>
          </a:xfrm>
          <a:prstGeom prst="rect">
            <a:avLst/>
          </a:prstGeom>
        </p:spPr>
        <p:txBody>
          <a:bodyPr lIns="0" tIns="0" rIns="0" bIns="0" rtlCol="0" anchor="ctr"/>
          <a:lstStyle/>
          <a:p>
            <a:pPr algn="l">
              <a:lnSpc>
                <a:spcPts val="7200"/>
              </a:lnSpc>
            </a:pPr>
            <a:r>
              <a:rPr lang="en-US" sz="48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Hypothesis testing H4</a:t>
            </a:r>
          </a:p>
        </p:txBody>
      </p:sp>
      <p:sp>
        <p:nvSpPr>
          <p:cNvPr id="19" name="TextBox 19">
            <a:extLst>
              <a:ext uri="{FF2B5EF4-FFF2-40B4-BE49-F238E27FC236}">
                <a16:creationId xmlns:a16="http://schemas.microsoft.com/office/drawing/2014/main" id="{937F954B-BDA5-68B7-AAB8-129DE4C8EDDA}"/>
              </a:ext>
            </a:extLst>
          </p:cNvPr>
          <p:cNvSpPr txBox="1"/>
          <p:nvPr/>
        </p:nvSpPr>
        <p:spPr>
          <a:xfrm>
            <a:off x="1371600" y="1558294"/>
            <a:ext cx="17221200" cy="621506"/>
          </a:xfrm>
          <a:prstGeom prst="rect">
            <a:avLst/>
          </a:prstGeom>
        </p:spPr>
        <p:txBody>
          <a:bodyPr lIns="0" tIns="0" rIns="0" bIns="0" rtlCol="0" anchor="ctr"/>
          <a:lstStyle/>
          <a:p>
            <a:pPr algn="l">
              <a:lnSpc>
                <a:spcPts val="3000"/>
              </a:lnSpc>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PC mediates the effect of post type on the intention to (H4a) like, (H4b) share, (H4c) comment, (H4d) watch/read, and (H4e) save.</a:t>
            </a:r>
          </a:p>
        </p:txBody>
      </p:sp>
      <p:sp>
        <p:nvSpPr>
          <p:cNvPr id="25" name="TextBox 25">
            <a:extLst>
              <a:ext uri="{FF2B5EF4-FFF2-40B4-BE49-F238E27FC236}">
                <a16:creationId xmlns:a16="http://schemas.microsoft.com/office/drawing/2014/main" id="{C40BB555-5A17-613E-6E90-46E2BF9C214A}"/>
              </a:ext>
            </a:extLst>
          </p:cNvPr>
          <p:cNvSpPr txBox="1"/>
          <p:nvPr/>
        </p:nvSpPr>
        <p:spPr>
          <a:xfrm>
            <a:off x="1371600" y="2179800"/>
            <a:ext cx="3283866"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Testing methods</a:t>
            </a:r>
          </a:p>
        </p:txBody>
      </p:sp>
      <p:grpSp>
        <p:nvGrpSpPr>
          <p:cNvPr id="52" name="组合 51">
            <a:extLst>
              <a:ext uri="{FF2B5EF4-FFF2-40B4-BE49-F238E27FC236}">
                <a16:creationId xmlns:a16="http://schemas.microsoft.com/office/drawing/2014/main" id="{BC791A87-91D6-D2A3-000E-C5E999CA195E}"/>
              </a:ext>
            </a:extLst>
          </p:cNvPr>
          <p:cNvGrpSpPr/>
          <p:nvPr/>
        </p:nvGrpSpPr>
        <p:grpSpPr>
          <a:xfrm>
            <a:off x="1374529" y="8688536"/>
            <a:ext cx="6093072" cy="1162049"/>
            <a:chOff x="10439401" y="8505187"/>
            <a:chExt cx="6093072" cy="1162049"/>
          </a:xfrm>
        </p:grpSpPr>
        <p:grpSp>
          <p:nvGrpSpPr>
            <p:cNvPr id="29" name="Group 29">
              <a:extLst>
                <a:ext uri="{FF2B5EF4-FFF2-40B4-BE49-F238E27FC236}">
                  <a16:creationId xmlns:a16="http://schemas.microsoft.com/office/drawing/2014/main" id="{FEB813D1-D340-AE79-CB21-87CF774EDF8F}"/>
                </a:ext>
              </a:extLst>
            </p:cNvPr>
            <p:cNvGrpSpPr/>
            <p:nvPr/>
          </p:nvGrpSpPr>
          <p:grpSpPr>
            <a:xfrm>
              <a:off x="10439401" y="8505187"/>
              <a:ext cx="6093072" cy="1162049"/>
              <a:chOff x="2" y="0"/>
              <a:chExt cx="9669988" cy="2794000"/>
            </a:xfrm>
          </p:grpSpPr>
          <p:sp>
            <p:nvSpPr>
              <p:cNvPr id="30" name="Freeform 30">
                <a:extLst>
                  <a:ext uri="{FF2B5EF4-FFF2-40B4-BE49-F238E27FC236}">
                    <a16:creationId xmlns:a16="http://schemas.microsoft.com/office/drawing/2014/main" id="{BA673DBA-041A-C2EB-CBCF-22FB281907F6}"/>
                  </a:ext>
                </a:extLst>
              </p:cNvPr>
              <p:cNvSpPr/>
              <p:nvPr/>
            </p:nvSpPr>
            <p:spPr>
              <a:xfrm>
                <a:off x="2" y="0"/>
                <a:ext cx="9669988" cy="2794000"/>
              </a:xfrm>
              <a:custGeom>
                <a:avLst/>
                <a:gdLst/>
                <a:ahLst/>
                <a:cxnLst/>
                <a:rect l="l" t="t" r="r" b="b"/>
                <a:pathLst>
                  <a:path w="10414000" h="2794000">
                    <a:moveTo>
                      <a:pt x="0" y="254000"/>
                    </a:moveTo>
                    <a:cubicBezTo>
                      <a:pt x="0" y="113665"/>
                      <a:pt x="113665" y="0"/>
                      <a:pt x="254000" y="0"/>
                    </a:cubicBezTo>
                    <a:lnTo>
                      <a:pt x="10160000" y="0"/>
                    </a:lnTo>
                    <a:cubicBezTo>
                      <a:pt x="10300208" y="0"/>
                      <a:pt x="10414000" y="113665"/>
                      <a:pt x="10414000" y="254000"/>
                    </a:cubicBezTo>
                    <a:lnTo>
                      <a:pt x="10414000" y="2540000"/>
                    </a:lnTo>
                    <a:cubicBezTo>
                      <a:pt x="10414000" y="2680208"/>
                      <a:pt x="10300335" y="2794000"/>
                      <a:pt x="10160000" y="2794000"/>
                    </a:cubicBezTo>
                    <a:lnTo>
                      <a:pt x="254000" y="2794000"/>
                    </a:lnTo>
                    <a:cubicBezTo>
                      <a:pt x="113792" y="2794000"/>
                      <a:pt x="0" y="2680335"/>
                      <a:pt x="0" y="2540000"/>
                    </a:cubicBezTo>
                    <a:close/>
                  </a:path>
                </a:pathLst>
              </a:custGeom>
              <a:solidFill>
                <a:srgbClr val="F3F4F6"/>
              </a:solidFill>
            </p:spPr>
          </p:sp>
        </p:grpSp>
        <p:sp>
          <p:nvSpPr>
            <p:cNvPr id="34" name="TextBox 34">
              <a:extLst>
                <a:ext uri="{FF2B5EF4-FFF2-40B4-BE49-F238E27FC236}">
                  <a16:creationId xmlns:a16="http://schemas.microsoft.com/office/drawing/2014/main" id="{4AF2D567-2C61-1BCF-0BF5-FAAA2B2D9315}"/>
                </a:ext>
              </a:extLst>
            </p:cNvPr>
            <p:cNvSpPr txBox="1"/>
            <p:nvPr/>
          </p:nvSpPr>
          <p:spPr>
            <a:xfrm>
              <a:off x="11632948" y="8686447"/>
              <a:ext cx="3727417" cy="659346"/>
            </a:xfrm>
            <a:prstGeom prst="rect">
              <a:avLst/>
            </a:prstGeom>
          </p:spPr>
          <p:txBody>
            <a:bodyPr lIns="0" tIns="0" rIns="0" bIns="0" rtlCol="0" anchor="ctr"/>
            <a:lstStyle/>
            <a:p>
              <a:pPr algn="l">
                <a:lnSpc>
                  <a:spcPts val="4500"/>
                </a:lnSpc>
              </a:pPr>
              <a:r>
                <a:rPr lang="en-US" sz="3000" b="1" dirty="0">
                  <a:solidFill>
                    <a:srgbClr val="1E3A8A"/>
                  </a:solidFill>
                  <a:latin typeface="Noto Sans Bold" panose="020B0802040504020204"/>
                  <a:ea typeface="Noto Sans Bold" panose="020B0802040504020204"/>
                  <a:cs typeface="Noto Sans Bold" panose="020B0802040504020204"/>
                  <a:sym typeface="Noto Sans Bold" panose="020B0802040504020204"/>
                </a:rPr>
                <a:t>Statistical results</a:t>
              </a:r>
            </a:p>
          </p:txBody>
        </p:sp>
      </p:grpSp>
      <p:grpSp>
        <p:nvGrpSpPr>
          <p:cNvPr id="51" name="组合 50">
            <a:extLst>
              <a:ext uri="{FF2B5EF4-FFF2-40B4-BE49-F238E27FC236}">
                <a16:creationId xmlns:a16="http://schemas.microsoft.com/office/drawing/2014/main" id="{5151E7D6-1126-76ED-4BA8-7E7D826EA281}"/>
              </a:ext>
            </a:extLst>
          </p:cNvPr>
          <p:cNvGrpSpPr/>
          <p:nvPr/>
        </p:nvGrpSpPr>
        <p:grpSpPr>
          <a:xfrm>
            <a:off x="8382000" y="8688536"/>
            <a:ext cx="9067800" cy="1158503"/>
            <a:chOff x="2017367" y="8483606"/>
            <a:chExt cx="9067800" cy="1158503"/>
          </a:xfrm>
        </p:grpSpPr>
        <p:grpSp>
          <p:nvGrpSpPr>
            <p:cNvPr id="38" name="Group 38">
              <a:extLst>
                <a:ext uri="{FF2B5EF4-FFF2-40B4-BE49-F238E27FC236}">
                  <a16:creationId xmlns:a16="http://schemas.microsoft.com/office/drawing/2014/main" id="{58F6B67C-DE1F-EBF4-9168-E72D3C90BF12}"/>
                </a:ext>
              </a:extLst>
            </p:cNvPr>
            <p:cNvGrpSpPr/>
            <p:nvPr/>
          </p:nvGrpSpPr>
          <p:grpSpPr>
            <a:xfrm>
              <a:off x="2017367" y="8505187"/>
              <a:ext cx="9067800" cy="1136922"/>
              <a:chOff x="0" y="0"/>
              <a:chExt cx="26718865" cy="2236568"/>
            </a:xfrm>
          </p:grpSpPr>
          <p:sp>
            <p:nvSpPr>
              <p:cNvPr id="39" name="Freeform 39">
                <a:extLst>
                  <a:ext uri="{FF2B5EF4-FFF2-40B4-BE49-F238E27FC236}">
                    <a16:creationId xmlns:a16="http://schemas.microsoft.com/office/drawing/2014/main" id="{FBBD0067-BDFD-F9BA-A81B-721037A5C16A}"/>
                  </a:ext>
                </a:extLst>
              </p:cNvPr>
              <p:cNvSpPr/>
              <p:nvPr/>
            </p:nvSpPr>
            <p:spPr>
              <a:xfrm>
                <a:off x="0" y="0"/>
                <a:ext cx="26718865" cy="2236568"/>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p>
            </p:txBody>
          </p:sp>
        </p:grpSp>
        <p:sp>
          <p:nvSpPr>
            <p:cNvPr id="43" name="TextBox 43">
              <a:extLst>
                <a:ext uri="{FF2B5EF4-FFF2-40B4-BE49-F238E27FC236}">
                  <a16:creationId xmlns:a16="http://schemas.microsoft.com/office/drawing/2014/main" id="{6749B2A6-B243-AD63-BB43-EB381B666220}"/>
                </a:ext>
              </a:extLst>
            </p:cNvPr>
            <p:cNvSpPr txBox="1"/>
            <p:nvPr/>
          </p:nvSpPr>
          <p:spPr>
            <a:xfrm>
              <a:off x="3046027" y="8483606"/>
              <a:ext cx="5251417" cy="659346"/>
            </a:xfrm>
            <a:prstGeom prst="rect">
              <a:avLst/>
            </a:prstGeom>
          </p:spPr>
          <p:txBody>
            <a:bodyPr lIns="0" tIns="0" rIns="0" bIns="0" rtlCol="0" anchor="ctr"/>
            <a:lstStyle/>
            <a:p>
              <a:pPr algn="l">
                <a:lnSpc>
                  <a:spcPts val="4500"/>
                </a:lnSpc>
              </a:pPr>
              <a:r>
                <a:rPr lang="en-US" sz="3000" b="1" dirty="0">
                  <a:solidFill>
                    <a:srgbClr val="FFFFFF"/>
                  </a:solidFill>
                  <a:latin typeface="Noto Sans Bold" panose="020B0802040504020204"/>
                  <a:ea typeface="Noto Sans Bold" panose="020B0802040504020204"/>
                  <a:cs typeface="Noto Sans Bold" panose="020B0802040504020204"/>
                  <a:sym typeface="Noto Sans Bold" panose="020B0802040504020204"/>
                </a:rPr>
                <a:t>Conclusion Determination</a:t>
              </a:r>
            </a:p>
          </p:txBody>
        </p:sp>
        <p:sp>
          <p:nvSpPr>
            <p:cNvPr id="46" name="TextBox 46">
              <a:extLst>
                <a:ext uri="{FF2B5EF4-FFF2-40B4-BE49-F238E27FC236}">
                  <a16:creationId xmlns:a16="http://schemas.microsoft.com/office/drawing/2014/main" id="{BD99792F-7946-46D9-44F3-E30951321F33}"/>
                </a:ext>
              </a:extLst>
            </p:cNvPr>
            <p:cNvSpPr txBox="1"/>
            <p:nvPr/>
          </p:nvSpPr>
          <p:spPr>
            <a:xfrm>
              <a:off x="3080935" y="9006315"/>
              <a:ext cx="5181600" cy="635794"/>
            </a:xfrm>
            <a:prstGeom prst="rect">
              <a:avLst/>
            </a:prstGeom>
          </p:spPr>
          <p:txBody>
            <a:bodyPr lIns="0" tIns="0" rIns="0" bIns="0" rtlCol="0" anchor="ctr"/>
            <a:lstStyle/>
            <a:p>
              <a:pPr algn="l">
                <a:lnSpc>
                  <a:spcPts val="4050"/>
                </a:lnSpc>
              </a:pPr>
              <a:r>
                <a:rPr lang="en-US" sz="2700" dirty="0">
                  <a:solidFill>
                    <a:srgbClr val="FFFFFF"/>
                  </a:solidFill>
                  <a:latin typeface="Noto Sans" panose="020B0502040504020204"/>
                  <a:ea typeface="Noto Sans" panose="020B0502040504020204"/>
                  <a:cs typeface="Noto Sans" panose="020B0502040504020204"/>
                  <a:sym typeface="Noto Sans" panose="020B0502040504020204"/>
                </a:rPr>
                <a:t>The hypothesis is supported.</a:t>
              </a:r>
            </a:p>
          </p:txBody>
        </p:sp>
      </p:grpSp>
      <p:sp>
        <p:nvSpPr>
          <p:cNvPr id="53" name="TextBox 19">
            <a:extLst>
              <a:ext uri="{FF2B5EF4-FFF2-40B4-BE49-F238E27FC236}">
                <a16:creationId xmlns:a16="http://schemas.microsoft.com/office/drawing/2014/main" id="{D01AC86D-F8FC-1C05-A9BA-A4CC37C5B599}"/>
              </a:ext>
            </a:extLst>
          </p:cNvPr>
          <p:cNvSpPr txBox="1"/>
          <p:nvPr/>
        </p:nvSpPr>
        <p:spPr>
          <a:xfrm>
            <a:off x="8382000" y="3513079"/>
            <a:ext cx="8985315" cy="4249566"/>
          </a:xfrm>
          <a:prstGeom prst="rect">
            <a:avLst/>
          </a:prstGeom>
        </p:spPr>
        <p:txBody>
          <a:bodyPr lIns="0" tIns="0" rIns="0" bIns="0" rtlCol="0" anchor="ctr"/>
          <a:lstStyle/>
          <a:p>
            <a:pPr>
              <a:lnSpc>
                <a:spcPts val="3000"/>
              </a:lnSpc>
            </a:pPr>
            <a:r>
              <a:rPr lang="en-US" sz="2000" b="1" dirty="0">
                <a:solidFill>
                  <a:srgbClr val="203864"/>
                </a:solidFill>
                <a:latin typeface="Noto Sans" panose="020B0502040504020204"/>
                <a:ea typeface="Noto Sans" panose="020B0502040504020204"/>
                <a:cs typeface="Noto Sans" panose="020B0502040504020204"/>
                <a:sym typeface="Noto Sans" panose="020B0502040504020204"/>
              </a:rPr>
              <a:t>Conclusion:</a:t>
            </a:r>
            <a:endParaRPr lang="en-US" sz="2000" b="1" dirty="0">
              <a:solidFill>
                <a:srgbClr val="374151"/>
              </a:solidFill>
              <a:latin typeface="Noto Sans" panose="020B0502040504020204"/>
              <a:ea typeface="Noto Sans" panose="020B0502040504020204"/>
              <a:cs typeface="Noto Sans" panose="020B0502040504020204"/>
              <a:sym typeface="Noto Sans" panose="020B0502040504020204"/>
            </a:endParaRP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Experimental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grouping</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has a significant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positive impact </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on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perceived control</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and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perceived control </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also has a significant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positive impact </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on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user engagement</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The most critical mediation effect value is 0.319 and highly significant.</a:t>
            </a:r>
          </a:p>
          <a:p>
            <a:pPr marL="342900" indent="-342900">
              <a:lnSpc>
                <a:spcPts val="3000"/>
              </a:lnSpc>
              <a:buFont typeface="Arial" panose="020B0604020202020204" pitchFamily="34" charset="0"/>
              <a:buChar char="•"/>
            </a:pPr>
            <a:r>
              <a:rPr lang="en-US" sz="2000" u="sng" dirty="0">
                <a:solidFill>
                  <a:srgbClr val="374151"/>
                </a:solidFill>
                <a:latin typeface="Noto Sans" panose="020B0502040504020204"/>
                <a:ea typeface="Noto Sans" panose="020B0502040504020204"/>
                <a:cs typeface="Noto Sans" panose="020B0502040504020204"/>
                <a:sym typeface="Noto Sans" panose="020B0502040504020204"/>
              </a:rPr>
              <a:t>After introducing the mediator variable</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the direct effect of experimental grouping on user engagement is </a:t>
            </a:r>
            <a:r>
              <a:rPr lang="en-US" sz="2000" b="1" dirty="0">
                <a:solidFill>
                  <a:srgbClr val="374151"/>
                </a:solidFill>
                <a:latin typeface="Noto Sans" panose="020B0502040504020204"/>
                <a:ea typeface="Noto Sans" panose="020B0502040504020204"/>
                <a:cs typeface="Noto Sans" panose="020B0502040504020204"/>
                <a:sym typeface="Noto Sans" panose="020B0502040504020204"/>
              </a:rPr>
              <a:t>no longer significant</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a:t>
            </a:r>
          </a:p>
          <a:p>
            <a:pPr marL="342900" indent="-342900">
              <a:lnSpc>
                <a:spcPts val="3000"/>
              </a:lnSpc>
              <a:buFont typeface="Arial" panose="020B0604020202020204" pitchFamily="34" charset="0"/>
              <a:buChar char="•"/>
            </a:pP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This indicates that </a:t>
            </a:r>
            <a:r>
              <a:rPr lang="en-US" sz="2000" u="sng" dirty="0">
                <a:solidFill>
                  <a:srgbClr val="374151"/>
                </a:solidFill>
                <a:latin typeface="Noto Sans" panose="020B0502040504020204"/>
                <a:ea typeface="Noto Sans" panose="020B0502040504020204"/>
                <a:cs typeface="Noto Sans" panose="020B0502040504020204"/>
                <a:sym typeface="Noto Sans" panose="020B0502040504020204"/>
              </a:rPr>
              <a:t>the influence of experimental grouping on user engagement is entirely achieved by enhancing users' perceived sense of control</a:t>
            </a:r>
            <a:r>
              <a:rPr lang="en-US" sz="2000" dirty="0">
                <a:solidFill>
                  <a:srgbClr val="374151"/>
                </a:solidFill>
                <a:latin typeface="Noto Sans" panose="020B0502040504020204"/>
                <a:ea typeface="Noto Sans" panose="020B0502040504020204"/>
                <a:cs typeface="Noto Sans" panose="020B0502040504020204"/>
                <a:sym typeface="Noto Sans" panose="020B0502040504020204"/>
              </a:rPr>
              <a:t>, which verifies H4.</a:t>
            </a:r>
          </a:p>
        </p:txBody>
      </p:sp>
      <p:pic>
        <p:nvPicPr>
          <p:cNvPr id="7" name="图片 6">
            <a:extLst>
              <a:ext uri="{FF2B5EF4-FFF2-40B4-BE49-F238E27FC236}">
                <a16:creationId xmlns:a16="http://schemas.microsoft.com/office/drawing/2014/main" id="{EF13A0D0-7A00-AA30-A54D-3A007189E3BD}"/>
              </a:ext>
            </a:extLst>
          </p:cNvPr>
          <p:cNvPicPr>
            <a:picLocks noChangeAspect="1"/>
          </p:cNvPicPr>
          <p:nvPr/>
        </p:nvPicPr>
        <p:blipFill>
          <a:blip r:embed="rId4"/>
          <a:stretch>
            <a:fillRect/>
          </a:stretch>
        </p:blipFill>
        <p:spPr>
          <a:xfrm>
            <a:off x="1370798" y="2873258"/>
            <a:ext cx="5993198" cy="5529208"/>
          </a:xfrm>
          <a:prstGeom prst="rect">
            <a:avLst/>
          </a:prstGeom>
        </p:spPr>
      </p:pic>
      <p:sp>
        <p:nvSpPr>
          <p:cNvPr id="8" name="矩形 7">
            <a:extLst>
              <a:ext uri="{FF2B5EF4-FFF2-40B4-BE49-F238E27FC236}">
                <a16:creationId xmlns:a16="http://schemas.microsoft.com/office/drawing/2014/main" id="{C266F55C-9646-BD38-0B94-82AE85CEC6DD}"/>
              </a:ext>
            </a:extLst>
          </p:cNvPr>
          <p:cNvSpPr/>
          <p:nvPr/>
        </p:nvSpPr>
        <p:spPr>
          <a:xfrm>
            <a:off x="2514600" y="8168307"/>
            <a:ext cx="762000" cy="17559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8153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4" name="TextBox 4"/>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panose="020F0502020204030204"/>
              </a:rPr>
              <a:t>AIDM 7480</a:t>
            </a:r>
          </a:p>
        </p:txBody>
      </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676400" y="1137937"/>
            <a:ext cx="7010400" cy="1156023"/>
          </a:xfrm>
          <a:prstGeom prst="rect">
            <a:avLst/>
          </a:prstGeom>
        </p:spPr>
        <p:txBody>
          <a:bodyPr lIns="0" tIns="0" rIns="0" bIns="0" rtlCol="0" anchor="ctr"/>
          <a:lstStyle/>
          <a:p>
            <a:pPr algn="l">
              <a:lnSpc>
                <a:spcPts val="7200"/>
              </a:lnSpc>
            </a:pPr>
            <a:r>
              <a:rPr lang="en-US" sz="4800" b="1" dirty="0">
                <a:solidFill>
                  <a:srgbClr val="203864"/>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Summary of main findings</a:t>
            </a:r>
          </a:p>
        </p:txBody>
      </p:sp>
      <p:sp>
        <p:nvSpPr>
          <p:cNvPr id="6" name="TextBox 19">
            <a:extLst>
              <a:ext uri="{FF2B5EF4-FFF2-40B4-BE49-F238E27FC236}">
                <a16:creationId xmlns:a16="http://schemas.microsoft.com/office/drawing/2014/main" id="{C33672F9-6811-D399-803E-04F41DCD5CB5}"/>
              </a:ext>
            </a:extLst>
          </p:cNvPr>
          <p:cNvSpPr txBox="1"/>
          <p:nvPr/>
        </p:nvSpPr>
        <p:spPr>
          <a:xfrm>
            <a:off x="1676400" y="2382805"/>
            <a:ext cx="14935200" cy="4572000"/>
          </a:xfrm>
          <a:prstGeom prst="rect">
            <a:avLst/>
          </a:prstGeom>
        </p:spPr>
        <p:txBody>
          <a:bodyPr lIns="0" tIns="0" rIns="0" bIns="0" rtlCol="0" anchor="ctr"/>
          <a:lstStyle/>
          <a:p>
            <a:pPr marL="342900" indent="-342900">
              <a:lnSpc>
                <a:spcPts val="3000"/>
              </a:lnSpc>
              <a:buFont typeface="Arial" panose="020B0604020202020204" pitchFamily="34" charset="0"/>
              <a:buChar char="•"/>
            </a:pPr>
            <a:r>
              <a:rPr lang="en-US" sz="24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data analysis results provide robust support for all four hypotheses. </a:t>
            </a:r>
          </a:p>
          <a:p>
            <a:pPr marL="342900" indent="-342900">
              <a:lnSpc>
                <a:spcPts val="3000"/>
              </a:lnSpc>
              <a:buFont typeface="Arial" panose="020B0604020202020204" pitchFamily="34" charset="0"/>
              <a:buChar char="•"/>
            </a:pPr>
            <a:r>
              <a:rPr lang="en-US" sz="2400" b="1" dirty="0">
                <a:solidFill>
                  <a:srgbClr val="203864"/>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H1 (Perceived Control): </a:t>
            </a:r>
            <a:r>
              <a:rPr lang="en-US" sz="24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Image and Text Post Group (Group A) demonstrated significantly higher levels of perceived control over information processing compared to the Short Video Post Group (Group B) (t=12.29, p&lt;0.001).</a:t>
            </a:r>
          </a:p>
          <a:p>
            <a:pPr marL="342900" indent="-342900">
              <a:lnSpc>
                <a:spcPts val="3000"/>
              </a:lnSpc>
              <a:buFont typeface="Arial" panose="020B0604020202020204" pitchFamily="34" charset="0"/>
              <a:buChar char="•"/>
            </a:pPr>
            <a:r>
              <a:rPr lang="en-US" altLang="zh-CN" sz="2400" b="1" dirty="0">
                <a:solidFill>
                  <a:srgbClr val="203864"/>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H2 (Correlation): </a:t>
            </a:r>
            <a:r>
              <a:rPr lang="en-US" altLang="zh-CN" sz="24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Pearson correlation analysis confirmed a significant positive relationship between perceived control and behavioral intentions, validating the proposed associations.</a:t>
            </a:r>
          </a:p>
          <a:p>
            <a:pPr marL="342900" indent="-342900">
              <a:lnSpc>
                <a:spcPts val="3000"/>
              </a:lnSpc>
              <a:buFont typeface="Arial" panose="020B0604020202020204" pitchFamily="34" charset="0"/>
              <a:buChar char="•"/>
            </a:pPr>
            <a:r>
              <a:rPr lang="en-US" sz="2400" b="1" dirty="0">
                <a:solidFill>
                  <a:srgbClr val="203864"/>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H3 (Willingness to Participate): </a:t>
            </a:r>
            <a:r>
              <a:rPr lang="en-US" sz="24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Consistent with H1, Group A also exhibited significantly higher willingness to engage in all five major interactive behaviors (t=5.97, p&lt;0.001).</a:t>
            </a:r>
          </a:p>
          <a:p>
            <a:pPr marL="342900" indent="-342900">
              <a:lnSpc>
                <a:spcPts val="3000"/>
              </a:lnSpc>
              <a:buFont typeface="Arial" panose="020B0604020202020204" pitchFamily="34" charset="0"/>
              <a:buChar char="•"/>
            </a:pPr>
            <a:r>
              <a:rPr lang="en-US" sz="2400" b="1" dirty="0">
                <a:solidFill>
                  <a:srgbClr val="203864"/>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H4 (Mediation): </a:t>
            </a:r>
            <a:r>
              <a:rPr lang="en-US" sz="2400" dirty="0">
                <a:solidFill>
                  <a:srgbClr val="374151"/>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mediation analysis revealed a full mediation effect. While the experimental grouping had a significant impact on perceived control, its direct effect on user engagement became non-significant after introducing perceived control as the mediator. The indirect effect (ab = 0.319) was highly significant, indicating that the influence of post type on user engagement is entirely achieved through enhancing users' perceived sense of control.</a:t>
            </a:r>
          </a:p>
        </p:txBody>
      </p:sp>
      <p:grpSp>
        <p:nvGrpSpPr>
          <p:cNvPr id="9" name="组合 8">
            <a:extLst>
              <a:ext uri="{FF2B5EF4-FFF2-40B4-BE49-F238E27FC236}">
                <a16:creationId xmlns:a16="http://schemas.microsoft.com/office/drawing/2014/main" id="{494688E8-E101-C04E-9641-5EBBB09AA31D}"/>
              </a:ext>
            </a:extLst>
          </p:cNvPr>
          <p:cNvGrpSpPr/>
          <p:nvPr/>
        </p:nvGrpSpPr>
        <p:grpSpPr>
          <a:xfrm>
            <a:off x="1676400" y="7200900"/>
            <a:ext cx="14935200" cy="2222775"/>
            <a:chOff x="2017367" y="8642323"/>
            <a:chExt cx="14935200" cy="999786"/>
          </a:xfrm>
        </p:grpSpPr>
        <p:grpSp>
          <p:nvGrpSpPr>
            <p:cNvPr id="13" name="Group 38">
              <a:extLst>
                <a:ext uri="{FF2B5EF4-FFF2-40B4-BE49-F238E27FC236}">
                  <a16:creationId xmlns:a16="http://schemas.microsoft.com/office/drawing/2014/main" id="{AA279239-919E-1D62-652C-293E4916F392}"/>
                </a:ext>
              </a:extLst>
            </p:cNvPr>
            <p:cNvGrpSpPr/>
            <p:nvPr/>
          </p:nvGrpSpPr>
          <p:grpSpPr>
            <a:xfrm>
              <a:off x="2017367" y="8642323"/>
              <a:ext cx="14935200" cy="999786"/>
              <a:chOff x="0" y="269776"/>
              <a:chExt cx="44007542" cy="1966791"/>
            </a:xfrm>
          </p:grpSpPr>
          <p:sp>
            <p:nvSpPr>
              <p:cNvPr id="31" name="Freeform 39">
                <a:extLst>
                  <a:ext uri="{FF2B5EF4-FFF2-40B4-BE49-F238E27FC236}">
                    <a16:creationId xmlns:a16="http://schemas.microsoft.com/office/drawing/2014/main" id="{063EFCE5-05AD-5F6B-D1D4-8F5640D528CB}"/>
                  </a:ext>
                </a:extLst>
              </p:cNvPr>
              <p:cNvSpPr/>
              <p:nvPr/>
            </p:nvSpPr>
            <p:spPr>
              <a:xfrm>
                <a:off x="0" y="269776"/>
                <a:ext cx="44007542" cy="1966791"/>
              </a:xfrm>
              <a:custGeom>
                <a:avLst/>
                <a:gdLst/>
                <a:ahLst/>
                <a:cxnLst/>
                <a:rect l="l" t="t" r="r" b="b"/>
                <a:pathLst>
                  <a:path w="21336000" h="2286000">
                    <a:moveTo>
                      <a:pt x="0" y="254000"/>
                    </a:moveTo>
                    <a:cubicBezTo>
                      <a:pt x="0" y="113665"/>
                      <a:pt x="113665" y="0"/>
                      <a:pt x="254000" y="0"/>
                    </a:cubicBezTo>
                    <a:lnTo>
                      <a:pt x="21082000" y="0"/>
                    </a:lnTo>
                    <a:cubicBezTo>
                      <a:pt x="21222336" y="0"/>
                      <a:pt x="21336000" y="113665"/>
                      <a:pt x="21336000" y="254000"/>
                    </a:cubicBezTo>
                    <a:lnTo>
                      <a:pt x="21336000" y="2032000"/>
                    </a:lnTo>
                    <a:cubicBezTo>
                      <a:pt x="21336000" y="2172335"/>
                      <a:pt x="21222336" y="2286000"/>
                      <a:pt x="21082000" y="2286000"/>
                    </a:cubicBezTo>
                    <a:lnTo>
                      <a:pt x="254000" y="2286000"/>
                    </a:lnTo>
                    <a:cubicBezTo>
                      <a:pt x="113665" y="2286000"/>
                      <a:pt x="0" y="2172335"/>
                      <a:pt x="0" y="2032000"/>
                    </a:cubicBezTo>
                    <a:close/>
                  </a:path>
                </a:pathLst>
              </a:custGeom>
              <a:solidFill>
                <a:srgbClr val="1E3A8A"/>
              </a:solidFill>
            </p:spPr>
            <p:txBody>
              <a:bodyPr/>
              <a:lstStyle/>
              <a:p>
                <a:endParaRPr lang="zh-CN" altLang="en-US" dirty="0">
                  <a:latin typeface="Calibri" panose="020F0502020204030204" pitchFamily="34" charset="0"/>
                  <a:cs typeface="Calibri" panose="020F0502020204030204" pitchFamily="34" charset="0"/>
                </a:endParaRPr>
              </a:p>
            </p:txBody>
          </p:sp>
        </p:grpSp>
        <p:sp>
          <p:nvSpPr>
            <p:cNvPr id="20" name="TextBox 43">
              <a:extLst>
                <a:ext uri="{FF2B5EF4-FFF2-40B4-BE49-F238E27FC236}">
                  <a16:creationId xmlns:a16="http://schemas.microsoft.com/office/drawing/2014/main" id="{A3ACEA78-019F-E580-891F-A480D460B184}"/>
                </a:ext>
              </a:extLst>
            </p:cNvPr>
            <p:cNvSpPr txBox="1"/>
            <p:nvPr/>
          </p:nvSpPr>
          <p:spPr>
            <a:xfrm>
              <a:off x="2707095" y="8678575"/>
              <a:ext cx="2171740" cy="348932"/>
            </a:xfrm>
            <a:prstGeom prst="rect">
              <a:avLst/>
            </a:prstGeom>
          </p:spPr>
          <p:txBody>
            <a:bodyPr lIns="0" tIns="0" rIns="0" bIns="0" rtlCol="0" anchor="ctr"/>
            <a:lstStyle/>
            <a:p>
              <a:pPr algn="l">
                <a:lnSpc>
                  <a:spcPts val="4500"/>
                </a:lnSpc>
              </a:pPr>
              <a:r>
                <a:rPr lang="en-US" sz="3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Noto Sans Bold" panose="020B0802040504020204"/>
                </a:rPr>
                <a:t>Conclusion</a:t>
              </a:r>
            </a:p>
          </p:txBody>
        </p:sp>
        <p:sp>
          <p:nvSpPr>
            <p:cNvPr id="27" name="TextBox 46">
              <a:extLst>
                <a:ext uri="{FF2B5EF4-FFF2-40B4-BE49-F238E27FC236}">
                  <a16:creationId xmlns:a16="http://schemas.microsoft.com/office/drawing/2014/main" id="{69732CE3-37A5-8DE6-EF51-E59EE48CEDAD}"/>
                </a:ext>
              </a:extLst>
            </p:cNvPr>
            <p:cNvSpPr txBox="1"/>
            <p:nvPr/>
          </p:nvSpPr>
          <p:spPr>
            <a:xfrm>
              <a:off x="2707095" y="8998641"/>
              <a:ext cx="13792200" cy="493118"/>
            </a:xfrm>
            <a:prstGeom prst="rect">
              <a:avLst/>
            </a:prstGeom>
          </p:spPr>
          <p:txBody>
            <a:bodyPr lIns="0" tIns="0" rIns="0" bIns="0" rtlCol="0" anchor="ctr"/>
            <a:lstStyle/>
            <a:p>
              <a:pPr algn="l">
                <a:lnSpc>
                  <a:spcPts val="4050"/>
                </a:lnSpc>
              </a:pP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sym typeface="Noto Sans" panose="020B0502040504020204"/>
                </a:rPr>
                <a:t>The findings collectively suggest that Image and Text posts outperform Short Videos by fostering a greater sense of user control, which in turn drives higher user engagement.</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29024-436D-0647-5B36-9F7BD47B76A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CF7E0CA-15FD-9912-5656-2828A8432BFD}"/>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sym typeface="+mn-lt"/>
            </a:endParaRPr>
          </a:p>
        </p:txBody>
      </p:sp>
      <p:grpSp>
        <p:nvGrpSpPr>
          <p:cNvPr id="23" name="组合 22">
            <a:extLst>
              <a:ext uri="{FF2B5EF4-FFF2-40B4-BE49-F238E27FC236}">
                <a16:creationId xmlns:a16="http://schemas.microsoft.com/office/drawing/2014/main" id="{EF24B506-8EBA-7FD8-766A-D508F9A39245}"/>
              </a:ext>
            </a:extLst>
          </p:cNvPr>
          <p:cNvGrpSpPr/>
          <p:nvPr/>
        </p:nvGrpSpPr>
        <p:grpSpPr>
          <a:xfrm>
            <a:off x="14185810" y="0"/>
            <a:ext cx="5018108" cy="10287000"/>
            <a:chOff x="9457206" y="0"/>
            <a:chExt cx="3345405" cy="6858000"/>
          </a:xfrm>
        </p:grpSpPr>
        <p:sp>
          <p:nvSpPr>
            <p:cNvPr id="13" name="任意多边形: 形状 12">
              <a:extLst>
                <a:ext uri="{FF2B5EF4-FFF2-40B4-BE49-F238E27FC236}">
                  <a16:creationId xmlns:a16="http://schemas.microsoft.com/office/drawing/2014/main" id="{D48642DB-7666-0658-A143-61EF3793673C}"/>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1E0AB0F4-2D4C-BDA3-0FDD-CF44328B2601}"/>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5" name="任意多边形: 形状 14">
              <a:extLst>
                <a:ext uri="{FF2B5EF4-FFF2-40B4-BE49-F238E27FC236}">
                  <a16:creationId xmlns:a16="http://schemas.microsoft.com/office/drawing/2014/main" id="{7D4703B5-5DEB-7816-AF93-95684B775FB1}"/>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6" name="任意多边形: 形状 15">
              <a:extLst>
                <a:ext uri="{FF2B5EF4-FFF2-40B4-BE49-F238E27FC236}">
                  <a16:creationId xmlns:a16="http://schemas.microsoft.com/office/drawing/2014/main" id="{4BE2D801-8734-2139-1E7E-D7476FF065DC}"/>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7" name="任意多边形: 形状 16">
              <a:extLst>
                <a:ext uri="{FF2B5EF4-FFF2-40B4-BE49-F238E27FC236}">
                  <a16:creationId xmlns:a16="http://schemas.microsoft.com/office/drawing/2014/main" id="{51C97C36-CD66-2727-5047-828049DB0E6D}"/>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8" name="任意多边形: 形状 17">
              <a:extLst>
                <a:ext uri="{FF2B5EF4-FFF2-40B4-BE49-F238E27FC236}">
                  <a16:creationId xmlns:a16="http://schemas.microsoft.com/office/drawing/2014/main" id="{B73A52A7-E312-234A-CC68-9FB741D45151}"/>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19" name="任意多边形: 形状 18">
              <a:extLst>
                <a:ext uri="{FF2B5EF4-FFF2-40B4-BE49-F238E27FC236}">
                  <a16:creationId xmlns:a16="http://schemas.microsoft.com/office/drawing/2014/main" id="{693748F0-7611-559F-149F-D3FE8C18A1FB}"/>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0" name="任意多边形: 形状 19">
              <a:extLst>
                <a:ext uri="{FF2B5EF4-FFF2-40B4-BE49-F238E27FC236}">
                  <a16:creationId xmlns:a16="http://schemas.microsoft.com/office/drawing/2014/main" id="{94B1C84E-9646-8B2B-7126-4E093EBF8789}"/>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1" name="任意多边形: 形状 20">
              <a:extLst>
                <a:ext uri="{FF2B5EF4-FFF2-40B4-BE49-F238E27FC236}">
                  <a16:creationId xmlns:a16="http://schemas.microsoft.com/office/drawing/2014/main" id="{AF679AAB-E627-0339-7A90-057F163D81D7}"/>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2" name="任意多边形: 形状 21">
              <a:extLst>
                <a:ext uri="{FF2B5EF4-FFF2-40B4-BE49-F238E27FC236}">
                  <a16:creationId xmlns:a16="http://schemas.microsoft.com/office/drawing/2014/main" id="{01ADA9BE-B237-0E62-B9FA-A95DE2357336}"/>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grpSp>
      <p:sp>
        <p:nvSpPr>
          <p:cNvPr id="68" name="矩形 67">
            <a:extLst>
              <a:ext uri="{FF2B5EF4-FFF2-40B4-BE49-F238E27FC236}">
                <a16:creationId xmlns:a16="http://schemas.microsoft.com/office/drawing/2014/main" id="{A609A0FC-B25F-6923-EE78-E0A4D9556F16}"/>
              </a:ext>
            </a:extLst>
          </p:cNvPr>
          <p:cNvSpPr/>
          <p:nvPr/>
        </p:nvSpPr>
        <p:spPr>
          <a:xfrm>
            <a:off x="2017652" y="3827756"/>
            <a:ext cx="1759079" cy="1477328"/>
          </a:xfrm>
          <a:prstGeom prst="rect">
            <a:avLst/>
          </a:prstGeom>
        </p:spPr>
        <p:txBody>
          <a:bodyPr wrap="square">
            <a:spAutoFit/>
          </a:bodyPr>
          <a:lstStyle/>
          <a:p>
            <a:pPr algn="ctr"/>
            <a:r>
              <a:rPr lang="en-US" altLang="zh-CN" sz="9000" b="1" dirty="0">
                <a:latin typeface="Calibri" panose="020F0502020204030204" pitchFamily="34" charset="0"/>
                <a:ea typeface="Calibri" panose="020F0502020204030204" pitchFamily="34" charset="0"/>
                <a:cs typeface="Calibri" panose="020F0502020204030204" pitchFamily="34" charset="0"/>
              </a:rPr>
              <a:t>5</a:t>
            </a:r>
            <a:endParaRPr lang="zh-CN" altLang="en-US" sz="9000" b="1" dirty="0">
              <a:latin typeface="Calibri" panose="020F0502020204030204" pitchFamily="34" charset="0"/>
              <a:cs typeface="Calibri" panose="020F0502020204030204" pitchFamily="34" charset="0"/>
            </a:endParaRPr>
          </a:p>
        </p:txBody>
      </p:sp>
      <p:sp>
        <p:nvSpPr>
          <p:cNvPr id="69" name="矩形 68">
            <a:extLst>
              <a:ext uri="{FF2B5EF4-FFF2-40B4-BE49-F238E27FC236}">
                <a16:creationId xmlns:a16="http://schemas.microsoft.com/office/drawing/2014/main" id="{93D63744-4F12-F6F8-F2B7-B46578957663}"/>
              </a:ext>
            </a:extLst>
          </p:cNvPr>
          <p:cNvSpPr/>
          <p:nvPr/>
        </p:nvSpPr>
        <p:spPr>
          <a:xfrm>
            <a:off x="4315615" y="3827756"/>
            <a:ext cx="5133186" cy="1446550"/>
          </a:xfrm>
          <a:prstGeom prst="rect">
            <a:avLst/>
          </a:prstGeom>
        </p:spPr>
        <p:txBody>
          <a:bodyPr wrap="square">
            <a:spAutoFit/>
          </a:bodyPr>
          <a:lstStyle/>
          <a:p>
            <a:r>
              <a:rPr lang="en-US" altLang="zh-CN" sz="8800" b="1" dirty="0">
                <a:latin typeface="Calibri" panose="020F0502020204030204" pitchFamily="34" charset="0"/>
                <a:ea typeface="Calibri" panose="020F0502020204030204" pitchFamily="34" charset="0"/>
                <a:cs typeface="Calibri" panose="020F0502020204030204" pitchFamily="34" charset="0"/>
              </a:rPr>
              <a:t>Discussion</a:t>
            </a:r>
            <a:endParaRPr lang="zh-CN" altLang="en-US" sz="8800" dirty="0">
              <a:latin typeface="Calibri" panose="020F0502020204030204" pitchFamily="34" charset="0"/>
              <a:cs typeface="Calibri" panose="020F0502020204030204" pitchFamily="34" charset="0"/>
            </a:endParaRPr>
          </a:p>
        </p:txBody>
      </p:sp>
      <p:sp>
        <p:nvSpPr>
          <p:cNvPr id="24" name="矩形 23">
            <a:extLst>
              <a:ext uri="{FF2B5EF4-FFF2-40B4-BE49-F238E27FC236}">
                <a16:creationId xmlns:a16="http://schemas.microsoft.com/office/drawing/2014/main" id="{470DBFBB-BF9E-DF30-3E3B-E0C83A61EDD3}"/>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25" name="组合 24">
            <a:extLst>
              <a:ext uri="{FF2B5EF4-FFF2-40B4-BE49-F238E27FC236}">
                <a16:creationId xmlns:a16="http://schemas.microsoft.com/office/drawing/2014/main" id="{ED4CEBF4-AA8C-E796-AC4D-B3C754F8DE41}"/>
              </a:ext>
            </a:extLst>
          </p:cNvPr>
          <p:cNvGrpSpPr/>
          <p:nvPr/>
        </p:nvGrpSpPr>
        <p:grpSpPr>
          <a:xfrm>
            <a:off x="321467" y="4464710"/>
            <a:ext cx="71438" cy="2214563"/>
            <a:chOff x="214311" y="3257550"/>
            <a:chExt cx="47625" cy="1476375"/>
          </a:xfrm>
        </p:grpSpPr>
        <p:sp>
          <p:nvSpPr>
            <p:cNvPr id="26" name="椭圆 25">
              <a:extLst>
                <a:ext uri="{FF2B5EF4-FFF2-40B4-BE49-F238E27FC236}">
                  <a16:creationId xmlns:a16="http://schemas.microsoft.com/office/drawing/2014/main" id="{A8597DD6-A575-9EEF-9841-6F023714298D}"/>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27" name="椭圆 26">
              <a:extLst>
                <a:ext uri="{FF2B5EF4-FFF2-40B4-BE49-F238E27FC236}">
                  <a16:creationId xmlns:a16="http://schemas.microsoft.com/office/drawing/2014/main" id="{837D419F-F476-E27B-1075-E4FB522025E8}"/>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8" name="椭圆 27">
              <a:extLst>
                <a:ext uri="{FF2B5EF4-FFF2-40B4-BE49-F238E27FC236}">
                  <a16:creationId xmlns:a16="http://schemas.microsoft.com/office/drawing/2014/main" id="{5AC0B041-1A2A-2408-3117-A286096D7C8C}"/>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29" name="椭圆 28">
              <a:extLst>
                <a:ext uri="{FF2B5EF4-FFF2-40B4-BE49-F238E27FC236}">
                  <a16:creationId xmlns:a16="http://schemas.microsoft.com/office/drawing/2014/main" id="{D4608C74-E4CD-893E-733E-CD87CBCACA2F}"/>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1" name="椭圆 30">
              <a:extLst>
                <a:ext uri="{FF2B5EF4-FFF2-40B4-BE49-F238E27FC236}">
                  <a16:creationId xmlns:a16="http://schemas.microsoft.com/office/drawing/2014/main" id="{A486F351-BB52-8A5F-04D0-4857601C7574}"/>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32" name="椭圆 31">
              <a:extLst>
                <a:ext uri="{FF2B5EF4-FFF2-40B4-BE49-F238E27FC236}">
                  <a16:creationId xmlns:a16="http://schemas.microsoft.com/office/drawing/2014/main" id="{E56332A8-590C-632A-4E89-29783DE41120}"/>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06119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82343" y="6942896"/>
            <a:ext cx="3805657" cy="3344104"/>
            <a:chOff x="0" y="0"/>
            <a:chExt cx="5074209" cy="4458805"/>
          </a:xfrm>
        </p:grpSpPr>
        <p:sp>
          <p:nvSpPr>
            <p:cNvPr id="3" name="Freeform 3"/>
            <p:cNvSpPr/>
            <p:nvPr/>
          </p:nvSpPr>
          <p:spPr>
            <a:xfrm>
              <a:off x="0" y="0"/>
              <a:ext cx="5074158" cy="4458843"/>
            </a:xfrm>
            <a:custGeom>
              <a:avLst/>
              <a:gdLst/>
              <a:ahLst/>
              <a:cxnLst/>
              <a:rect l="l" t="t" r="r" b="b"/>
              <a:pathLst>
                <a:path w="5074158" h="4458843">
                  <a:moveTo>
                    <a:pt x="0" y="0"/>
                  </a:moveTo>
                  <a:lnTo>
                    <a:pt x="5074158" y="0"/>
                  </a:lnTo>
                  <a:lnTo>
                    <a:pt x="5074158" y="4458843"/>
                  </a:lnTo>
                  <a:lnTo>
                    <a:pt x="0" y="4458843"/>
                  </a:lnTo>
                  <a:lnTo>
                    <a:pt x="0" y="0"/>
                  </a:lnTo>
                  <a:close/>
                </a:path>
              </a:pathLst>
            </a:custGeom>
            <a:blipFill>
              <a:blip r:embed="rId2"/>
              <a:stretch>
                <a:fillRect r="-37930" b="-62433"/>
              </a:stretch>
            </a:blipFill>
          </p:spPr>
        </p:sp>
      </p:grpSp>
      <p:sp>
        <p:nvSpPr>
          <p:cNvPr id="4" name="TextBox 4"/>
          <p:cNvSpPr txBox="1"/>
          <p:nvPr/>
        </p:nvSpPr>
        <p:spPr>
          <a:xfrm>
            <a:off x="1936737" y="1954644"/>
            <a:ext cx="8960941" cy="720325"/>
          </a:xfrm>
          <a:prstGeom prst="rect">
            <a:avLst/>
          </a:prstGeom>
        </p:spPr>
        <p:txBody>
          <a:bodyPr lIns="0" tIns="0" rIns="0" bIns="0" rtlCol="0" anchor="t">
            <a:spAutoFit/>
          </a:bodyPr>
          <a:lstStyle/>
          <a:p>
            <a:pPr algn="l">
              <a:lnSpc>
                <a:spcPts val="5759"/>
              </a:lnSpc>
            </a:pPr>
            <a:r>
              <a:rPr lang="en-US" sz="4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Theoretical &amp; Practical Implications</a:t>
            </a:r>
          </a:p>
        </p:txBody>
      </p:sp>
      <p:sp>
        <p:nvSpPr>
          <p:cNvPr id="7" name="TextBox 7"/>
          <p:cNvSpPr txBox="1"/>
          <p:nvPr/>
        </p:nvSpPr>
        <p:spPr>
          <a:xfrm>
            <a:off x="1936737" y="2963217"/>
            <a:ext cx="14108421" cy="2042160"/>
          </a:xfrm>
          <a:prstGeom prst="rect">
            <a:avLst/>
          </a:prstGeom>
        </p:spPr>
        <p:txBody>
          <a:bodyPr lIns="0" tIns="0" rIns="0" bIns="0" rtlCol="0" anchor="t">
            <a:spAutoFit/>
          </a:bodyPr>
          <a:lstStyle/>
          <a:p>
            <a:pPr algn="l">
              <a:lnSpc>
                <a:spcPts val="4860"/>
              </a:lnSpc>
            </a:pPr>
            <a:r>
              <a:rPr lang="en-US" sz="27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Theoretical Implications</a:t>
            </a:r>
          </a:p>
          <a:p>
            <a:pPr marL="434340" lvl="1" indent="-217170" algn="l">
              <a:lnSpc>
                <a:spcPts val="3600"/>
              </a:lnSpc>
              <a:buFont typeface="Arial"/>
              <a:buChar char="•"/>
            </a:pP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First to reveal the full mediating role of perceived control</a:t>
            </a:r>
          </a:p>
          <a:p>
            <a:pPr algn="l">
              <a:lnSpc>
                <a:spcPts val="3600"/>
              </a:lnSpc>
            </a:pP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Post type → perceived control → engagement intention (full mediation, indirect effect = 0.319, p &lt; 0.001)</a:t>
            </a:r>
          </a:p>
          <a:p>
            <a:pPr algn="l">
              <a:lnSpc>
                <a:spcPts val="3600"/>
              </a:lnSpc>
            </a:pP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Image-text posts enhance engagement entirely through enhancing perceived control</a:t>
            </a:r>
          </a:p>
        </p:txBody>
      </p:sp>
      <p:grpSp>
        <p:nvGrpSpPr>
          <p:cNvPr id="8" name="Group 8"/>
          <p:cNvGrpSpPr/>
          <p:nvPr/>
        </p:nvGrpSpPr>
        <p:grpSpPr>
          <a:xfrm>
            <a:off x="0" y="0"/>
            <a:ext cx="714375" cy="10287000"/>
            <a:chOff x="0" y="0"/>
            <a:chExt cx="952500" cy="13716000"/>
          </a:xfrm>
        </p:grpSpPr>
        <p:sp>
          <p:nvSpPr>
            <p:cNvPr id="9" name="Freeform 9"/>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10" name="TextBox 10"/>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a:rPr>
              <a:t>AIDM 7480</a:t>
            </a:r>
          </a:p>
        </p:txBody>
      </p:sp>
      <p:sp>
        <p:nvSpPr>
          <p:cNvPr id="11" name="Freeform 11"/>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936737" y="5148605"/>
            <a:ext cx="14108421" cy="1851660"/>
          </a:xfrm>
          <a:prstGeom prst="rect">
            <a:avLst/>
          </a:prstGeom>
        </p:spPr>
        <p:txBody>
          <a:bodyPr lIns="0" tIns="0" rIns="0" bIns="0" rtlCol="0" anchor="t">
            <a:spAutoFit/>
          </a:bodyPr>
          <a:lstStyle/>
          <a:p>
            <a:pPr marL="518160" lvl="1" indent="-259080" algn="l">
              <a:lnSpc>
                <a:spcPts val="3600"/>
              </a:lnSpc>
              <a:buFont typeface="Arial"/>
              <a:buChar char="•"/>
            </a:pP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Redefines media forms by “control provision”</a:t>
            </a:r>
          </a:p>
          <a:p>
            <a:pPr algn="l">
              <a:lnSpc>
                <a:spcPts val="3600"/>
              </a:lnSpc>
            </a:pP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Image-text = high-control provision type</a:t>
            </a:r>
          </a:p>
          <a:p>
            <a:pPr algn="l">
              <a:lnSpc>
                <a:spcPts val="3600"/>
              </a:lnSpc>
            </a:pP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Short video = low-control provision type</a:t>
            </a:r>
          </a:p>
          <a:p>
            <a:pPr algn="l">
              <a:lnSpc>
                <a:spcPts val="3600"/>
              </a:lnSpc>
            </a:pP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Fills the theoretical gap in defining the essence of media forms</a:t>
            </a:r>
          </a:p>
        </p:txBody>
      </p:sp>
      <p:sp>
        <p:nvSpPr>
          <p:cNvPr id="13" name="TextBox 13"/>
          <p:cNvSpPr txBox="1"/>
          <p:nvPr/>
        </p:nvSpPr>
        <p:spPr>
          <a:xfrm>
            <a:off x="1936737" y="7220755"/>
            <a:ext cx="14108421" cy="1851660"/>
          </a:xfrm>
          <a:prstGeom prst="rect">
            <a:avLst/>
          </a:prstGeom>
        </p:spPr>
        <p:txBody>
          <a:bodyPr lIns="0" tIns="0" rIns="0" bIns="0" rtlCol="0" anchor="t">
            <a:spAutoFit/>
          </a:bodyPr>
          <a:lstStyle/>
          <a:p>
            <a:pPr marL="518160" lvl="1" indent="-259080" algn="l">
              <a:lnSpc>
                <a:spcPts val="3600"/>
              </a:lnSpc>
              <a:buFont typeface="Arial"/>
              <a:buChar char="•"/>
            </a:pPr>
            <a:r>
              <a:rPr lang="en-US" sz="2400" b="1">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Extends Self-Determination Theory &amp; UGT to new media contexts</a:t>
            </a:r>
          </a:p>
          <a:p>
            <a:pPr algn="l">
              <a:lnSpc>
                <a:spcPts val="3600"/>
              </a:lnSpc>
            </a:pPr>
            <a:r>
              <a:rPr lang="en-US" sz="240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Perceived control = manifestation of “autonomy need” in information processing</a:t>
            </a:r>
          </a:p>
          <a:p>
            <a:pPr algn="l">
              <a:lnSpc>
                <a:spcPts val="3600"/>
              </a:lnSpc>
            </a:pPr>
            <a:r>
              <a:rPr lang="en-US" sz="240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Shifts research from “shallow association of forms” to “deep psychological mechanism-driven”</a:t>
            </a:r>
          </a:p>
          <a:p>
            <a:pPr algn="l">
              <a:lnSpc>
                <a:spcPts val="3600"/>
              </a:lnSpc>
            </a:pPr>
            <a:endParaRPr lang="en-US" sz="240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endParaRPr>
          </a:p>
        </p:txBody>
      </p:sp>
    </p:spTree>
    <p:extLst>
      <p:ext uri="{BB962C8B-B14F-4D97-AF65-F5344CB8AC3E}">
        <p14:creationId xmlns:p14="http://schemas.microsoft.com/office/powerpoint/2010/main" val="41409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82343" y="6942896"/>
            <a:ext cx="3805657" cy="3344104"/>
            <a:chOff x="0" y="0"/>
            <a:chExt cx="5074209" cy="4458805"/>
          </a:xfrm>
        </p:grpSpPr>
        <p:sp>
          <p:nvSpPr>
            <p:cNvPr id="3" name="Freeform 3"/>
            <p:cNvSpPr/>
            <p:nvPr/>
          </p:nvSpPr>
          <p:spPr>
            <a:xfrm>
              <a:off x="0" y="0"/>
              <a:ext cx="5074158" cy="4458843"/>
            </a:xfrm>
            <a:custGeom>
              <a:avLst/>
              <a:gdLst/>
              <a:ahLst/>
              <a:cxnLst/>
              <a:rect l="l" t="t" r="r" b="b"/>
              <a:pathLst>
                <a:path w="5074158" h="4458843">
                  <a:moveTo>
                    <a:pt x="0" y="0"/>
                  </a:moveTo>
                  <a:lnTo>
                    <a:pt x="5074158" y="0"/>
                  </a:lnTo>
                  <a:lnTo>
                    <a:pt x="5074158" y="4458843"/>
                  </a:lnTo>
                  <a:lnTo>
                    <a:pt x="0" y="4458843"/>
                  </a:lnTo>
                  <a:lnTo>
                    <a:pt x="0" y="0"/>
                  </a:lnTo>
                  <a:close/>
                </a:path>
              </a:pathLst>
            </a:custGeom>
            <a:blipFill>
              <a:blip r:embed="rId2"/>
              <a:stretch>
                <a:fillRect r="-37930" b="-62433"/>
              </a:stretch>
            </a:blipFill>
          </p:spPr>
        </p:sp>
      </p:grpSp>
      <p:grpSp>
        <p:nvGrpSpPr>
          <p:cNvPr id="6" name="Group 6"/>
          <p:cNvGrpSpPr/>
          <p:nvPr/>
        </p:nvGrpSpPr>
        <p:grpSpPr>
          <a:xfrm>
            <a:off x="0" y="0"/>
            <a:ext cx="714375" cy="10287000"/>
            <a:chOff x="0" y="0"/>
            <a:chExt cx="952500" cy="13716000"/>
          </a:xfrm>
        </p:grpSpPr>
        <p:sp>
          <p:nvSpPr>
            <p:cNvPr id="7" name="Freeform 7"/>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8" name="Freeform 8"/>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607847" y="4172463"/>
            <a:ext cx="13327353" cy="4095238"/>
          </a:xfrm>
          <a:custGeom>
            <a:avLst/>
            <a:gdLst/>
            <a:ahLst/>
            <a:cxnLst/>
            <a:rect l="l" t="t" r="r" b="b"/>
            <a:pathLst>
              <a:path w="13898807" h="4343377">
                <a:moveTo>
                  <a:pt x="0" y="0"/>
                </a:moveTo>
                <a:lnTo>
                  <a:pt x="13898807" y="0"/>
                </a:lnTo>
                <a:lnTo>
                  <a:pt x="13898807" y="4343378"/>
                </a:lnTo>
                <a:lnTo>
                  <a:pt x="0" y="4343378"/>
                </a:lnTo>
                <a:lnTo>
                  <a:pt x="0" y="0"/>
                </a:lnTo>
                <a:close/>
              </a:path>
            </a:pathLst>
          </a:custGeom>
          <a:blipFill>
            <a:blip r:embed="rId4"/>
            <a:stretch>
              <a:fillRect/>
            </a:stretch>
          </a:blipFill>
        </p:spPr>
      </p:sp>
      <p:sp>
        <p:nvSpPr>
          <p:cNvPr id="10" name="TextBox 10"/>
          <p:cNvSpPr txBox="1"/>
          <p:nvPr/>
        </p:nvSpPr>
        <p:spPr>
          <a:xfrm>
            <a:off x="1752600" y="2705100"/>
            <a:ext cx="3573753" cy="534377"/>
          </a:xfrm>
          <a:prstGeom prst="rect">
            <a:avLst/>
          </a:prstGeom>
        </p:spPr>
        <p:txBody>
          <a:bodyPr wrap="square" lIns="0" tIns="0" rIns="0" bIns="0" rtlCol="0" anchor="t">
            <a:spAutoFit/>
          </a:bodyPr>
          <a:lstStyle/>
          <a:p>
            <a:pPr algn="l">
              <a:lnSpc>
                <a:spcPts val="4499"/>
              </a:lnSpc>
            </a:pPr>
            <a:r>
              <a:rPr lang="en-US" sz="2999"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Practical Implications</a:t>
            </a:r>
          </a:p>
        </p:txBody>
      </p:sp>
      <p:sp>
        <p:nvSpPr>
          <p:cNvPr id="11" name="TextBox 11"/>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a:rPr>
              <a:t>AIDM 7480</a:t>
            </a:r>
          </a:p>
        </p:txBody>
      </p:sp>
    </p:spTree>
    <p:extLst>
      <p:ext uri="{BB962C8B-B14F-4D97-AF65-F5344CB8AC3E}">
        <p14:creationId xmlns:p14="http://schemas.microsoft.com/office/powerpoint/2010/main" val="4187245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85102" y="-9525"/>
            <a:ext cx="3428337" cy="10306050"/>
          </a:xfrm>
          <a:custGeom>
            <a:avLst/>
            <a:gdLst/>
            <a:ahLst/>
            <a:cxnLst/>
            <a:rect l="l" t="t" r="r" b="b"/>
            <a:pathLst>
              <a:path w="5037153" h="10306050">
                <a:moveTo>
                  <a:pt x="0" y="0"/>
                </a:moveTo>
                <a:lnTo>
                  <a:pt x="5037153" y="0"/>
                </a:lnTo>
                <a:lnTo>
                  <a:pt x="5037153" y="10306050"/>
                </a:lnTo>
                <a:lnTo>
                  <a:pt x="0" y="1030605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0"/>
            <a:ext cx="714375" cy="10287000"/>
            <a:chOff x="0" y="0"/>
            <a:chExt cx="952500" cy="13716000"/>
          </a:xfrm>
        </p:grpSpPr>
        <p:sp>
          <p:nvSpPr>
            <p:cNvPr id="4" name="Freeform 4"/>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sp>
        <p:nvSpPr>
          <p:cNvPr id="5" name="Freeform 5"/>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2590800" y="2933700"/>
            <a:ext cx="11719230" cy="6148239"/>
          </a:xfrm>
          <a:custGeom>
            <a:avLst/>
            <a:gdLst/>
            <a:ahLst/>
            <a:cxnLst/>
            <a:rect l="l" t="t" r="r" b="b"/>
            <a:pathLst>
              <a:path w="12980128" h="6863243">
                <a:moveTo>
                  <a:pt x="0" y="0"/>
                </a:moveTo>
                <a:lnTo>
                  <a:pt x="12980128" y="0"/>
                </a:lnTo>
                <a:lnTo>
                  <a:pt x="12980128" y="6863243"/>
                </a:lnTo>
                <a:lnTo>
                  <a:pt x="0" y="6863243"/>
                </a:lnTo>
                <a:lnTo>
                  <a:pt x="0" y="0"/>
                </a:lnTo>
                <a:close/>
              </a:path>
            </a:pathLst>
          </a:custGeom>
          <a:blipFill>
            <a:blip r:embed="rId4"/>
            <a:stretch>
              <a:fillRect/>
            </a:stretch>
          </a:blipFill>
        </p:spPr>
      </p:sp>
      <p:sp>
        <p:nvSpPr>
          <p:cNvPr id="7" name="TextBox 7"/>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a:rPr>
              <a:t>AIDM 7480</a:t>
            </a:r>
          </a:p>
        </p:txBody>
      </p:sp>
      <p:sp>
        <p:nvSpPr>
          <p:cNvPr id="8" name="TextBox 8"/>
          <p:cNvSpPr txBox="1"/>
          <p:nvPr/>
        </p:nvSpPr>
        <p:spPr>
          <a:xfrm>
            <a:off x="2743200" y="1790700"/>
            <a:ext cx="1765102" cy="534377"/>
          </a:xfrm>
          <a:prstGeom prst="rect">
            <a:avLst/>
          </a:prstGeom>
        </p:spPr>
        <p:txBody>
          <a:bodyPr lIns="0" tIns="0" rIns="0" bIns="0" rtlCol="0" anchor="t">
            <a:spAutoFit/>
          </a:bodyPr>
          <a:lstStyle/>
          <a:p>
            <a:pPr marL="0" lvl="0" indent="0" algn="l">
              <a:lnSpc>
                <a:spcPts val="4499"/>
              </a:lnSpc>
              <a:spcBef>
                <a:spcPct val="0"/>
              </a:spcBef>
            </a:pPr>
            <a:r>
              <a:rPr lang="en-US" sz="2999" b="1"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Limitations</a:t>
            </a:r>
          </a:p>
        </p:txBody>
      </p:sp>
    </p:spTree>
    <p:extLst>
      <p:ext uri="{BB962C8B-B14F-4D97-AF65-F5344CB8AC3E}">
        <p14:creationId xmlns:p14="http://schemas.microsoft.com/office/powerpoint/2010/main" val="895952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4375" cy="10287000"/>
            <a:chOff x="0" y="0"/>
            <a:chExt cx="952500" cy="13716000"/>
          </a:xfrm>
        </p:grpSpPr>
        <p:sp>
          <p:nvSpPr>
            <p:cNvPr id="3" name="Freeform 3"/>
            <p:cNvSpPr/>
            <p:nvPr/>
          </p:nvSpPr>
          <p:spPr>
            <a:xfrm>
              <a:off x="0" y="0"/>
              <a:ext cx="952500" cy="13716000"/>
            </a:xfrm>
            <a:custGeom>
              <a:avLst/>
              <a:gdLst/>
              <a:ahLst/>
              <a:cxnLst/>
              <a:rect l="l" t="t" r="r" b="b"/>
              <a:pathLst>
                <a:path w="952500" h="13716000">
                  <a:moveTo>
                    <a:pt x="0" y="0"/>
                  </a:moveTo>
                  <a:lnTo>
                    <a:pt x="952500" y="0"/>
                  </a:lnTo>
                  <a:lnTo>
                    <a:pt x="952500" y="13716000"/>
                  </a:lnTo>
                  <a:lnTo>
                    <a:pt x="0" y="13716000"/>
                  </a:lnTo>
                  <a:close/>
                </a:path>
              </a:pathLst>
            </a:custGeom>
            <a:solidFill>
              <a:srgbClr val="203864"/>
            </a:solidFill>
          </p:spPr>
        </p:sp>
      </p:grpSp>
      <p:grpSp>
        <p:nvGrpSpPr>
          <p:cNvPr id="4" name="Group 4"/>
          <p:cNvGrpSpPr/>
          <p:nvPr/>
        </p:nvGrpSpPr>
        <p:grpSpPr>
          <a:xfrm>
            <a:off x="14482343" y="6942896"/>
            <a:ext cx="3805657" cy="3344104"/>
            <a:chOff x="0" y="0"/>
            <a:chExt cx="5074209" cy="4458805"/>
          </a:xfrm>
        </p:grpSpPr>
        <p:sp>
          <p:nvSpPr>
            <p:cNvPr id="5" name="Freeform 5"/>
            <p:cNvSpPr/>
            <p:nvPr/>
          </p:nvSpPr>
          <p:spPr>
            <a:xfrm>
              <a:off x="0" y="0"/>
              <a:ext cx="5074158" cy="4458843"/>
            </a:xfrm>
            <a:custGeom>
              <a:avLst/>
              <a:gdLst/>
              <a:ahLst/>
              <a:cxnLst/>
              <a:rect l="l" t="t" r="r" b="b"/>
              <a:pathLst>
                <a:path w="5074158" h="4458843">
                  <a:moveTo>
                    <a:pt x="0" y="0"/>
                  </a:moveTo>
                  <a:lnTo>
                    <a:pt x="5074158" y="0"/>
                  </a:lnTo>
                  <a:lnTo>
                    <a:pt x="5074158" y="4458843"/>
                  </a:lnTo>
                  <a:lnTo>
                    <a:pt x="0" y="4458843"/>
                  </a:lnTo>
                  <a:lnTo>
                    <a:pt x="0" y="0"/>
                  </a:lnTo>
                  <a:close/>
                </a:path>
              </a:pathLst>
            </a:custGeom>
            <a:blipFill>
              <a:blip r:embed="rId2"/>
              <a:stretch>
                <a:fillRect r="-37930" b="-62433"/>
              </a:stretch>
            </a:blipFill>
          </p:spPr>
        </p:sp>
      </p:grpSp>
      <p:sp>
        <p:nvSpPr>
          <p:cNvPr id="6" name="TextBox 6"/>
          <p:cNvSpPr txBox="1"/>
          <p:nvPr/>
        </p:nvSpPr>
        <p:spPr>
          <a:xfrm rot="5400000">
            <a:off x="-799786" y="8355539"/>
            <a:ext cx="2361571" cy="320601"/>
          </a:xfrm>
          <a:prstGeom prst="rect">
            <a:avLst/>
          </a:prstGeom>
        </p:spPr>
        <p:txBody>
          <a:bodyPr lIns="0" tIns="0" rIns="0" bIns="0" rtlCol="0" anchor="t">
            <a:spAutoFit/>
          </a:bodyPr>
          <a:lstStyle/>
          <a:p>
            <a:pPr algn="l">
              <a:lnSpc>
                <a:spcPts val="2520"/>
              </a:lnSpc>
            </a:pPr>
            <a:r>
              <a:rPr lang="en-US" sz="2100" spc="900">
                <a:solidFill>
                  <a:srgbClr val="FFFFFF"/>
                </a:solidFill>
                <a:latin typeface="Calibri" panose="020F0502020204030204" pitchFamily="34" charset="0"/>
                <a:ea typeface="Calibri" panose="020F0502020204030204" pitchFamily="34" charset="0"/>
                <a:cs typeface="Calibri" panose="020F0502020204030204" pitchFamily="34" charset="0"/>
                <a:sym typeface="Calibri (MS)"/>
              </a:rPr>
              <a:t>AIDM 7480</a:t>
            </a:r>
          </a:p>
        </p:txBody>
      </p:sp>
      <p:sp>
        <p:nvSpPr>
          <p:cNvPr id="7" name="Freeform 7"/>
          <p:cNvSpPr/>
          <p:nvPr/>
        </p:nvSpPr>
        <p:spPr>
          <a:xfrm>
            <a:off x="321469" y="4464710"/>
            <a:ext cx="71438" cy="2214562"/>
          </a:xfrm>
          <a:custGeom>
            <a:avLst/>
            <a:gdLst/>
            <a:ahLst/>
            <a:cxnLst/>
            <a:rect l="l" t="t" r="r" b="b"/>
            <a:pathLst>
              <a:path w="71438" h="2214562">
                <a:moveTo>
                  <a:pt x="0" y="0"/>
                </a:moveTo>
                <a:lnTo>
                  <a:pt x="71437" y="0"/>
                </a:lnTo>
                <a:lnTo>
                  <a:pt x="71437" y="2214563"/>
                </a:lnTo>
                <a:lnTo>
                  <a:pt x="0" y="22145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667000" y="2324100"/>
            <a:ext cx="2736279" cy="534377"/>
          </a:xfrm>
          <a:prstGeom prst="rect">
            <a:avLst/>
          </a:prstGeom>
        </p:spPr>
        <p:txBody>
          <a:bodyPr lIns="0" tIns="0" rIns="0" bIns="0" rtlCol="0" anchor="t">
            <a:spAutoFit/>
          </a:bodyPr>
          <a:lstStyle/>
          <a:p>
            <a:pPr marL="0" lvl="0" indent="0" algn="l">
              <a:lnSpc>
                <a:spcPts val="4499"/>
              </a:lnSpc>
              <a:spcBef>
                <a:spcPct val="0"/>
              </a:spcBef>
            </a:pPr>
            <a:r>
              <a:rPr lang="en-US" sz="2999"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Fu</a:t>
            </a:r>
            <a:r>
              <a:rPr lang="en-US" sz="2999" b="1"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Bold"/>
              </a:rPr>
              <a:t>ture Directions</a:t>
            </a:r>
          </a:p>
        </p:txBody>
      </p:sp>
      <p:sp>
        <p:nvSpPr>
          <p:cNvPr id="9" name="TextBox 9"/>
          <p:cNvSpPr txBox="1"/>
          <p:nvPr/>
        </p:nvSpPr>
        <p:spPr>
          <a:xfrm>
            <a:off x="2362200" y="3695700"/>
            <a:ext cx="13111866" cy="3990067"/>
          </a:xfrm>
          <a:prstGeom prst="rect">
            <a:avLst/>
          </a:prstGeom>
        </p:spPr>
        <p:txBody>
          <a:bodyPr lIns="0" tIns="0" rIns="0" bIns="0" rtlCol="0" anchor="t">
            <a:spAutoFit/>
          </a:bodyPr>
          <a:lstStyle/>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Use multimodal content sampling (e.g., hybrid posts) to test boundary conditions of binary findings</a:t>
            </a:r>
          </a:p>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Collect longitudinal or repeated-measures data to reduce common method bias</a:t>
            </a:r>
          </a:p>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Apply computational methods (NLP for information density, CV for visual complexity)</a:t>
            </a:r>
          </a:p>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Stratify sampling by age, city tier, usage intensity, and platform behavior patterns</a:t>
            </a:r>
          </a:p>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Combine self-reported intentions with actual behavioral logs (e.g., dwell time, clicks)</a:t>
            </a:r>
          </a:p>
          <a:p>
            <a:pPr marL="647698" lvl="1" indent="-323849" algn="l">
              <a:lnSpc>
                <a:spcPts val="4499"/>
              </a:lnSpc>
              <a:buFont typeface="Arial"/>
              <a:buChar char="•"/>
            </a:pPr>
            <a:r>
              <a:rPr lang="en-US" sz="280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MS)"/>
              </a:rPr>
              <a:t>Test moderators such as topic type (hedonic vs. utilitarian) or user media literacy</a:t>
            </a:r>
          </a:p>
        </p:txBody>
      </p:sp>
    </p:spTree>
    <p:extLst>
      <p:ext uri="{BB962C8B-B14F-4D97-AF65-F5344CB8AC3E}">
        <p14:creationId xmlns:p14="http://schemas.microsoft.com/office/powerpoint/2010/main" val="799989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2685F02-13F8-4B40-A876-7ADAE921993B}"/>
              </a:ext>
            </a:extLst>
          </p:cNvPr>
          <p:cNvSpPr/>
          <p:nvPr/>
        </p:nvSpPr>
        <p:spPr>
          <a:xfrm>
            <a:off x="0" y="0"/>
            <a:ext cx="714375" cy="1028700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cs typeface="+mn-ea"/>
              <a:sym typeface="+mn-lt"/>
            </a:endParaRPr>
          </a:p>
        </p:txBody>
      </p:sp>
      <p:grpSp>
        <p:nvGrpSpPr>
          <p:cNvPr id="56" name="组合 55">
            <a:extLst>
              <a:ext uri="{FF2B5EF4-FFF2-40B4-BE49-F238E27FC236}">
                <a16:creationId xmlns:a16="http://schemas.microsoft.com/office/drawing/2014/main" id="{F48F1463-4A8A-454B-8BA8-94A7306969C7}"/>
              </a:ext>
            </a:extLst>
          </p:cNvPr>
          <p:cNvGrpSpPr/>
          <p:nvPr/>
        </p:nvGrpSpPr>
        <p:grpSpPr>
          <a:xfrm>
            <a:off x="15581411" y="-178728"/>
            <a:ext cx="3347588" cy="10287000"/>
            <a:chOff x="9457206" y="0"/>
            <a:chExt cx="3345405" cy="6858000"/>
          </a:xfrm>
        </p:grpSpPr>
        <p:sp>
          <p:nvSpPr>
            <p:cNvPr id="14" name="任意多边形: 形状 13">
              <a:extLst>
                <a:ext uri="{FF2B5EF4-FFF2-40B4-BE49-F238E27FC236}">
                  <a16:creationId xmlns:a16="http://schemas.microsoft.com/office/drawing/2014/main" id="{ED649DE3-EDE7-45F1-9A1E-CEDFC50D8C79}"/>
                </a:ext>
              </a:extLst>
            </p:cNvPr>
            <p:cNvSpPr/>
            <p:nvPr/>
          </p:nvSpPr>
          <p:spPr>
            <a:xfrm>
              <a:off x="9457206"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p>
          </p:txBody>
        </p:sp>
        <p:sp>
          <p:nvSpPr>
            <p:cNvPr id="21" name="任意多边形: 形状 20">
              <a:extLst>
                <a:ext uri="{FF2B5EF4-FFF2-40B4-BE49-F238E27FC236}">
                  <a16:creationId xmlns:a16="http://schemas.microsoft.com/office/drawing/2014/main" id="{4D438E60-CDC6-421B-A2CC-ECB93FDC67DA}"/>
                </a:ext>
              </a:extLst>
            </p:cNvPr>
            <p:cNvSpPr/>
            <p:nvPr/>
          </p:nvSpPr>
          <p:spPr>
            <a:xfrm>
              <a:off x="967450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6444"/>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2" name="任意多边形: 形状 21">
              <a:extLst>
                <a:ext uri="{FF2B5EF4-FFF2-40B4-BE49-F238E27FC236}">
                  <a16:creationId xmlns:a16="http://schemas.microsoft.com/office/drawing/2014/main" id="{CCBD2B56-0A03-4E5B-A75A-708A442F901C}"/>
                </a:ext>
              </a:extLst>
            </p:cNvPr>
            <p:cNvSpPr/>
            <p:nvPr/>
          </p:nvSpPr>
          <p:spPr>
            <a:xfrm>
              <a:off x="9891809"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7889"/>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3" name="任意多边形: 形状 22">
              <a:extLst>
                <a:ext uri="{FF2B5EF4-FFF2-40B4-BE49-F238E27FC236}">
                  <a16:creationId xmlns:a16="http://schemas.microsoft.com/office/drawing/2014/main" id="{7D67E7EF-DDD1-4F05-87A4-29A187867446}"/>
                </a:ext>
              </a:extLst>
            </p:cNvPr>
            <p:cNvSpPr/>
            <p:nvPr/>
          </p:nvSpPr>
          <p:spPr>
            <a:xfrm>
              <a:off x="10109110"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89333"/>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4" name="任意多边形: 形状 23">
              <a:extLst>
                <a:ext uri="{FF2B5EF4-FFF2-40B4-BE49-F238E27FC236}">
                  <a16:creationId xmlns:a16="http://schemas.microsoft.com/office/drawing/2014/main" id="{9AC7CBF0-1873-40CB-AD5D-39B87CA1BFA6}"/>
                </a:ext>
              </a:extLst>
            </p:cNvPr>
            <p:cNvSpPr/>
            <p:nvPr/>
          </p:nvSpPr>
          <p:spPr>
            <a:xfrm>
              <a:off x="103264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0778"/>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5" name="任意多边形: 形状 24">
              <a:extLst>
                <a:ext uri="{FF2B5EF4-FFF2-40B4-BE49-F238E27FC236}">
                  <a16:creationId xmlns:a16="http://schemas.microsoft.com/office/drawing/2014/main" id="{41FA87E4-D2CA-4A7E-8E97-3771325A4E4D}"/>
                </a:ext>
              </a:extLst>
            </p:cNvPr>
            <p:cNvSpPr/>
            <p:nvPr/>
          </p:nvSpPr>
          <p:spPr>
            <a:xfrm>
              <a:off x="10543712"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2222"/>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6" name="任意多边形: 形状 25">
              <a:extLst>
                <a:ext uri="{FF2B5EF4-FFF2-40B4-BE49-F238E27FC236}">
                  <a16:creationId xmlns:a16="http://schemas.microsoft.com/office/drawing/2014/main" id="{BB06C8D9-76D8-4297-A1BA-C3F99925B096}"/>
                </a:ext>
              </a:extLst>
            </p:cNvPr>
            <p:cNvSpPr/>
            <p:nvPr/>
          </p:nvSpPr>
          <p:spPr>
            <a:xfrm>
              <a:off x="10761014"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3667"/>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7" name="任意多边形: 形状 26">
              <a:extLst>
                <a:ext uri="{FF2B5EF4-FFF2-40B4-BE49-F238E27FC236}">
                  <a16:creationId xmlns:a16="http://schemas.microsoft.com/office/drawing/2014/main" id="{8C78BBDD-4F5D-4128-89CC-BC60618E72DD}"/>
                </a:ext>
              </a:extLst>
            </p:cNvPr>
            <p:cNvSpPr/>
            <p:nvPr/>
          </p:nvSpPr>
          <p:spPr>
            <a:xfrm>
              <a:off x="10978315"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5111"/>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8" name="任意多边形: 形状 27">
              <a:extLst>
                <a:ext uri="{FF2B5EF4-FFF2-40B4-BE49-F238E27FC236}">
                  <a16:creationId xmlns:a16="http://schemas.microsoft.com/office/drawing/2014/main" id="{EF39BD1F-3E30-4A62-B55E-D3EE433CCB85}"/>
                </a:ext>
              </a:extLst>
            </p:cNvPr>
            <p:cNvSpPr/>
            <p:nvPr/>
          </p:nvSpPr>
          <p:spPr>
            <a:xfrm>
              <a:off x="11195617"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6556"/>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sp>
          <p:nvSpPr>
            <p:cNvPr id="20" name="任意多边形: 形状 19">
              <a:extLst>
                <a:ext uri="{FF2B5EF4-FFF2-40B4-BE49-F238E27FC236}">
                  <a16:creationId xmlns:a16="http://schemas.microsoft.com/office/drawing/2014/main" id="{1FFF5A00-C879-4D41-8311-E14A313E9A7E}"/>
                </a:ext>
              </a:extLst>
            </p:cNvPr>
            <p:cNvSpPr/>
            <p:nvPr/>
          </p:nvSpPr>
          <p:spPr>
            <a:xfrm>
              <a:off x="11412918" y="0"/>
              <a:ext cx="1389693" cy="6858000"/>
            </a:xfrm>
            <a:custGeom>
              <a:avLst/>
              <a:gdLst>
                <a:gd name="connsiteX0" fmla="*/ 1308730 w 1308730"/>
                <a:gd name="connsiteY0" fmla="*/ 0 h 7480300"/>
                <a:gd name="connsiteX1" fmla="*/ 191130 w 1308730"/>
                <a:gd name="connsiteY1" fmla="*/ 1968500 h 7480300"/>
                <a:gd name="connsiteX2" fmla="*/ 711830 w 1308730"/>
                <a:gd name="connsiteY2" fmla="*/ 4127500 h 7480300"/>
                <a:gd name="connsiteX3" fmla="*/ 38730 w 1308730"/>
                <a:gd name="connsiteY3" fmla="*/ 6248400 h 7480300"/>
                <a:gd name="connsiteX4" fmla="*/ 140330 w 1308730"/>
                <a:gd name="connsiteY4" fmla="*/ 7480300 h 7480300"/>
                <a:gd name="connsiteX0" fmla="*/ 1515795 w 1515795"/>
                <a:gd name="connsiteY0" fmla="*/ 0 h 7480300"/>
                <a:gd name="connsiteX1" fmla="*/ 398195 w 1515795"/>
                <a:gd name="connsiteY1" fmla="*/ 1968500 h 7480300"/>
                <a:gd name="connsiteX2" fmla="*/ 918895 w 1515795"/>
                <a:gd name="connsiteY2" fmla="*/ 4127500 h 7480300"/>
                <a:gd name="connsiteX3" fmla="*/ 17195 w 1515795"/>
                <a:gd name="connsiteY3" fmla="*/ 6248400 h 7480300"/>
                <a:gd name="connsiteX4" fmla="*/ 347395 w 1515795"/>
                <a:gd name="connsiteY4" fmla="*/ 7480300 h 7480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95" h="7480300">
                  <a:moveTo>
                    <a:pt x="1515795" y="0"/>
                  </a:moveTo>
                  <a:cubicBezTo>
                    <a:pt x="1006736" y="640291"/>
                    <a:pt x="497678" y="1280583"/>
                    <a:pt x="398195" y="1968500"/>
                  </a:cubicBezTo>
                  <a:cubicBezTo>
                    <a:pt x="298712" y="2656417"/>
                    <a:pt x="982395" y="3414183"/>
                    <a:pt x="918895" y="4127500"/>
                  </a:cubicBezTo>
                  <a:cubicBezTo>
                    <a:pt x="855395" y="4840817"/>
                    <a:pt x="112445" y="5689600"/>
                    <a:pt x="17195" y="6248400"/>
                  </a:cubicBezTo>
                  <a:cubicBezTo>
                    <a:pt x="-78055" y="6807200"/>
                    <a:pt x="248970" y="7143750"/>
                    <a:pt x="347395" y="7480300"/>
                  </a:cubicBezTo>
                </a:path>
              </a:pathLst>
            </a:custGeom>
            <a:noFill/>
            <a:ln w="12700" cap="flat" cmpd="sng" algn="ctr">
              <a:solidFill>
                <a:schemeClr val="bg1">
                  <a:lumMod val="975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endParaRPr>
            </a:p>
          </p:txBody>
        </p:sp>
      </p:grpSp>
      <p:sp>
        <p:nvSpPr>
          <p:cNvPr id="35" name="矩形 34">
            <a:extLst>
              <a:ext uri="{FF2B5EF4-FFF2-40B4-BE49-F238E27FC236}">
                <a16:creationId xmlns:a16="http://schemas.microsoft.com/office/drawing/2014/main" id="{BC846C68-FDB3-B1E6-23F3-9E883D97FBE4}"/>
              </a:ext>
            </a:extLst>
          </p:cNvPr>
          <p:cNvSpPr/>
          <p:nvPr/>
        </p:nvSpPr>
        <p:spPr>
          <a:xfrm rot="5400000">
            <a:off x="-866865" y="8308093"/>
            <a:ext cx="2448106" cy="415498"/>
          </a:xfrm>
          <a:prstGeom prst="rect">
            <a:avLst/>
          </a:prstGeom>
        </p:spPr>
        <p:txBody>
          <a:bodyPr wrap="none">
            <a:spAutoFit/>
          </a:bodyPr>
          <a:lstStyle/>
          <a:p>
            <a:r>
              <a:rPr lang="en-US" altLang="zh-CN" sz="2100" spc="900" dirty="0">
                <a:solidFill>
                  <a:schemeClr val="bg1"/>
                </a:solidFill>
                <a:latin typeface="Calibri" panose="020F0502020204030204" pitchFamily="34" charset="0"/>
                <a:ea typeface="Calibri" panose="020F0502020204030204" pitchFamily="34" charset="0"/>
                <a:cs typeface="Calibri" panose="020F0502020204030204" pitchFamily="34" charset="0"/>
                <a:sym typeface="+mn-lt"/>
              </a:rPr>
              <a:t>AIDM 7480</a:t>
            </a:r>
            <a:endParaRPr lang="zh-CN" altLang="en-US" sz="2100" spc="900" dirty="0">
              <a:solidFill>
                <a:schemeClr val="bg1"/>
              </a:solidFill>
              <a:latin typeface="Calibri" panose="020F0502020204030204" pitchFamily="34" charset="0"/>
              <a:ea typeface="汉仪雅酷黑 45W" panose="020B0404020202020204" pitchFamily="34" charset="-122"/>
              <a:cs typeface="Calibri" panose="020F0502020204030204" pitchFamily="34" charset="0"/>
              <a:sym typeface="+mn-lt"/>
            </a:endParaRPr>
          </a:p>
        </p:txBody>
      </p:sp>
      <p:grpSp>
        <p:nvGrpSpPr>
          <p:cNvPr id="39" name="组合 38">
            <a:extLst>
              <a:ext uri="{FF2B5EF4-FFF2-40B4-BE49-F238E27FC236}">
                <a16:creationId xmlns:a16="http://schemas.microsoft.com/office/drawing/2014/main" id="{2D7F92EE-1650-3EFB-9C6B-3483CC2B0A50}"/>
              </a:ext>
            </a:extLst>
          </p:cNvPr>
          <p:cNvGrpSpPr/>
          <p:nvPr/>
        </p:nvGrpSpPr>
        <p:grpSpPr>
          <a:xfrm>
            <a:off x="321467" y="4464710"/>
            <a:ext cx="71438" cy="2214563"/>
            <a:chOff x="214311" y="3257550"/>
            <a:chExt cx="47625" cy="1476375"/>
          </a:xfrm>
        </p:grpSpPr>
        <p:sp>
          <p:nvSpPr>
            <p:cNvPr id="57" name="椭圆 56">
              <a:extLst>
                <a:ext uri="{FF2B5EF4-FFF2-40B4-BE49-F238E27FC236}">
                  <a16:creationId xmlns:a16="http://schemas.microsoft.com/office/drawing/2014/main" id="{19E30D41-1793-5802-4E3A-4E08B3B3251A}"/>
                </a:ext>
              </a:extLst>
            </p:cNvPr>
            <p:cNvSpPr/>
            <p:nvPr/>
          </p:nvSpPr>
          <p:spPr>
            <a:xfrm>
              <a:off x="214311" y="325755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sp>
          <p:nvSpPr>
            <p:cNvPr id="58" name="椭圆 57">
              <a:extLst>
                <a:ext uri="{FF2B5EF4-FFF2-40B4-BE49-F238E27FC236}">
                  <a16:creationId xmlns:a16="http://schemas.microsoft.com/office/drawing/2014/main" id="{AAFC7B35-CB72-6936-8843-CCFF0ED460D2}"/>
                </a:ext>
              </a:extLst>
            </p:cNvPr>
            <p:cNvSpPr/>
            <p:nvPr/>
          </p:nvSpPr>
          <p:spPr>
            <a:xfrm>
              <a:off x="214311" y="35433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59" name="椭圆 58">
              <a:extLst>
                <a:ext uri="{FF2B5EF4-FFF2-40B4-BE49-F238E27FC236}">
                  <a16:creationId xmlns:a16="http://schemas.microsoft.com/office/drawing/2014/main" id="{FA6236DE-F19A-92B4-DAC9-644571FA8CB3}"/>
                </a:ext>
              </a:extLst>
            </p:cNvPr>
            <p:cNvSpPr/>
            <p:nvPr/>
          </p:nvSpPr>
          <p:spPr>
            <a:xfrm>
              <a:off x="214311" y="38290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60" name="椭圆 59">
              <a:extLst>
                <a:ext uri="{FF2B5EF4-FFF2-40B4-BE49-F238E27FC236}">
                  <a16:creationId xmlns:a16="http://schemas.microsoft.com/office/drawing/2014/main" id="{4CC8B1E3-A328-8D33-5445-C4E271202C11}"/>
                </a:ext>
              </a:extLst>
            </p:cNvPr>
            <p:cNvSpPr/>
            <p:nvPr/>
          </p:nvSpPr>
          <p:spPr>
            <a:xfrm>
              <a:off x="214311" y="411480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61" name="椭圆 60">
              <a:extLst>
                <a:ext uri="{FF2B5EF4-FFF2-40B4-BE49-F238E27FC236}">
                  <a16:creationId xmlns:a16="http://schemas.microsoft.com/office/drawing/2014/main" id="{792DF88B-3105-609F-B4AB-2E46BB8B321F}"/>
                </a:ext>
              </a:extLst>
            </p:cNvPr>
            <p:cNvSpPr/>
            <p:nvPr/>
          </p:nvSpPr>
          <p:spPr>
            <a:xfrm>
              <a:off x="214311" y="4400550"/>
              <a:ext cx="47625" cy="47625"/>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lumMod val="100000"/>
                  </a:schemeClr>
                </a:solidFill>
                <a:latin typeface="Calibri" panose="020F0502020204030204" pitchFamily="34" charset="0"/>
                <a:cs typeface="Calibri" panose="020F0502020204030204" pitchFamily="34" charset="0"/>
              </a:endParaRPr>
            </a:p>
          </p:txBody>
        </p:sp>
        <p:sp>
          <p:nvSpPr>
            <p:cNvPr id="62" name="椭圆 61">
              <a:extLst>
                <a:ext uri="{FF2B5EF4-FFF2-40B4-BE49-F238E27FC236}">
                  <a16:creationId xmlns:a16="http://schemas.microsoft.com/office/drawing/2014/main" id="{B388C1DA-0747-6533-C212-5219B2A4EB23}"/>
                </a:ext>
              </a:extLst>
            </p:cNvPr>
            <p:cNvSpPr/>
            <p:nvPr/>
          </p:nvSpPr>
          <p:spPr>
            <a:xfrm>
              <a:off x="214311" y="4686300"/>
              <a:ext cx="47625" cy="47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Calibri" panose="020F0502020204030204" pitchFamily="34" charset="0"/>
                <a:cs typeface="Calibri" panose="020F0502020204030204" pitchFamily="34" charset="0"/>
              </a:endParaRPr>
            </a:p>
          </p:txBody>
        </p:sp>
      </p:grpSp>
      <p:pic>
        <p:nvPicPr>
          <p:cNvPr id="64" name="图片 63">
            <a:extLst>
              <a:ext uri="{FF2B5EF4-FFF2-40B4-BE49-F238E27FC236}">
                <a16:creationId xmlns:a16="http://schemas.microsoft.com/office/drawing/2014/main" id="{05CB87ED-F021-7AB2-4A75-2EE705796B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4413" y="6618617"/>
            <a:ext cx="962465" cy="962465"/>
          </a:xfrm>
          <a:prstGeom prst="rect">
            <a:avLst/>
          </a:prstGeom>
        </p:spPr>
      </p:pic>
      <p:sp>
        <p:nvSpPr>
          <p:cNvPr id="11" name="文本框 10">
            <a:extLst>
              <a:ext uri="{FF2B5EF4-FFF2-40B4-BE49-F238E27FC236}">
                <a16:creationId xmlns:a16="http://schemas.microsoft.com/office/drawing/2014/main" id="{0CF2594F-A365-4723-A152-F55DBEEB18FE}"/>
              </a:ext>
            </a:extLst>
          </p:cNvPr>
          <p:cNvSpPr txBox="1"/>
          <p:nvPr/>
        </p:nvSpPr>
        <p:spPr>
          <a:xfrm>
            <a:off x="2185622" y="3900755"/>
            <a:ext cx="13664087" cy="1938992"/>
          </a:xfrm>
          <a:prstGeom prst="rect">
            <a:avLst/>
          </a:prstGeom>
          <a:noFill/>
        </p:spPr>
        <p:txBody>
          <a:bodyPr wrap="square" rtlCol="0">
            <a:spAutoFit/>
          </a:bodyPr>
          <a:lstStyle/>
          <a:p>
            <a:r>
              <a:rPr lang="en-US" altLang="zh-CN" sz="12000" b="1" dirty="0">
                <a:solidFill>
                  <a:srgbClr val="203864"/>
                </a:solidFill>
                <a:latin typeface="Calibri" panose="020F0502020204030204" pitchFamily="34" charset="0"/>
                <a:ea typeface="Calibri" panose="020F0502020204030204" pitchFamily="34" charset="0"/>
                <a:cs typeface="Calibri" panose="020F0502020204030204" pitchFamily="34" charset="0"/>
              </a:rPr>
              <a:t>Thanks for watching!</a:t>
            </a:r>
            <a:endParaRPr lang="zh-CN" altLang="en-US" sz="12000" b="1" dirty="0">
              <a:solidFill>
                <a:srgbClr val="203864"/>
              </a:solidFill>
              <a:latin typeface="Calibri" panose="020F0502020204030204" pitchFamily="34" charset="0"/>
              <a:cs typeface="Calibri" panose="020F0502020204030204" pitchFamily="34" charset="0"/>
            </a:endParaRPr>
          </a:p>
        </p:txBody>
      </p:sp>
      <p:sp>
        <p:nvSpPr>
          <p:cNvPr id="65" name="文本框 64">
            <a:extLst>
              <a:ext uri="{FF2B5EF4-FFF2-40B4-BE49-F238E27FC236}">
                <a16:creationId xmlns:a16="http://schemas.microsoft.com/office/drawing/2014/main" id="{5B886853-8E41-9D7B-65AD-A019966D7CE8}"/>
              </a:ext>
            </a:extLst>
          </p:cNvPr>
          <p:cNvSpPr txBox="1"/>
          <p:nvPr/>
        </p:nvSpPr>
        <p:spPr>
          <a:xfrm>
            <a:off x="3614975" y="6611585"/>
            <a:ext cx="7476936" cy="923330"/>
          </a:xfrm>
          <a:prstGeom prst="rect">
            <a:avLst/>
          </a:prstGeom>
          <a:noFill/>
        </p:spPr>
        <p:txBody>
          <a:bodyPr wrap="square" rtlCol="0">
            <a:spAutoFit/>
          </a:bodyPr>
          <a:lstStyle/>
          <a:p>
            <a:r>
              <a:rPr lang="en-US" altLang="zh-CN" sz="2700" dirty="0">
                <a:latin typeface="Calibri" panose="020F0502020204030204" pitchFamily="34" charset="0"/>
                <a:ea typeface="Calibri" panose="020F0502020204030204" pitchFamily="34" charset="0"/>
                <a:cs typeface="Calibri" panose="020F0502020204030204" pitchFamily="34" charset="0"/>
              </a:rPr>
              <a:t>YIN Hanyu    25417665          </a:t>
            </a:r>
            <a:r>
              <a:rPr lang="en-US" altLang="zh-CN" sz="2700" dirty="0">
                <a:latin typeface="Calibri" panose="020F0502020204030204" pitchFamily="34" charset="0"/>
                <a:cs typeface="Calibri" panose="020F0502020204030204" pitchFamily="34" charset="0"/>
              </a:rPr>
              <a:t>YANG Yuna   25405527</a:t>
            </a:r>
            <a:endParaRPr lang="en-US" altLang="zh-CN" sz="2700" dirty="0">
              <a:latin typeface="Calibri" panose="020F0502020204030204" pitchFamily="34" charset="0"/>
              <a:ea typeface="Calibri" panose="020F0502020204030204" pitchFamily="34" charset="0"/>
              <a:cs typeface="Calibri" panose="020F0502020204030204" pitchFamily="34" charset="0"/>
            </a:endParaRPr>
          </a:p>
          <a:p>
            <a:r>
              <a:rPr lang="en-US" altLang="zh-CN" sz="2700" dirty="0">
                <a:latin typeface="Calibri" panose="020F0502020204030204" pitchFamily="34" charset="0"/>
                <a:ea typeface="Calibri" panose="020F0502020204030204" pitchFamily="34" charset="0"/>
                <a:cs typeface="Calibri" panose="020F0502020204030204" pitchFamily="34" charset="0"/>
              </a:rPr>
              <a:t>LIU Jiayu       25421212          </a:t>
            </a:r>
            <a:r>
              <a:rPr lang="en-US" altLang="zh-CN" sz="2700" dirty="0">
                <a:latin typeface="Calibri" panose="020F0502020204030204" pitchFamily="34" charset="0"/>
                <a:cs typeface="Calibri" panose="020F0502020204030204" pitchFamily="34" charset="0"/>
              </a:rPr>
              <a:t>CHEN </a:t>
            </a:r>
            <a:r>
              <a:rPr lang="en-US" altLang="zh-CN" sz="2700" dirty="0" err="1">
                <a:latin typeface="Calibri" panose="020F0502020204030204" pitchFamily="34" charset="0"/>
                <a:cs typeface="Calibri" panose="020F0502020204030204" pitchFamily="34" charset="0"/>
              </a:rPr>
              <a:t>Jinqi</a:t>
            </a:r>
            <a:r>
              <a:rPr lang="en-US" altLang="zh-CN" sz="2700" dirty="0">
                <a:latin typeface="Calibri" panose="020F0502020204030204" pitchFamily="34" charset="0"/>
                <a:cs typeface="Calibri" panose="020F0502020204030204" pitchFamily="34" charset="0"/>
              </a:rPr>
              <a:t>   25439413</a:t>
            </a:r>
            <a:endParaRPr lang="zh-CN" altLang="en-US" sz="27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19374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1.95,&quot;left&quot;:34.4,&quot;top&quot;:21.25,&quot;width&quot;:89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2agwhto">
      <a:majorFont>
        <a:latin typeface="汉仪雅酷黑 75W"/>
        <a:ea typeface="汉仪雅酷黑 75W"/>
        <a:cs typeface=""/>
      </a:majorFont>
      <a:minorFont>
        <a:latin typeface="汉仪雅酷黑 75W"/>
        <a:ea typeface="汉仪雅酷黑 75W"/>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lumMod val="50000"/>
          </a:schemeClr>
        </a:solidFill>
        <a:ln>
          <a:noFill/>
        </a:ln>
      </a:spPr>
      <a:bodyPr rtlCol="0" anchor="ctr"/>
      <a:lstStyle>
        <a:defPPr algn="ctr">
          <a:defRPr>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TotalTime>
  <Words>2976</Words>
  <Application>Microsoft Office PowerPoint</Application>
  <PresentationFormat>自定义</PresentationFormat>
  <Paragraphs>369</Paragraphs>
  <Slides>35</Slides>
  <Notes>17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35</vt:i4>
      </vt:variant>
    </vt:vector>
  </HeadingPairs>
  <TitlesOfParts>
    <vt:vector size="44" baseType="lpstr">
      <vt:lpstr>Arial</vt:lpstr>
      <vt:lpstr>Noto Sans Bold</vt:lpstr>
      <vt:lpstr>Roboto</vt:lpstr>
      <vt:lpstr>Noto Sans</vt:lpstr>
      <vt:lpstr>Calibri</vt:lpstr>
      <vt:lpstr>Calibri (MS)</vt:lpstr>
      <vt:lpstr>Arial Bold</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图文帖与短视频帖用户行为研究PPT.pptx</dc:title>
  <dc:creator>尹涵雨</dc:creator>
  <cp:lastModifiedBy>涵雨 尹</cp:lastModifiedBy>
  <cp:revision>64</cp:revision>
  <dcterms:created xsi:type="dcterms:W3CDTF">2006-08-16T00:00:00Z</dcterms:created>
  <dcterms:modified xsi:type="dcterms:W3CDTF">2026-05-29T23:11:15Z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{"Label":"1","ContentProducer":"001191110105MA01AN806X00000","ProduceID":"DAHFTldmzBo","ReservedCode1":"","ContentPropagator":"001191110105MA01AN806X00000","PropagateID":"DAHFTldmzBo","ReservedCode2":""}</vt:lpwstr>
  </property>
  <property fmtid="{D5CDD505-2E9C-101B-9397-08002B2CF9AE}" pid="3" name="ICV">
    <vt:lpwstr>29FEC25D003A413D84F25A6FE0093C2E_12</vt:lpwstr>
  </property>
  <property fmtid="{D5CDD505-2E9C-101B-9397-08002B2CF9AE}" pid="4" name="KSOProductBuildVer">
    <vt:lpwstr>2052-12.1.0.24657</vt:lpwstr>
  </property>
</Properties>
</file>